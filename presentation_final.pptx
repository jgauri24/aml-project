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c524c058e14745de" Type="http://schemas.openxmlformats.org/officeDocument/2006/relationships/extended-properties" Target="docProps/app.xml"/><Relationship Id="Rcbb94537f26d4b03" Type="http://schemas.openxmlformats.org/officeDocument/2006/relationships/officeDocument" Target="ppt/presentation.xml"/><Relationship Id="Re65a4811fa3f49f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cd7efab935504ced"/>
  </p:sldMasterIdLst>
  <p:notesMasterIdLst>
    <p:notesMasterId xmlns:r="http://schemas.openxmlformats.org/officeDocument/2006/relationships" r:id="R9d68c1f519264272"/>
  </p:notesMasterIdLst>
  <p:sldIdLst>
    <p:sldId xmlns:r="http://schemas.openxmlformats.org/officeDocument/2006/relationships" id="256" r:id="R1b731c23f7324921"/>
    <p:sldId xmlns:r="http://schemas.openxmlformats.org/officeDocument/2006/relationships" id="257" r:id="R63c2136117544b4c"/>
    <p:sldId xmlns:r="http://schemas.openxmlformats.org/officeDocument/2006/relationships" id="258" r:id="Rd6760d592cf44bc1"/>
    <p:sldId xmlns:r="http://schemas.openxmlformats.org/officeDocument/2006/relationships" id="259" r:id="Rec7fee5edf2a4217"/>
    <p:sldId xmlns:r="http://schemas.openxmlformats.org/officeDocument/2006/relationships" id="260" r:id="Re4a9c23c792f4013"/>
    <p:sldId xmlns:r="http://schemas.openxmlformats.org/officeDocument/2006/relationships" id="261" r:id="R848b917ac4ae4052"/>
    <p:sldId xmlns:r="http://schemas.openxmlformats.org/officeDocument/2006/relationships" id="262" r:id="Ref0370b04c374a76"/>
    <p:sldId xmlns:r="http://schemas.openxmlformats.org/officeDocument/2006/relationships" id="263" r:id="R110b6557e02846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3d06f44be14bb1" Type="http://schemas.openxmlformats.org/officeDocument/2006/relationships/tableStyles" Target="tableStyles.xml"/><Relationship Id="R110b6557e0284607" Type="http://schemas.openxmlformats.org/officeDocument/2006/relationships/slide" Target="slides/slide8.xml"/><Relationship Id="R1b731c23f7324921" Type="http://schemas.openxmlformats.org/officeDocument/2006/relationships/slide" Target="slides/slide1.xml"/><Relationship Id="R52f9bbcf86144e7f" Type="http://schemas.openxmlformats.org/officeDocument/2006/relationships/presProps" Target="presProps.xml"/><Relationship Id="R63c2136117544b4c" Type="http://schemas.openxmlformats.org/officeDocument/2006/relationships/slide" Target="slides/slide2.xml"/><Relationship Id="R848b917ac4ae4052" Type="http://schemas.openxmlformats.org/officeDocument/2006/relationships/slide" Target="slides/slide6.xml"/><Relationship Id="R8d801ca098f544a7" Type="http://schemas.openxmlformats.org/officeDocument/2006/relationships/theme" Target="theme/theme1.xml"/><Relationship Id="R9d68c1f519264272" Type="http://schemas.openxmlformats.org/officeDocument/2006/relationships/notesMaster" Target="notesMasters/notesMaster1.xml"/><Relationship Id="Rcd7efab935504ced" Type="http://schemas.openxmlformats.org/officeDocument/2006/relationships/slideMaster" Target="slideMasters/slideMaster1.xml"/><Relationship Id="Rd6760d592cf44bc1" Type="http://schemas.openxmlformats.org/officeDocument/2006/relationships/slide" Target="slides/slide3.xml"/><Relationship Id="Re4a9c23c792f4013" Type="http://schemas.openxmlformats.org/officeDocument/2006/relationships/slide" Target="slides/slide5.xml"/><Relationship Id="Rec7fee5edf2a4217" Type="http://schemas.openxmlformats.org/officeDocument/2006/relationships/slide" Target="slides/slide4.xml"/><Relationship Id="Ref0370b04c374a76"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e50f0afdea4d4ae1"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331c346b70d4ea1" Type="http://schemas.openxmlformats.org/officeDocument/2006/relationships/slide" Target="../slides/slide1.xml"/><Relationship Id="Rb9365423b9414ad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25bca91e8f424fab" Type="http://schemas.openxmlformats.org/officeDocument/2006/relationships/notesMaster" Target="../notesMasters/notesMaster1.xml"/><Relationship Id="R606490f57a1e407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3e370308cba48f2" Type="http://schemas.openxmlformats.org/officeDocument/2006/relationships/slide" Target="../slides/slide3.xml"/><Relationship Id="R33b48f33952c47d8"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2165e9cc53b463a" Type="http://schemas.openxmlformats.org/officeDocument/2006/relationships/slide" Target="../slides/slide4.xml"/><Relationship Id="R79e44e10390f4e39"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209c1210bac42f3" Type="http://schemas.openxmlformats.org/officeDocument/2006/relationships/notesMaster" Target="../notesMasters/notesMaster1.xml"/><Relationship Id="Ra421880e8ad3405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887e657a162d4df9" Type="http://schemas.openxmlformats.org/officeDocument/2006/relationships/slide" Target="../slides/slide6.xml"/><Relationship Id="Rbb2d8f02e83e44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6e0d917abbd74b6f" Type="http://schemas.openxmlformats.org/officeDocument/2006/relationships/slide" Target="../slides/slide7.xml"/><Relationship Id="Raa31d7e8f2374afd"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ac9f88cf77664ae2" Type="http://schemas.openxmlformats.org/officeDocument/2006/relationships/notesMaster" Target="../notesMasters/notesMaster1.xml"/><Relationship Id="Re57721f36297472f" Type="http://schemas.openxmlformats.org/officeDocument/2006/relationships/slide" Target="../slides/slide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predict the next 28 days of observed unit sales for 240 deliberately selected product-store series in the M5 dataset. The presentation has eight slides: cover, milestones 1–4 together, one slide each for milestones 5–9, and evaluation. The project compares eight model variants using one shared chronological experiment. Sales are observed transactions, not unconstrained latent customer demand. The balanced cohort is not population representative. The conceptual illustration does not depict a real Walmart store. Cover artwork comes from the previous deck and remains a built-in imagegen asset. Original prompt: refined 3D editorial illustration of grocery shelves, an open sales ledger and blank calendar, warm ivory, deep teal and burnt orange, transparent background, no text, logos or numerical charts.</a:t>
            </a:r>
          </a:p>
          <a:p xmlns:a="http://schemas.openxmlformats.org/drawingml/2006/main">
            <a:r>
              <a:t/>
            </a:r>
          </a:p>
          <a:p xmlns:a="http://schemas.openxmlformats.org/drawingml/2006/main">
            <a:r>
              <a:t>Evidence in the project:</a:t>
            </a:r>
          </a:p>
          <a:p xmlns:a="http://schemas.openxmlformats.org/drawingml/2006/main">
            <a:r>
              <a:t>/Users/luffy/Desktop/Newton projects/aml-project/experiment.yaml</a:t>
            </a:r>
          </a:p>
          <a:p xmlns:a="http://schemas.openxmlformats.org/drawingml/2006/main">
            <a:r>
              <a:t>/Users/luffy/Desktop/Newton projects/aml-project/reports/dataset_dictionary.md</a:t>
            </a:r>
          </a:p>
          <a:p xmlns:a="http://schemas.openxmlformats.org/drawingml/2006/main">
            <a:r>
              <a:t>/Users/luffy/Desktop/Newton projects/aml-project/reports/m9_lightgbm_comparison.csv</a:t>
            </a:r>
          </a:p>
          <a:p xmlns:a="http://schemas.openxmlformats.org/drawingml/2006/main">
            <a:r>
              <a:t>/Users/luffy/Desktop/Newton projects/aml-project/reports/m9_lightgbm_findings.md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sales validation has 30,490 rows and 1,919 columns, while evaluation has 30,490 rows and 1,947 columns. Evaluation is canonical. We use validation only to verify the overlap, never append it. Calendar joins on d, and prices join on item_id, store_id and wm_yr_wk. We select 80 low-, 80 medium- and 80 high-volume series from trailing sales through d_1801 using seed 42.</a:t>
            </a:r>
          </a:p>
          <a:p xmlns:a="http://schemas.openxmlformats.org/drawingml/2006/main">
            <a:r>
              <a:t>M2: EDA reads only d_1–1801. The chart shows median per-series zero fractions: 89.1%, 74.4%, 43.0%. Pooled zero share is 69.3%. The normalized weekday peak/trough ratio is 1.369. These motivate weekly baselines and sparse-sales safeguards. Price missingness is 24.4% and price/sales associations are descriptive.</a:t>
            </a:r>
          </a:p>
          <a:p xmlns:a="http://schemas.openxmlformats.org/drawingml/2006/main">
            <a:r>
              <a:t>M3: melt the wide daily sales columns, build a complete date grid, join calendar and historical prices, preserve zeros/missing targets, add uncertain quality flags, validate and save Parquet. The displayed real records are FOODS_1_004 at TX_2 on d_1800 and d_1801. There are 459,120 daily development rows, 240 times 1,913, with no duplicate series-days or missing indexed rows. Zero sales do not establish stockouts, because inventory is unknown.</a:t>
            </a:r>
          </a:p>
          <a:p xmlns:a="http://schemas.openxmlformats.org/drawingml/2006/main">
            <a:r>
              <a:t>M4: origins are 1801, 1829, 1857, 1885 with 28-day forecasts. Each model produces 26,880 rows. We allow future dates/events but forbid future observed sales/prices, and conservatively withhold future SNAP. The evaluator attaches actuals only after checking forecasts. Final days 1914–1941 remain unscored.</a:t>
            </a:r>
          </a:p>
          <a:p xmlns:a="http://schemas.openxmlformats.org/drawingml/2006/main">
            <a:r>
              <a:t/>
            </a:r>
          </a:p>
          <a:p xmlns:a="http://schemas.openxmlformats.org/drawingml/2006/main">
            <a:r>
              <a:t>Evidence in the project:</a:t>
            </a:r>
          </a:p>
          <a:p xmlns:a="http://schemas.openxmlformats.org/drawingml/2006/main">
            <a:r>
              <a:t>/Users/luffy/Desktop/Newton projects/aml-project/reports/dataset_dictionary.md</a:t>
            </a:r>
          </a:p>
          <a:p xmlns:a="http://schemas.openxmlformats.org/drawingml/2006/main">
            <a:r>
              <a:t>/Users/luffy/Desktop/Newton projects/aml-project/reports/eda_summary.json</a:t>
            </a:r>
          </a:p>
          <a:p xmlns:a="http://schemas.openxmlformats.org/drawingml/2006/main">
            <a:r>
              <a:t>/Users/luffy/Desktop/Newton projects/aml-project/reports/eda_findings.md</a:t>
            </a:r>
          </a:p>
          <a:p xmlns:a="http://schemas.openxmlformats.org/drawingml/2006/main">
            <a:r>
              <a:t>/Users/luffy/Desktop/Newton projects/aml-project/src/data/preprocess.py</a:t>
            </a:r>
          </a:p>
          <a:p xmlns:a="http://schemas.openxmlformats.org/drawingml/2006/main">
            <a:r>
              <a:t>/Users/luffy/Desktop/Newton projects/aml-project/experiment.yaml</a:t>
            </a:r>
          </a:p>
          <a:p xmlns:a="http://schemas.openxmlformats.org/drawingml/2006/main">
            <a:r>
              <a:t>/Users/luffy/Desktop/Newton projects/aml-project/reports/milestone_verification.md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last-value rule repeats the last observed sale. The weekly rule repeats the latest available value for each weekday. Missing weekdays use earlier same-weekday history, then latest overall history, with an all-missing fallback. Zeros remain valid observed values. The chart is one actual product at the first development origin. Pooled MAE is 1.247879 for last value and 1.186942 for weekly naive. Weekly naive WAPE is 0.982751, shown as 98.3% in the final evaluation. Its RMSE is 2.548744, compared with 2.515066 for last value. This illustrates why one lower error metric does not automatically imply every other metric improves. These rules establish the benchmark for the more complex models.</a:t>
            </a:r>
          </a:p>
          <a:p xmlns:a="http://schemas.openxmlformats.org/drawingml/2006/main">
            <a:r>
              <a:t/>
            </a:r>
          </a:p>
          <a:p xmlns:a="http://schemas.openxmlformats.org/drawingml/2006/main">
            <a:r>
              <a:t>Evidence in the project:</a:t>
            </a:r>
          </a:p>
          <a:p xmlns:a="http://schemas.openxmlformats.org/drawingml/2006/main">
            <a:r>
              <a:t>/Users/luffy/Desktop/Newton projects/aml-project/src/models/seasonal_naive.py</a:t>
            </a:r>
          </a:p>
          <a:p xmlns:a="http://schemas.openxmlformats.org/drawingml/2006/main">
            <a:r>
              <a:t>/Users/luffy/Desktop/Newton projects/aml-project/reports/m5_baseline_comparison.csv</a:t>
            </a:r>
          </a:p>
          <a:p xmlns:a="http://schemas.openxmlformats.org/drawingml/2006/main">
            <a:r>
              <a:t>/Users/luffy/Desktop/Newton projects/aml-project/data/processed/seasonal_naive/weekly_seasonal/scored_predictions.parquet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local-level model assumes the hidden sales level changes by process noise Q and each observed sale adds measurement noise R. Prediction carries the previous level forward. The update weights the new surprise by Kalman gain K=P_pred/(P_pred+R). Higher Q permits quicker change and higher R distrusts individual observations. Missing observations skip the measurement update while uncertainty grows. For horizon h, variance is P_T+hQ+R, and the point estimate stays at the final level. We use clipped Gaussian q10/q90 quantiles as an intended 80% range. The historical line is a reproduced pre-origin filter illustration, and future curves come from the saved verified M6 run for the same product. Pooled M6 MAE/RMSE/WAPE are 1.011527/2.077604/0.837512, with 81.08% empirical coverage. Gaussian counts and clipping remain approximations. The code and tests work, although the requested explanatory M6 notebook is still a checklist gap.</a:t>
            </a:r>
          </a:p>
          <a:p xmlns:a="http://schemas.openxmlformats.org/drawingml/2006/main">
            <a:r>
              <a:t/>
            </a:r>
          </a:p>
          <a:p xmlns:a="http://schemas.openxmlformats.org/drawingml/2006/main">
            <a:r>
              <a:t>Evidence in the project:</a:t>
            </a:r>
          </a:p>
          <a:p xmlns:a="http://schemas.openxmlformats.org/drawingml/2006/main">
            <a:r>
              <a:t>/Users/luffy/Desktop/Newton projects/aml-project/src/models/kalman_single_sku.py</a:t>
            </a:r>
          </a:p>
          <a:p xmlns:a="http://schemas.openxmlformats.org/drawingml/2006/main">
            <a:r>
              <a:t>/Users/luffy/Desktop/Newton projects/aml-project/reports/m7_kalman_findings.md</a:t>
            </a:r>
          </a:p>
          <a:p xmlns:a="http://schemas.openxmlformats.org/drawingml/2006/main">
            <a:r>
              <a:t>/Users/luffy/Desktop/Newton projects/aml-project/reports/milestone_verification.md</a:t>
            </a:r>
          </a:p>
          <a:p xmlns:a="http://schemas.openxmlformats.org/drawingml/2006/main">
            <a:r>
              <a:t>/Users/luffy/Desktop/Newton projects/aml-project/data/processed/verification_pre_push/kalman_single_sku/scored_predictions.parquet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M7 fits four variants independently for every series: local level, local level plus six weekly dummy states, damped local trend, and damped trend plus weekly states. The default fit window is 364 calendar days and trend damping is fixed at 0.98. Selection minimizes pooled WAPE. The seasonal local-level variant wins at 0.828557 versus 0.836776 for level, 0.846587 for trend and 0.830464 for trend plus weekly. It also has the best overall RMSE, 2.053497. Each variant performs 960 series/fold fits. There are 959 converged fits and one documented all-zero-window fallback per variant. Coverage for the selected model is 85.718% against an intended 80%, with mean width 2.762593 units. This is conservative rather than a calibration guarantee. Gaussian assumptions and clipping approximate sparse counts. These models do not borrow information across series.</a:t>
            </a:r>
          </a:p>
          <a:p xmlns:a="http://schemas.openxmlformats.org/drawingml/2006/main">
            <a:r>
              <a:t/>
            </a:r>
          </a:p>
          <a:p xmlns:a="http://schemas.openxmlformats.org/drawingml/2006/main">
            <a:r>
              <a:t>Evidence in the project:</a:t>
            </a:r>
          </a:p>
          <a:p xmlns:a="http://schemas.openxmlformats.org/drawingml/2006/main">
            <a:r>
              <a:t>/Users/luffy/Desktop/Newton projects/aml-project/src/models/kalman_forecaster.py</a:t>
            </a:r>
          </a:p>
          <a:p xmlns:a="http://schemas.openxmlformats.org/drawingml/2006/main">
            <a:r>
              <a:t>/Users/luffy/Desktop/Newton projects/aml-project/reports/kalman_variant_comparison.csv</a:t>
            </a:r>
          </a:p>
          <a:p xmlns:a="http://schemas.openxmlformats.org/drawingml/2006/main">
            <a:r>
              <a:t>/Users/luffy/Desktop/Newton projects/aml-project/reports/m7_kalman_findings.md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version-2 prediction features for FOODS_1_004 at TX_2, origin 1801. The four rows show horizons 1, 7, 14 and 28. Target-relative lags become unknown when the referenced day lies after the historical origin. Unknown does not mean zero. Rolling means/stds and historical price/SNAP remain fixed at the origin, which explains the unchanged 28-day mean of 2.71. Target-date calendar and announced event features may vary. The base schema has 26 features plus horizon, giving 27 predictors. Categorical encoders fit per fold. Missing/blank events map to absent flags. Future actual prices, future SNAP and future observed sales are withheld. Tests mutate later data and independently check that training examples match inference at the same origin.</a:t>
            </a:r>
          </a:p>
          <a:p xmlns:a="http://schemas.openxmlformats.org/drawingml/2006/main">
            <a:r>
              <a:t/>
            </a:r>
          </a:p>
          <a:p xmlns:a="http://schemas.openxmlformats.org/drawingml/2006/main">
            <a:r>
              <a:t>Evidence in the project:</a:t>
            </a:r>
          </a:p>
          <a:p xmlns:a="http://schemas.openxmlformats.org/drawingml/2006/main">
            <a:r>
              <a:t>/Users/luffy/Desktop/Newton projects/aml-project/src/features/feature_engineering.py</a:t>
            </a:r>
          </a:p>
          <a:p xmlns:a="http://schemas.openxmlformats.org/drawingml/2006/main">
            <a:r>
              <a:t>/Users/luffy/Desktop/Newton projects/aml-project/reports/m8_feature_engineering.md</a:t>
            </a:r>
          </a:p>
          <a:p xmlns:a="http://schemas.openxmlformats.org/drawingml/2006/main">
            <a:r>
              <a:t>/Users/luffy/Desktop/Newton projects/aml-project/data/processed/features/predict_features_origin_1801.parquet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pools historical examples across all 240 series and predicts each requested horizon directly with an L1 objective, targeting conditional median observed sales. For fold T, historical origins are T−28, T−56 and so on. Their disjoint 28-day label blocks end at or before T. Every horizon 1–28 has observed training labels. At origin 1801, training contains 430,080 rows. We tune three candidates on origins 1801, 1829 and 1857 using pooled WAPE. The winner has 31 leaves, learning rate 0.05 and 500 trees. Origin 1885 is excluded from hyperparameter selection. Pooled development MAE/RMSE/WAPE are 0.922736/2.108136/0.763996. The gain chart averages four fitted folds and scales gain to thousands, without changing ranking. Gains describe model usage rather than causality. All four native boosters and their feature states reload and reproduce 6,720 predictions per fold to 1e-12 tolerance. LightGBM supplies point predictions only, without uncertainty intervals. The pooled score includes tuning windows, so it is not an independent final test.</a:t>
            </a:r>
          </a:p>
          <a:p xmlns:a="http://schemas.openxmlformats.org/drawingml/2006/main">
            <a:r>
              <a:t/>
            </a:r>
          </a:p>
          <a:p xmlns:a="http://schemas.openxmlformats.org/drawingml/2006/main">
            <a:r>
              <a:t>Evidence in the project:</a:t>
            </a:r>
          </a:p>
          <a:p xmlns:a="http://schemas.openxmlformats.org/drawingml/2006/main">
            <a:r>
              <a:t>/Users/luffy/Desktop/Newton projects/aml-project/src/models/lightgbm_forecaster.py</a:t>
            </a:r>
          </a:p>
          <a:p xmlns:a="http://schemas.openxmlformats.org/drawingml/2006/main">
            <a:r>
              <a:t>/Users/luffy/Desktop/Newton projects/aml-project/reports/m9_lightgbm_findings.md</a:t>
            </a:r>
          </a:p>
          <a:p xmlns:a="http://schemas.openxmlformats.org/drawingml/2006/main">
            <a:r>
              <a:t>/Users/luffy/Desktop/Newton projects/aml-project/data/processed/lightgbm/feature_importance.csv</a:t>
            </a:r>
          </a:p>
          <a:p xmlns:a="http://schemas.openxmlformats.org/drawingml/2006/main">
            <a:r>
              <a:t>/Users/luffy/Desktop/Newton projects/aml-project/data/processed/lightgbm/tuning_results.json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chart as WAPE: total absolute error divided by total observed sales. Values can exceed 100%, as the last-value baseline does. Read the table as MAE and RMSE in unit sales. LightGBM has the lowest MAE, 0.922736, and WAPE, 0.763996. Level-plus-weekly Kalman has the lowest RMSE, 2.053497, and supplies quantile ranges. LightGBM improves MAE by approximately 22.26% versus weekly naive. Model choice depends on the cost of large misses and the need for uncertainty. The two naive rules and LightGBM do not produce quantile ranges in this implementation. Every model covers the same series and dates, with actuals joined only in the common evaluator. The first three LightGBM folds also participated in tuning, while the fourth was held out from parameter selection. Final days 1914–1941 remain untouched. Limitations include observed rather than unconstrained demand, deliberate stratified sampling and approximate Gaussian count intervals. DeepAR remains future work. The optional M0 FilterPy manifest and M6 explanatory notebook remain checklist gaps, despite working model code.</a:t>
            </a:r>
          </a:p>
          <a:p xmlns:a="http://schemas.openxmlformats.org/drawingml/2006/main">
            <a:r>
              <a:t/>
            </a:r>
          </a:p>
          <a:p xmlns:a="http://schemas.openxmlformats.org/drawingml/2006/main">
            <a:r>
              <a:t>Evidence in the project:</a:t>
            </a:r>
          </a:p>
          <a:p xmlns:a="http://schemas.openxmlformats.org/drawingml/2006/main">
            <a:r>
              <a:t>/Users/luffy/Desktop/Newton projects/aml-project/reports/m9_lightgbm_comparison.csv</a:t>
            </a:r>
          </a:p>
          <a:p xmlns:a="http://schemas.openxmlformats.org/drawingml/2006/main">
            <a:r>
              <a:t>/Users/luffy/Desktop/Newton projects/aml-project/reports/m9_lightgbm_findings.md</a:t>
            </a:r>
          </a:p>
          <a:p xmlns:a="http://schemas.openxmlformats.org/drawingml/2006/main">
            <a:r>
              <a:t>/Users/luffy/Desktop/Newton projects/aml-project/reports/m7_kalman_findings.md</a:t>
            </a:r>
          </a:p>
          <a:p xmlns:a="http://schemas.openxmlformats.org/drawingml/2006/main">
            <a:r>
              <a:t>/Users/luffy/Desktop/Newton projects/aml-project/reports/milestone_verification.md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a5afeef27487459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ec143895a28437c"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c44e78fa9ceb4a8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52e0068d070d49f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e48e1b2432e24e6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6ac3de98e554f28"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F5EB9-4828-4830-A9E5-04D534CC18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2333C2-D10F-464C-95EA-C249C99F277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51A7049-6AD1-4E13-889A-A8D5AC8692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BB63D3-2009-4C25-AE94-858CC3AD85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693588-7878-4985-8A98-C24EC7AB43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603126-14AE-4846-ABCB-44832B642E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7446E3-63A4-4F0B-A982-77655D1C58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59158C-B019-4F02-9F63-B441A15FB4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50BAA0-A006-4B73-96AC-BCA234DB33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079C19-0B8B-40E6-B680-F7BA21B28D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a5e052ba9bd43a1" Type="http://schemas.openxmlformats.org/officeDocument/2006/relationships/slideLayout" Target="../slideLayouts/slideLayout6.xml"/><Relationship Id="R0c4de1c2ce7f42a0" Type="http://schemas.openxmlformats.org/officeDocument/2006/relationships/slideLayout" Target="../slideLayouts/slideLayout2.xml"/><Relationship Id="R67b7643d3b094759" Type="http://schemas.openxmlformats.org/officeDocument/2006/relationships/slideLayout" Target="../slideLayouts/slideLayout3.xml"/><Relationship Id="R71fdef12e716470a" Type="http://schemas.openxmlformats.org/officeDocument/2006/relationships/theme" Target="theme/theme2.xml"/><Relationship Id="Rba7cfd8bd0e747a6" Type="http://schemas.openxmlformats.org/officeDocument/2006/relationships/slideLayout" Target="../slideLayouts/slideLayout4.xml"/><Relationship Id="Rceb2fc586eec41e1" Type="http://schemas.openxmlformats.org/officeDocument/2006/relationships/slideLayout" Target="../slideLayouts/slideLayout1.xml"/><Relationship Id="Rdd4edab9ed27444b"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b2fc586eec41e1"/>
    <p:sldLayoutId xmlns:r="http://schemas.openxmlformats.org/officeDocument/2006/relationships" id="2147483650" r:id="R0c4de1c2ce7f42a0"/>
    <p:sldLayoutId xmlns:r="http://schemas.openxmlformats.org/officeDocument/2006/relationships" id="2147483651" r:id="R67b7643d3b094759"/>
    <p:sldLayoutId xmlns:r="http://schemas.openxmlformats.org/officeDocument/2006/relationships" id="2147483652" r:id="Rba7cfd8bd0e747a6"/>
    <p:sldLayoutId xmlns:r="http://schemas.openxmlformats.org/officeDocument/2006/relationships" id="2147483653" r:id="Rdd4edab9ed27444b"/>
    <p:sldLayoutId xmlns:r="http://schemas.openxmlformats.org/officeDocument/2006/relationships" id="2147483654" r:id="R0a5e052ba9bd43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780c48154984906" Type="http://schemas.openxmlformats.org/officeDocument/2006/relationships/notesSlide" Target="../notesSlides/notesSlide1.xml"/><Relationship Id="Rb3872894ce97413d" Type="http://schemas.openxmlformats.org/officeDocument/2006/relationships/image" Target="../media/image.png"/><Relationship Id="Rdd96b6ced30c4074"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7149366fba874a9b" Type="http://schemas.openxmlformats.org/officeDocument/2006/relationships/notesSlide" Target="../notesSlides/notesSlide2.xml"/><Relationship Id="R7e39fe4b3dec4bac" Type="http://schemas.openxmlformats.org/officeDocument/2006/relationships/chart" Target="charts/chart1.xml"/><Relationship Id="Rf0c697791c6043dc"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0af8e2f62f124984" Type="http://schemas.openxmlformats.org/officeDocument/2006/relationships/notesSlide" Target="../notesSlides/notesSlide3.xml"/><Relationship Id="R36fd046b6b104729" Type="http://schemas.openxmlformats.org/officeDocument/2006/relationships/chart" Target="charts/chart2.xml"/><Relationship Id="R46fde19e8a1044b7"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1bf3596f42da4e00" Type="http://schemas.openxmlformats.org/officeDocument/2006/relationships/notesSlide" Target="../notesSlides/notesSlide4.xml"/><Relationship Id="R361b4442cac34d8c" Type="http://schemas.openxmlformats.org/officeDocument/2006/relationships/chart" Target="charts/chart4.xml"/><Relationship Id="R3fcaf319dc014a37" Type="http://schemas.openxmlformats.org/officeDocument/2006/relationships/slideLayout" Target="../slideLayouts/slideLayout6.xml"/><Relationship Id="Rdd06f5f84bdf47db" Type="http://schemas.openxmlformats.org/officeDocument/2006/relationships/chart" Target="charts/chart3.xml"/></Relationships>
</file>

<file path=ppt/slides/_rels/slide5.xml.rels><?xml version='1.0' encoding='UTF-8' standalone='yes'?>
<Relationships xmlns="http://schemas.openxmlformats.org/package/2006/relationships"><Relationship Id="Rcd86ebd7e4f44540" Type="http://schemas.openxmlformats.org/officeDocument/2006/relationships/chart" Target="charts/chart5.xml"/><Relationship Id="Rfbd29125b6254132" Type="http://schemas.openxmlformats.org/officeDocument/2006/relationships/notesSlide" Target="../notesSlides/notesSlide5.xml"/><Relationship Id="Rff4fe2165c214286"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13bc958ed11a4e72" Type="http://schemas.openxmlformats.org/officeDocument/2006/relationships/notesSlide" Target="../notesSlides/notesSlide6.xml"/><Relationship Id="Rb81397c8b6d94ab8"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101f6b8226e64724" Type="http://schemas.openxmlformats.org/officeDocument/2006/relationships/chart" Target="charts/chart6.xml"/><Relationship Id="Ra7e23f35dad74361" Type="http://schemas.openxmlformats.org/officeDocument/2006/relationships/notesSlide" Target="../notesSlides/notesSlide7.xml"/><Relationship Id="Reb578aeb2dd04669"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5cc236b071bc42c3" Type="http://schemas.openxmlformats.org/officeDocument/2006/relationships/chart" Target="charts/chart7.xml"/><Relationship Id="Ra8274c2c3f954e02" Type="http://schemas.openxmlformats.org/officeDocument/2006/relationships/slideLayout" Target="../slideLayouts/slideLayout6.xml"/><Relationship Id="Rd12269eb00bb440a" Type="http://schemas.openxmlformats.org/officeDocument/2006/relationships/notesSlide" Target="../notesSlides/notesSlide8.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_rels/chart7.xml.rels><?xml version='1.0' encoding='UTF-8' standalone='yes'?>
<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Value</c:v>
          </c:tx>
          <c:spPr>
            <a:solidFill xmlns:a="http://schemas.openxmlformats.org/drawingml/2006/main">
              <a:srgbClr val="107D79"/>
            </a:solidFill>
          </c:spPr>
          <c:invertIfNegative val="0"/>
          <c:dPt>
            <c:idx val="0"/>
            <c:invertIfNegative val="0"/>
            <c:spPr>
              <a:solidFill xmlns:a="http://schemas.openxmlformats.org/drawingml/2006/main">
                <a:srgbClr val="5B82A0"/>
              </a:solidFill>
            </c:spPr>
          </c:dPt>
          <c:dPt>
            <c:idx val="1"/>
            <c:invertIfNegative val="0"/>
            <c:spPr>
              <a:solidFill xmlns:a="http://schemas.openxmlformats.org/drawingml/2006/main">
                <a:srgbClr val="107D79"/>
              </a:solidFill>
            </c:spPr>
          </c:dPt>
          <c:dPt>
            <c:idx val="2"/>
            <c:invertIfNegative val="0"/>
            <c:spPr>
              <a:solidFill xmlns:a="http://schemas.openxmlformats.org/drawingml/2006/main">
                <a:srgbClr val="CC713F"/>
              </a:solidFill>
            </c:spPr>
          </c:dPt>
          <c:cat>
            <c:strRef>
              <c:f>'Chart Data'!$A$2:$A$4</c:f>
              <c:strCache>
                <c:ptCount val="3"/>
                <c:pt idx="0">
                  <c:v>Low</c:v>
                </c:pt>
                <c:pt idx="1">
                  <c:v>Medium</c:v>
                </c:pt>
                <c:pt idx="2">
                  <c:v>High</c:v>
                </c:pt>
              </c:strCache>
            </c:strRef>
          </c:cat>
          <c:val>
            <c:numRef>
              <c:f>'Chart Data'!$B$2:$B$4</c:f>
              <c:numCache>
                <c:formatCode>0%</c:formatCode>
                <c:ptCount val="3"/>
                <c:pt idx="0">
                  <c:v>0.890616324264</c:v>
                </c:pt>
                <c:pt idx="1">
                  <c:v>0.743753470294</c:v>
                </c:pt>
                <c:pt idx="2">
                  <c:v>0.430316490838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232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6668">
              <a:solidFill>
                <a:srgbClr val="D9E1DC"/>
              </a:solidFill>
            </a:ln>
          </c:spPr>
        </c:majorGridlines>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 sales</c:v>
          </c:tx>
          <c:spPr>
            <a:ln xmlns:a="http://schemas.openxmlformats.org/drawingml/2006/main" w="19050">
              <a:solidFill>
                <a:srgbClr val="12323A"/>
              </a:solidFill>
              <a:prstDash val="solid"/>
            </a:ln>
          </c:spPr>
          <c:marker>
            <c:symbol val="none"/>
            <c:size val="5"/>
            <c:spPr>
              <a:solidFill xmlns:a="http://schemas.openxmlformats.org/drawingml/2006/main">
                <a:srgbClr val="12323A"/>
              </a:solidFill>
            </c:spPr>
          </c:marker>
          <c:cat>
            <c:numRef>
              <c:f>'Chart Data'!$A$2:$A$29</c:f>
              <c:numCache>
                <c:formatCode>0.0</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cat>
          <c:val>
            <c:numRef>
              <c:f>'Chart Data'!$B$2:$B$29</c:f>
              <c:numCache>
                <c:formatCode>0</c:formatCode>
                <c:ptCount val="28"/>
                <c:pt idx="0">
                  <c:v>1</c:v>
                </c:pt>
                <c:pt idx="1">
                  <c:v>6</c:v>
                </c:pt>
                <c:pt idx="2">
                  <c:v>0</c:v>
                </c:pt>
                <c:pt idx="3">
                  <c:v>1</c:v>
                </c:pt>
                <c:pt idx="4">
                  <c:v>6</c:v>
                </c:pt>
                <c:pt idx="5">
                  <c:v>4</c:v>
                </c:pt>
                <c:pt idx="6">
                  <c:v>5</c:v>
                </c:pt>
                <c:pt idx="7">
                  <c:v>3</c:v>
                </c:pt>
                <c:pt idx="8">
                  <c:v>7</c:v>
                </c:pt>
                <c:pt idx="9">
                  <c:v>0</c:v>
                </c:pt>
                <c:pt idx="10">
                  <c:v>2</c:v>
                </c:pt>
                <c:pt idx="11">
                  <c:v>1</c:v>
                </c:pt>
                <c:pt idx="12">
                  <c:v>12</c:v>
                </c:pt>
                <c:pt idx="13">
                  <c:v>2</c:v>
                </c:pt>
                <c:pt idx="14">
                  <c:v>1</c:v>
                </c:pt>
                <c:pt idx="15">
                  <c:v>3</c:v>
                </c:pt>
                <c:pt idx="16">
                  <c:v>1</c:v>
                </c:pt>
                <c:pt idx="17">
                  <c:v>3</c:v>
                </c:pt>
                <c:pt idx="18">
                  <c:v>5</c:v>
                </c:pt>
                <c:pt idx="19">
                  <c:v>2</c:v>
                </c:pt>
                <c:pt idx="20">
                  <c:v>1</c:v>
                </c:pt>
                <c:pt idx="21">
                  <c:v>4</c:v>
                </c:pt>
                <c:pt idx="22">
                  <c:v>2</c:v>
                </c:pt>
                <c:pt idx="23">
                  <c:v>1</c:v>
                </c:pt>
                <c:pt idx="24">
                  <c:v>5</c:v>
                </c:pt>
                <c:pt idx="25">
                  <c:v>2</c:v>
                </c:pt>
                <c:pt idx="26">
                  <c:v>7</c:v>
                </c:pt>
                <c:pt idx="27">
                  <c:v>1</c:v>
                </c:pt>
              </c:numCache>
            </c:numRef>
          </c:val>
          <c:smooth val="0"/>
        </c:ser>
        <c:ser>
          <c:idx val="1"/>
          <c:order val="1"/>
          <c:tx>
            <c:v>Last value</c:v>
          </c:tx>
          <c:spPr>
            <a:ln xmlns:a="http://schemas.openxmlformats.org/drawingml/2006/main" w="23813">
              <a:solidFill>
                <a:srgbClr val="A4B0B2"/>
              </a:solidFill>
              <a:prstDash val="solid"/>
            </a:ln>
          </c:spPr>
          <c:marker>
            <c:symbol val="none"/>
            <c:size val="5"/>
            <c:spPr>
              <a:solidFill xmlns:a="http://schemas.openxmlformats.org/drawingml/2006/main">
                <a:srgbClr val="A4B0B2"/>
              </a:solidFill>
            </c:spPr>
          </c:marker>
          <c:cat>
            <c:numRef>
              <c:f>'Chart Data'!$C$2:$C$29</c:f>
              <c:numCache>
                <c:formatCode>0.0</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cat>
          <c:val>
            <c:numRef>
              <c:f>'Chart Data'!$D$2:$D$29</c:f>
              <c:numCache>
                <c:formatCode>0</c:formatCode>
                <c:ptCount val="28"/>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c:v>
                </c:pt>
                <c:pt idx="24">
                  <c:v>2</c:v>
                </c:pt>
                <c:pt idx="25">
                  <c:v>2</c:v>
                </c:pt>
                <c:pt idx="26">
                  <c:v>2</c:v>
                </c:pt>
                <c:pt idx="27">
                  <c:v>2</c:v>
                </c:pt>
              </c:numCache>
            </c:numRef>
          </c:val>
          <c:smooth val="0"/>
        </c:ser>
        <c:ser>
          <c:idx val="2"/>
          <c:order val="2"/>
          <c:tx>
            <c:v>Weekly naive</c:v>
          </c:tx>
          <c:spPr>
            <a:ln xmlns:a="http://schemas.openxmlformats.org/drawingml/2006/main" w="23813">
              <a:solidFill>
                <a:srgbClr val="5B82A0"/>
              </a:solidFill>
              <a:prstDash val="solid"/>
            </a:ln>
          </c:spPr>
          <c:marker>
            <c:symbol val="none"/>
            <c:size val="5"/>
            <c:spPr>
              <a:solidFill xmlns:a="http://schemas.openxmlformats.org/drawingml/2006/main">
                <a:srgbClr val="5B82A0"/>
              </a:solidFill>
            </c:spPr>
          </c:marker>
          <c:cat>
            <c:numRef>
              <c:f>'Chart Data'!$E$2:$E$29</c:f>
              <c:numCache>
                <c:formatCode>0.0</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cat>
          <c:val>
            <c:numRef>
              <c:f>'Chart Data'!$F$2:$F$29</c:f>
              <c:numCache>
                <c:formatCode>0</c:formatCode>
                <c:ptCount val="28"/>
                <c:pt idx="0">
                  <c:v>1</c:v>
                </c:pt>
                <c:pt idx="1">
                  <c:v>3</c:v>
                </c:pt>
                <c:pt idx="2">
                  <c:v>1</c:v>
                </c:pt>
                <c:pt idx="3">
                  <c:v>4</c:v>
                </c:pt>
                <c:pt idx="4">
                  <c:v>3</c:v>
                </c:pt>
                <c:pt idx="5">
                  <c:v>3</c:v>
                </c:pt>
                <c:pt idx="6">
                  <c:v>2</c:v>
                </c:pt>
                <c:pt idx="7">
                  <c:v>1</c:v>
                </c:pt>
                <c:pt idx="8">
                  <c:v>3</c:v>
                </c:pt>
                <c:pt idx="9">
                  <c:v>1</c:v>
                </c:pt>
                <c:pt idx="10">
                  <c:v>4</c:v>
                </c:pt>
                <c:pt idx="11">
                  <c:v>3</c:v>
                </c:pt>
                <c:pt idx="12">
                  <c:v>3</c:v>
                </c:pt>
                <c:pt idx="13">
                  <c:v>2</c:v>
                </c:pt>
                <c:pt idx="14">
                  <c:v>1</c:v>
                </c:pt>
                <c:pt idx="15">
                  <c:v>3</c:v>
                </c:pt>
                <c:pt idx="16">
                  <c:v>1</c:v>
                </c:pt>
                <c:pt idx="17">
                  <c:v>4</c:v>
                </c:pt>
                <c:pt idx="18">
                  <c:v>3</c:v>
                </c:pt>
                <c:pt idx="19">
                  <c:v>3</c:v>
                </c:pt>
                <c:pt idx="20">
                  <c:v>2</c:v>
                </c:pt>
                <c:pt idx="21">
                  <c:v>1</c:v>
                </c:pt>
                <c:pt idx="22">
                  <c:v>3</c:v>
                </c:pt>
                <c:pt idx="23">
                  <c:v>1</c:v>
                </c:pt>
                <c:pt idx="24">
                  <c:v>4</c:v>
                </c:pt>
                <c:pt idx="25">
                  <c:v>3</c:v>
                </c:pt>
                <c:pt idx="26">
                  <c:v>3</c:v>
                </c:pt>
                <c:pt idx="27">
                  <c:v>2</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0.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500">
                <a:solidFill>
                  <a:srgbClr val="5E7377"/>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6668">
              <a:solidFill>
                <a:srgbClr val="D9E1DC"/>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E7377"/>
                    </a:solidFill>
                    <a:latin typeface="Helvetica Neue"/>
                    <a:ea typeface="Helvetica Neue"/>
                    <a:cs typeface="Helvetica Neue"/>
                  </a:rPr>
                  <a:t>Units / day</a:t>
                </a:r>
              </a:p>
            </c:rich>
          </c:tx>
          <c:overlay val="0"/>
          <c:txPr>
            <a:bodyPr xmlns:a="http://schemas.openxmlformats.org/drawingml/2006/main" anchorCtr="1"/>
            <a:lstStyle xmlns:a="http://schemas.openxmlformats.org/drawingml/2006/main"/>
            <a:p xmlns:a="http://schemas.openxmlformats.org/drawingml/2006/main">
              <a:pPr>
                <a:defRPr sz="1575">
                  <a:solidFill>
                    <a:srgbClr val="5E7377"/>
                  </a:solidFill>
                  <a:latin typeface="Helvetica Neue"/>
                  <a:ea typeface="Helvetica Neue"/>
                  <a:cs typeface="Helvetica Neue"/>
                </a:defRPr>
              </a:pPr>
            </a:p>
          </c:txPr>
        </c:title>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2323A"/>
              </a:solidFill>
              <a:latin typeface="Helvetica Neue"/>
              <a:ea typeface="Helvetica Neue"/>
              <a:cs typeface="Helvetica Neue"/>
            </a:defRPr>
          </a:pPr>
        </a:p>
      </c:txPr>
    </c:legend>
    <c:plotVisOnly val="1"/>
    <c:dispBlanksAs val="gap"/>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Past sales</c:v>
          </c:tx>
          <c:spPr>
            <a:ln xmlns:a="http://schemas.openxmlformats.org/drawingml/2006/main" w="15240">
              <a:solidFill>
                <a:srgbClr val="AFBAB9"/>
              </a:solidFill>
              <a:prstDash val="solid"/>
            </a:ln>
          </c:spPr>
          <c:marker>
            <c:symbol val="none"/>
            <c:size val="5"/>
            <c:spPr>
              <a:solidFill xmlns:a="http://schemas.openxmlformats.org/drawingml/2006/main">
                <a:srgbClr val="AFBAB9"/>
              </a:solidFill>
            </c:spPr>
          </c:marker>
          <c:cat>
            <c:strRef>
              <c:f>'Chart Data'!$A$2:$A$57</c:f>
              <c:strCache>
                <c:ptCount val="56"/>
                <c:pt idx="0">
                  <c:v>11-09</c:v>
                </c:pt>
                <c:pt idx="1">
                  <c:v>11-10</c:v>
                </c:pt>
                <c:pt idx="2">
                  <c:v>11-11</c:v>
                </c:pt>
                <c:pt idx="3">
                  <c:v>11-12</c:v>
                </c:pt>
                <c:pt idx="4">
                  <c:v>11-13</c:v>
                </c:pt>
                <c:pt idx="5">
                  <c:v>11-14</c:v>
                </c:pt>
                <c:pt idx="6">
                  <c:v>11-15</c:v>
                </c:pt>
                <c:pt idx="7">
                  <c:v>11-16</c:v>
                </c:pt>
                <c:pt idx="8">
                  <c:v>11-17</c:v>
                </c:pt>
                <c:pt idx="9">
                  <c:v>11-18</c:v>
                </c:pt>
                <c:pt idx="10">
                  <c:v>11-19</c:v>
                </c:pt>
                <c:pt idx="11">
                  <c:v>11-20</c:v>
                </c:pt>
                <c:pt idx="12">
                  <c:v>11-21</c:v>
                </c:pt>
                <c:pt idx="13">
                  <c:v>11-22</c:v>
                </c:pt>
                <c:pt idx="14">
                  <c:v>11-23</c:v>
                </c:pt>
                <c:pt idx="15">
                  <c:v>11-24</c:v>
                </c:pt>
                <c:pt idx="16">
                  <c:v>11-25</c:v>
                </c:pt>
                <c:pt idx="17">
                  <c:v>11-26</c:v>
                </c:pt>
                <c:pt idx="18">
                  <c:v>11-27</c:v>
                </c:pt>
                <c:pt idx="19">
                  <c:v>11-28</c:v>
                </c:pt>
                <c:pt idx="20">
                  <c:v>11-29</c:v>
                </c:pt>
                <c:pt idx="21">
                  <c:v>11-30</c:v>
                </c:pt>
                <c:pt idx="22">
                  <c:v>12-01</c:v>
                </c:pt>
                <c:pt idx="23">
                  <c:v>12-02</c:v>
                </c:pt>
                <c:pt idx="24">
                  <c:v>12-03</c:v>
                </c:pt>
                <c:pt idx="25">
                  <c:v>12-04</c:v>
                </c:pt>
                <c:pt idx="26">
                  <c:v>12-05</c:v>
                </c:pt>
                <c:pt idx="27">
                  <c:v>12-06</c:v>
                </c:pt>
                <c:pt idx="28">
                  <c:v>12-07</c:v>
                </c:pt>
                <c:pt idx="29">
                  <c:v>12-08</c:v>
                </c:pt>
                <c:pt idx="30">
                  <c:v>12-09</c:v>
                </c:pt>
                <c:pt idx="31">
                  <c:v>12-10</c:v>
                </c:pt>
                <c:pt idx="32">
                  <c:v>12-11</c:v>
                </c:pt>
                <c:pt idx="33">
                  <c:v>12-12</c:v>
                </c:pt>
                <c:pt idx="34">
                  <c:v>12-13</c:v>
                </c:pt>
                <c:pt idx="35">
                  <c:v>12-14</c:v>
                </c:pt>
                <c:pt idx="36">
                  <c:v>12-15</c:v>
                </c:pt>
                <c:pt idx="37">
                  <c:v>12-16</c:v>
                </c:pt>
                <c:pt idx="38">
                  <c:v>12-17</c:v>
                </c:pt>
                <c:pt idx="39">
                  <c:v>12-18</c:v>
                </c:pt>
                <c:pt idx="40">
                  <c:v>12-19</c:v>
                </c:pt>
                <c:pt idx="41">
                  <c:v>12-20</c:v>
                </c:pt>
                <c:pt idx="42">
                  <c:v>12-21</c:v>
                </c:pt>
                <c:pt idx="43">
                  <c:v>12-22</c:v>
                </c:pt>
                <c:pt idx="44">
                  <c:v>12-23</c:v>
                </c:pt>
                <c:pt idx="45">
                  <c:v>12-24</c:v>
                </c:pt>
                <c:pt idx="46">
                  <c:v>12-25</c:v>
                </c:pt>
                <c:pt idx="47">
                  <c:v>12-26</c:v>
                </c:pt>
                <c:pt idx="48">
                  <c:v>12-27</c:v>
                </c:pt>
                <c:pt idx="49">
                  <c:v>12-28</c:v>
                </c:pt>
                <c:pt idx="50">
                  <c:v>12-29</c:v>
                </c:pt>
                <c:pt idx="51">
                  <c:v>12-30</c:v>
                </c:pt>
                <c:pt idx="52">
                  <c:v>12-31</c:v>
                </c:pt>
                <c:pt idx="53">
                  <c:v>01-01</c:v>
                </c:pt>
                <c:pt idx="54">
                  <c:v>01-02</c:v>
                </c:pt>
                <c:pt idx="55">
                  <c:v>01-03</c:v>
                </c:pt>
              </c:strCache>
            </c:strRef>
          </c:cat>
          <c:val>
            <c:numRef>
              <c:f>'Chart Data'!$B$2:$B$57</c:f>
              <c:numCache>
                <c:formatCode>0</c:formatCode>
                <c:ptCount val="56"/>
                <c:pt idx="0">
                  <c:v>2</c:v>
                </c:pt>
                <c:pt idx="1">
                  <c:v>2</c:v>
                </c:pt>
                <c:pt idx="2">
                  <c:v>6</c:v>
                </c:pt>
                <c:pt idx="3">
                  <c:v>3</c:v>
                </c:pt>
                <c:pt idx="4">
                  <c:v>4</c:v>
                </c:pt>
                <c:pt idx="5">
                  <c:v>1</c:v>
                </c:pt>
                <c:pt idx="6">
                  <c:v>7</c:v>
                </c:pt>
                <c:pt idx="7">
                  <c:v>3</c:v>
                </c:pt>
                <c:pt idx="8">
                  <c:v>1</c:v>
                </c:pt>
                <c:pt idx="9">
                  <c:v>1</c:v>
                </c:pt>
                <c:pt idx="10">
                  <c:v>2</c:v>
                </c:pt>
                <c:pt idx="11">
                  <c:v>2</c:v>
                </c:pt>
                <c:pt idx="12">
                  <c:v>1</c:v>
                </c:pt>
                <c:pt idx="13">
                  <c:v>3</c:v>
                </c:pt>
                <c:pt idx="14">
                  <c:v>0</c:v>
                </c:pt>
                <c:pt idx="15">
                  <c:v>3</c:v>
                </c:pt>
                <c:pt idx="16">
                  <c:v>1</c:v>
                </c:pt>
                <c:pt idx="17">
                  <c:v>0</c:v>
                </c:pt>
                <c:pt idx="18">
                  <c:v>2</c:v>
                </c:pt>
                <c:pt idx="19">
                  <c:v>1</c:v>
                </c:pt>
                <c:pt idx="20">
                  <c:v>0</c:v>
                </c:pt>
                <c:pt idx="21">
                  <c:v>3</c:v>
                </c:pt>
                <c:pt idx="22">
                  <c:v>4</c:v>
                </c:pt>
                <c:pt idx="23">
                  <c:v>4</c:v>
                </c:pt>
                <c:pt idx="24">
                  <c:v>2</c:v>
                </c:pt>
                <c:pt idx="25">
                  <c:v>3</c:v>
                </c:pt>
                <c:pt idx="26">
                  <c:v>5</c:v>
                </c:pt>
                <c:pt idx="27">
                  <c:v>3</c:v>
                </c:pt>
                <c:pt idx="28">
                  <c:v>3</c:v>
                </c:pt>
                <c:pt idx="29">
                  <c:v>2</c:v>
                </c:pt>
                <c:pt idx="30">
                  <c:v>2</c:v>
                </c:pt>
                <c:pt idx="31">
                  <c:v>2</c:v>
                </c:pt>
                <c:pt idx="32">
                  <c:v>4</c:v>
                </c:pt>
                <c:pt idx="33">
                  <c:v>6</c:v>
                </c:pt>
                <c:pt idx="34">
                  <c:v>3</c:v>
                </c:pt>
                <c:pt idx="35">
                  <c:v>2</c:v>
                </c:pt>
                <c:pt idx="36">
                  <c:v>2</c:v>
                </c:pt>
                <c:pt idx="37">
                  <c:v>2</c:v>
                </c:pt>
                <c:pt idx="38">
                  <c:v>4</c:v>
                </c:pt>
                <c:pt idx="39">
                  <c:v>2</c:v>
                </c:pt>
                <c:pt idx="40">
                  <c:v>0</c:v>
                </c:pt>
                <c:pt idx="41">
                  <c:v>3</c:v>
                </c:pt>
                <c:pt idx="42">
                  <c:v>6</c:v>
                </c:pt>
                <c:pt idx="43">
                  <c:v>1</c:v>
                </c:pt>
                <c:pt idx="44">
                  <c:v>5</c:v>
                </c:pt>
                <c:pt idx="45">
                  <c:v>2</c:v>
                </c:pt>
                <c:pt idx="46">
                  <c:v>0</c:v>
                </c:pt>
                <c:pt idx="47">
                  <c:v>1</c:v>
                </c:pt>
                <c:pt idx="48">
                  <c:v>2</c:v>
                </c:pt>
                <c:pt idx="49">
                  <c:v>1</c:v>
                </c:pt>
                <c:pt idx="50">
                  <c:v>3</c:v>
                </c:pt>
                <c:pt idx="51">
                  <c:v>1</c:v>
                </c:pt>
                <c:pt idx="52">
                  <c:v>4</c:v>
                </c:pt>
                <c:pt idx="53">
                  <c:v>3</c:v>
                </c:pt>
                <c:pt idx="54">
                  <c:v>3</c:v>
                </c:pt>
                <c:pt idx="55">
                  <c:v>2</c:v>
                </c:pt>
              </c:numCache>
            </c:numRef>
          </c:val>
          <c:smooth val="0"/>
        </c:ser>
        <c:ser>
          <c:idx val="1"/>
          <c:order val="1"/>
          <c:tx>
            <c:v>Filtered level</c:v>
          </c:tx>
          <c:spPr>
            <a:ln xmlns:a="http://schemas.openxmlformats.org/drawingml/2006/main" w="23813">
              <a:solidFill>
                <a:srgbClr val="107D79"/>
              </a:solidFill>
              <a:prstDash val="solid"/>
            </a:ln>
          </c:spPr>
          <c:marker>
            <c:symbol val="none"/>
            <c:size val="5"/>
            <c:spPr>
              <a:solidFill xmlns:a="http://schemas.openxmlformats.org/drawingml/2006/main">
                <a:srgbClr val="107D79"/>
              </a:solidFill>
            </c:spPr>
          </c:marker>
          <c:cat>
            <c:strRef>
              <c:f>'Chart Data'!$C$2:$C$57</c:f>
              <c:strCache>
                <c:ptCount val="56"/>
                <c:pt idx="0">
                  <c:v>11-09</c:v>
                </c:pt>
                <c:pt idx="1">
                  <c:v>11-10</c:v>
                </c:pt>
                <c:pt idx="2">
                  <c:v>11-11</c:v>
                </c:pt>
                <c:pt idx="3">
                  <c:v>11-12</c:v>
                </c:pt>
                <c:pt idx="4">
                  <c:v>11-13</c:v>
                </c:pt>
                <c:pt idx="5">
                  <c:v>11-14</c:v>
                </c:pt>
                <c:pt idx="6">
                  <c:v>11-15</c:v>
                </c:pt>
                <c:pt idx="7">
                  <c:v>11-16</c:v>
                </c:pt>
                <c:pt idx="8">
                  <c:v>11-17</c:v>
                </c:pt>
                <c:pt idx="9">
                  <c:v>11-18</c:v>
                </c:pt>
                <c:pt idx="10">
                  <c:v>11-19</c:v>
                </c:pt>
                <c:pt idx="11">
                  <c:v>11-20</c:v>
                </c:pt>
                <c:pt idx="12">
                  <c:v>11-21</c:v>
                </c:pt>
                <c:pt idx="13">
                  <c:v>11-22</c:v>
                </c:pt>
                <c:pt idx="14">
                  <c:v>11-23</c:v>
                </c:pt>
                <c:pt idx="15">
                  <c:v>11-24</c:v>
                </c:pt>
                <c:pt idx="16">
                  <c:v>11-25</c:v>
                </c:pt>
                <c:pt idx="17">
                  <c:v>11-26</c:v>
                </c:pt>
                <c:pt idx="18">
                  <c:v>11-27</c:v>
                </c:pt>
                <c:pt idx="19">
                  <c:v>11-28</c:v>
                </c:pt>
                <c:pt idx="20">
                  <c:v>11-29</c:v>
                </c:pt>
                <c:pt idx="21">
                  <c:v>11-30</c:v>
                </c:pt>
                <c:pt idx="22">
                  <c:v>12-01</c:v>
                </c:pt>
                <c:pt idx="23">
                  <c:v>12-02</c:v>
                </c:pt>
                <c:pt idx="24">
                  <c:v>12-03</c:v>
                </c:pt>
                <c:pt idx="25">
                  <c:v>12-04</c:v>
                </c:pt>
                <c:pt idx="26">
                  <c:v>12-05</c:v>
                </c:pt>
                <c:pt idx="27">
                  <c:v>12-06</c:v>
                </c:pt>
                <c:pt idx="28">
                  <c:v>12-07</c:v>
                </c:pt>
                <c:pt idx="29">
                  <c:v>12-08</c:v>
                </c:pt>
                <c:pt idx="30">
                  <c:v>12-09</c:v>
                </c:pt>
                <c:pt idx="31">
                  <c:v>12-10</c:v>
                </c:pt>
                <c:pt idx="32">
                  <c:v>12-11</c:v>
                </c:pt>
                <c:pt idx="33">
                  <c:v>12-12</c:v>
                </c:pt>
                <c:pt idx="34">
                  <c:v>12-13</c:v>
                </c:pt>
                <c:pt idx="35">
                  <c:v>12-14</c:v>
                </c:pt>
                <c:pt idx="36">
                  <c:v>12-15</c:v>
                </c:pt>
                <c:pt idx="37">
                  <c:v>12-16</c:v>
                </c:pt>
                <c:pt idx="38">
                  <c:v>12-17</c:v>
                </c:pt>
                <c:pt idx="39">
                  <c:v>12-18</c:v>
                </c:pt>
                <c:pt idx="40">
                  <c:v>12-19</c:v>
                </c:pt>
                <c:pt idx="41">
                  <c:v>12-20</c:v>
                </c:pt>
                <c:pt idx="42">
                  <c:v>12-21</c:v>
                </c:pt>
                <c:pt idx="43">
                  <c:v>12-22</c:v>
                </c:pt>
                <c:pt idx="44">
                  <c:v>12-23</c:v>
                </c:pt>
                <c:pt idx="45">
                  <c:v>12-24</c:v>
                </c:pt>
                <c:pt idx="46">
                  <c:v>12-25</c:v>
                </c:pt>
                <c:pt idx="47">
                  <c:v>12-26</c:v>
                </c:pt>
                <c:pt idx="48">
                  <c:v>12-27</c:v>
                </c:pt>
                <c:pt idx="49">
                  <c:v>12-28</c:v>
                </c:pt>
                <c:pt idx="50">
                  <c:v>12-29</c:v>
                </c:pt>
                <c:pt idx="51">
                  <c:v>12-30</c:v>
                </c:pt>
                <c:pt idx="52">
                  <c:v>12-31</c:v>
                </c:pt>
                <c:pt idx="53">
                  <c:v>01-01</c:v>
                </c:pt>
                <c:pt idx="54">
                  <c:v>01-02</c:v>
                </c:pt>
                <c:pt idx="55">
                  <c:v>01-03</c:v>
                </c:pt>
              </c:strCache>
            </c:strRef>
          </c:cat>
          <c:val>
            <c:numRef>
              <c:f>'Chart Data'!$D$2:$D$57</c:f>
              <c:numCache>
                <c:formatCode>0</c:formatCode>
                <c:ptCount val="56"/>
                <c:pt idx="0">
                  <c:v>2.8647339842</c:v>
                </c:pt>
                <c:pt idx="1">
                  <c:v>2.7966957619</c:v>
                </c:pt>
                <c:pt idx="2">
                  <c:v>3.0487352675</c:v>
                </c:pt>
                <c:pt idx="3">
                  <c:v>3.0449007229</c:v>
                </c:pt>
                <c:pt idx="4">
                  <c:v>3.120048986</c:v>
                </c:pt>
                <c:pt idx="5">
                  <c:v>2.9532411968</c:v>
                </c:pt>
                <c:pt idx="6">
                  <c:v>3.2716446365</c:v>
                </c:pt>
                <c:pt idx="7">
                  <c:v>3.2502713373</c:v>
                </c:pt>
                <c:pt idx="8">
                  <c:v>3.07321751</c:v>
                </c:pt>
                <c:pt idx="9">
                  <c:v>2.910094473</c:v>
                </c:pt>
                <c:pt idx="10">
                  <c:v>2.8384872375</c:v>
                </c:pt>
                <c:pt idx="11">
                  <c:v>2.7725141381</c:v>
                </c:pt>
                <c:pt idx="12">
                  <c:v>2.6330507735</c:v>
                </c:pt>
                <c:pt idx="13">
                  <c:v>2.6619227428</c:v>
                </c:pt>
                <c:pt idx="14">
                  <c:v>2.4524797296</c:v>
                </c:pt>
                <c:pt idx="15">
                  <c:v>2.4955592275</c:v>
                </c:pt>
                <c:pt idx="16">
                  <c:v>2.3778869803</c:v>
                </c:pt>
                <c:pt idx="17">
                  <c:v>2.1907922137</c:v>
                </c:pt>
                <c:pt idx="18">
                  <c:v>2.1757804722</c:v>
                </c:pt>
                <c:pt idx="19">
                  <c:v>2.0832687697</c:v>
                </c:pt>
                <c:pt idx="20">
                  <c:v>1.9193548884</c:v>
                </c:pt>
                <c:pt idx="21">
                  <c:v>2.004381236</c:v>
                </c:pt>
                <c:pt idx="22">
                  <c:v>2.1613987183</c:v>
                </c:pt>
                <c:pt idx="23">
                  <c:v>2.3060618921</c:v>
                </c:pt>
                <c:pt idx="24">
                  <c:v>2.2819806054</c:v>
                </c:pt>
                <c:pt idx="25">
                  <c:v>2.3384751622</c:v>
                </c:pt>
                <c:pt idx="26">
                  <c:v>2.5478868678</c:v>
                </c:pt>
                <c:pt idx="27">
                  <c:v>2.5834596269</c:v>
                </c:pt>
                <c:pt idx="28">
                  <c:v>2.6162334823</c:v>
                </c:pt>
                <c:pt idx="29">
                  <c:v>2.5677475532</c:v>
                </c:pt>
                <c:pt idx="30">
                  <c:v>2.5230765504</c:v>
                </c:pt>
                <c:pt idx="31">
                  <c:v>2.4819203113</c:v>
                </c:pt>
                <c:pt idx="32">
                  <c:v>2.6013644932</c:v>
                </c:pt>
                <c:pt idx="33">
                  <c:v>2.8687728781</c:v>
                </c:pt>
                <c:pt idx="34">
                  <c:v>2.8790979725</c:v>
                </c:pt>
                <c:pt idx="35">
                  <c:v>2.8099295758</c:v>
                </c:pt>
                <c:pt idx="36">
                  <c:v>2.7462034248</c:v>
                </c:pt>
                <c:pt idx="37">
                  <c:v>2.6874913175</c:v>
                </c:pt>
                <c:pt idx="38">
                  <c:v>2.7907609462</c:v>
                </c:pt>
                <c:pt idx="39">
                  <c:v>2.728543004</c:v>
                </c:pt>
                <c:pt idx="40">
                  <c:v>2.5138582353</c:v>
                </c:pt>
                <c:pt idx="41">
                  <c:v>2.5521084047</c:v>
                </c:pt>
                <c:pt idx="42">
                  <c:v>2.8233923129</c:v>
                </c:pt>
                <c:pt idx="43">
                  <c:v>2.6799257975</c:v>
                </c:pt>
                <c:pt idx="44">
                  <c:v>2.862471791</c:v>
                </c:pt>
                <c:pt idx="45">
                  <c:v>2.7946115606</c:v>
                </c:pt>
                <c:pt idx="46">
                  <c:v>2.5747284451</c:v>
                </c:pt>
                <c:pt idx="47">
                  <c:v>2.4508270766</c:v>
                </c:pt>
                <c:pt idx="48">
                  <c:v>2.4153555057</c:v>
                </c:pt>
                <c:pt idx="49">
                  <c:v>2.3039937757</c:v>
                </c:pt>
                <c:pt idx="50">
                  <c:v>2.358756312</c:v>
                </c:pt>
                <c:pt idx="51">
                  <c:v>2.2518478688</c:v>
                </c:pt>
                <c:pt idx="52">
                  <c:v>2.3893944039</c:v>
                </c:pt>
                <c:pt idx="53">
                  <c:v>2.4374375247</c:v>
                </c:pt>
                <c:pt idx="54">
                  <c:v>2.4817005599</c:v>
                </c:pt>
                <c:pt idx="55">
                  <c:v>2.4437998293</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0.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500">
                <a:solidFill>
                  <a:srgbClr val="5E7377"/>
                </a:solidFill>
                <a:latin typeface="Helvetica Neue"/>
                <a:ea typeface="Helvetica Neue"/>
                <a:cs typeface="Helvetica Neue"/>
              </a:defRPr>
            </a:pPr>
          </a:p>
        </c:txPr>
        <c:crossAx val="48672768"/>
      </c:catAx>
      <c:valAx>
        <c:axId val="48672768"/>
        <c:scaling>
          <c:orientation val="minMax"/>
          <c:max val="7"/>
          <c:min val="0"/>
        </c:scaling>
        <c:delete val="0"/>
        <c:axPos val="l"/>
        <c:majorGridlines>
          <c:spPr>
            <a:ln xmlns:a="http://schemas.openxmlformats.org/drawingml/2006/main" w="6668">
              <a:solidFill>
                <a:srgbClr val="D9E1DC"/>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E7377"/>
                    </a:solidFill>
                    <a:latin typeface="Helvetica Neue"/>
                    <a:ea typeface="Helvetica Neue"/>
                    <a:cs typeface="Helvetica Neue"/>
                  </a:rPr>
                  <a:t>Units / day</a:t>
                </a:r>
              </a:p>
            </c:rich>
          </c:tx>
          <c:overlay val="0"/>
          <c:txPr>
            <a:bodyPr xmlns:a="http://schemas.openxmlformats.org/drawingml/2006/main" anchorCtr="1"/>
            <a:lstStyle xmlns:a="http://schemas.openxmlformats.org/drawingml/2006/main"/>
            <a:p xmlns:a="http://schemas.openxmlformats.org/drawingml/2006/main">
              <a:pPr>
                <a:defRPr sz="1575">
                  <a:solidFill>
                    <a:srgbClr val="5E7377"/>
                  </a:solidFill>
                  <a:latin typeface="Helvetica Neue"/>
                  <a:ea typeface="Helvetica Neue"/>
                  <a:cs typeface="Helvetica Neue"/>
                </a:defRPr>
              </a:pPr>
            </a:p>
          </c:txPr>
        </c:title>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2323A"/>
              </a:solidFill>
              <a:latin typeface="Helvetica Neue"/>
              <a:ea typeface="Helvetica Neue"/>
              <a:cs typeface="Helvetica Neue"/>
            </a:defRPr>
          </a:pPr>
        </a:p>
      </c:txPr>
    </c:legend>
    <c:plotVisOnly val="1"/>
    <c:dispBlanksAs val="gap"/>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Forecast</c:v>
          </c:tx>
          <c:spPr>
            <a:ln xmlns:a="http://schemas.openxmlformats.org/drawingml/2006/main" w="28575">
              <a:solidFill>
                <a:srgbClr val="CC713F"/>
              </a:solidFill>
              <a:prstDash val="solid"/>
            </a:ln>
          </c:spPr>
          <c:marker>
            <c:symbol val="none"/>
            <c:size val="5"/>
            <c:spPr>
              <a:solidFill xmlns:a="http://schemas.openxmlformats.org/drawingml/2006/main">
                <a:srgbClr val="CC713F"/>
              </a:solidFill>
            </c:spPr>
          </c:marker>
          <c:cat>
            <c:numRef>
              <c:f>'Chart Data'!$A$2:$A$29</c:f>
              <c:numCache>
                <c:formatCode>0.0</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cat>
          <c:val>
            <c:numRef>
              <c:f>'Chart Data'!$B$2:$B$29</c:f>
              <c:numCache>
                <c:formatCode>0</c:formatCode>
                <c:ptCount val="28"/>
                <c:pt idx="0">
                  <c:v>2.4437998293</c:v>
                </c:pt>
                <c:pt idx="1">
                  <c:v>2.4437998293</c:v>
                </c:pt>
                <c:pt idx="2">
                  <c:v>2.4437998293</c:v>
                </c:pt>
                <c:pt idx="3">
                  <c:v>2.4437998293</c:v>
                </c:pt>
                <c:pt idx="4">
                  <c:v>2.4437998293</c:v>
                </c:pt>
                <c:pt idx="5">
                  <c:v>2.4437998293</c:v>
                </c:pt>
                <c:pt idx="6">
                  <c:v>2.4437998293</c:v>
                </c:pt>
                <c:pt idx="7">
                  <c:v>2.4437998293</c:v>
                </c:pt>
                <c:pt idx="8">
                  <c:v>2.4437998293</c:v>
                </c:pt>
                <c:pt idx="9">
                  <c:v>2.4437998293</c:v>
                </c:pt>
                <c:pt idx="10">
                  <c:v>2.4437998293</c:v>
                </c:pt>
                <c:pt idx="11">
                  <c:v>2.4437998293</c:v>
                </c:pt>
                <c:pt idx="12">
                  <c:v>2.4437998293</c:v>
                </c:pt>
                <c:pt idx="13">
                  <c:v>2.4437998293</c:v>
                </c:pt>
                <c:pt idx="14">
                  <c:v>2.4437998293</c:v>
                </c:pt>
                <c:pt idx="15">
                  <c:v>2.4437998293</c:v>
                </c:pt>
                <c:pt idx="16">
                  <c:v>2.4437998293</c:v>
                </c:pt>
                <c:pt idx="17">
                  <c:v>2.4437998293</c:v>
                </c:pt>
                <c:pt idx="18">
                  <c:v>2.4437998293</c:v>
                </c:pt>
                <c:pt idx="19">
                  <c:v>2.4437998293</c:v>
                </c:pt>
                <c:pt idx="20">
                  <c:v>2.4437998293</c:v>
                </c:pt>
                <c:pt idx="21">
                  <c:v>2.4437998293</c:v>
                </c:pt>
                <c:pt idx="22">
                  <c:v>2.4437998293</c:v>
                </c:pt>
                <c:pt idx="23">
                  <c:v>2.4437998293</c:v>
                </c:pt>
                <c:pt idx="24">
                  <c:v>2.4437998293</c:v>
                </c:pt>
                <c:pt idx="25">
                  <c:v>2.4437998293</c:v>
                </c:pt>
                <c:pt idx="26">
                  <c:v>2.4437998293</c:v>
                </c:pt>
                <c:pt idx="27">
                  <c:v>2.4437998293</c:v>
                </c:pt>
              </c:numCache>
            </c:numRef>
          </c:val>
          <c:smooth val="0"/>
        </c:ser>
        <c:ser>
          <c:idx val="1"/>
          <c:order val="1"/>
          <c:tx>
            <c:v>q10</c:v>
          </c:tx>
          <c:spPr>
            <a:ln xmlns:a="http://schemas.openxmlformats.org/drawingml/2006/main" w="15240">
              <a:solidFill>
                <a:srgbClr val="5B82A0"/>
              </a:solidFill>
              <a:prstDash val="dash"/>
            </a:ln>
          </c:spPr>
          <c:marker>
            <c:symbol val="none"/>
            <c:size val="5"/>
            <c:spPr>
              <a:solidFill xmlns:a="http://schemas.openxmlformats.org/drawingml/2006/main">
                <a:srgbClr val="5B82A0"/>
              </a:solidFill>
            </c:spPr>
          </c:marker>
          <c:cat>
            <c:numRef>
              <c:f>'Chart Data'!$C$2:$C$29</c:f>
              <c:numCache>
                <c:formatCode>0.0</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cat>
          <c:val>
            <c:numRef>
              <c:f>'Chart Data'!$D$2:$D$29</c:f>
              <c:numCache>
                <c:formatCode>0</c:formatCode>
                <c:ptCount val="28"/>
                <c:pt idx="0">
                  <c:v>0.63968348</c:v>
                </c:pt>
                <c:pt idx="1">
                  <c:v>0.6341077105</c:v>
                </c:pt>
                <c:pt idx="2">
                  <c:v>0.6285490676</c:v>
                </c:pt>
                <c:pt idx="3">
                  <c:v>0.6230073944</c:v>
                </c:pt>
                <c:pt idx="4">
                  <c:v>0.6174825364</c:v>
                </c:pt>
                <c:pt idx="5">
                  <c:v>0.6119743416</c:v>
                </c:pt>
                <c:pt idx="6">
                  <c:v>0.60648266</c:v>
                </c:pt>
                <c:pt idx="7">
                  <c:v>0.601007344</c:v>
                </c:pt>
                <c:pt idx="8">
                  <c:v>0.5955482482</c:v>
                </c:pt>
                <c:pt idx="9">
                  <c:v>0.5901052293</c:v>
                </c:pt>
                <c:pt idx="10">
                  <c:v>0.584678146</c:v>
                </c:pt>
                <c:pt idx="11">
                  <c:v>0.5792668593</c:v>
                </c:pt>
                <c:pt idx="12">
                  <c:v>0.5738712319</c:v>
                </c:pt>
                <c:pt idx="13">
                  <c:v>0.5684911287</c:v>
                </c:pt>
                <c:pt idx="14">
                  <c:v>0.5631264165</c:v>
                </c:pt>
                <c:pt idx="15">
                  <c:v>0.5577769639</c:v>
                </c:pt>
                <c:pt idx="16">
                  <c:v>0.5524426414</c:v>
                </c:pt>
                <c:pt idx="17">
                  <c:v>0.5471233215</c:v>
                </c:pt>
                <c:pt idx="18">
                  <c:v>0.5418188782</c:v>
                </c:pt>
                <c:pt idx="19">
                  <c:v>0.5365291874</c:v>
                </c:pt>
                <c:pt idx="20">
                  <c:v>0.5312541267</c:v>
                </c:pt>
                <c:pt idx="21">
                  <c:v>0.5259935753</c:v>
                </c:pt>
                <c:pt idx="22">
                  <c:v>0.5207474143</c:v>
                </c:pt>
                <c:pt idx="23">
                  <c:v>0.5155155261</c:v>
                </c:pt>
                <c:pt idx="24">
                  <c:v>0.5102977948</c:v>
                </c:pt>
                <c:pt idx="25">
                  <c:v>0.5050941063</c:v>
                </c:pt>
                <c:pt idx="26">
                  <c:v>0.4999043477</c:v>
                </c:pt>
                <c:pt idx="27">
                  <c:v>0.4947284077</c:v>
                </c:pt>
              </c:numCache>
            </c:numRef>
          </c:val>
          <c:smooth val="0"/>
        </c:ser>
        <c:ser>
          <c:idx val="2"/>
          <c:order val="2"/>
          <c:tx>
            <c:v>q90</c:v>
          </c:tx>
          <c:spPr>
            <a:ln xmlns:a="http://schemas.openxmlformats.org/drawingml/2006/main" w="15240">
              <a:solidFill>
                <a:srgbClr val="5B82A0"/>
              </a:solidFill>
              <a:prstDash val="dash"/>
            </a:ln>
          </c:spPr>
          <c:marker>
            <c:symbol val="none"/>
            <c:size val="5"/>
            <c:spPr>
              <a:solidFill xmlns:a="http://schemas.openxmlformats.org/drawingml/2006/main">
                <a:srgbClr val="5B82A0"/>
              </a:solidFill>
            </c:spPr>
          </c:marker>
          <c:cat>
            <c:numRef>
              <c:f>'Chart Data'!$E$2:$E$29</c:f>
              <c:numCache>
                <c:formatCode>0.0</c:formatCod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numCache>
            </c:numRef>
          </c:cat>
          <c:val>
            <c:numRef>
              <c:f>'Chart Data'!$F$2:$F$29</c:f>
              <c:numCache>
                <c:formatCode>0</c:formatCode>
                <c:ptCount val="28"/>
                <c:pt idx="0">
                  <c:v>4.2479161785</c:v>
                </c:pt>
                <c:pt idx="1">
                  <c:v>4.2534919481</c:v>
                </c:pt>
                <c:pt idx="2">
                  <c:v>4.259050591</c:v>
                </c:pt>
                <c:pt idx="3">
                  <c:v>4.2645922642</c:v>
                </c:pt>
                <c:pt idx="4">
                  <c:v>4.2701171221</c:v>
                </c:pt>
                <c:pt idx="5">
                  <c:v>4.275625317</c:v>
                </c:pt>
                <c:pt idx="6">
                  <c:v>4.2811169986</c:v>
                </c:pt>
                <c:pt idx="7">
                  <c:v>4.2865923145</c:v>
                </c:pt>
                <c:pt idx="8">
                  <c:v>4.2920514103</c:v>
                </c:pt>
                <c:pt idx="9">
                  <c:v>4.2974944292</c:v>
                </c:pt>
                <c:pt idx="10">
                  <c:v>4.3029215125</c:v>
                </c:pt>
                <c:pt idx="11">
                  <c:v>4.3083327993</c:v>
                </c:pt>
                <c:pt idx="12">
                  <c:v>4.3137284267</c:v>
                </c:pt>
                <c:pt idx="13">
                  <c:v>4.3191085299</c:v>
                </c:pt>
                <c:pt idx="14">
                  <c:v>4.3244732421</c:v>
                </c:pt>
                <c:pt idx="15">
                  <c:v>4.3298226947</c:v>
                </c:pt>
                <c:pt idx="16">
                  <c:v>4.3351570171</c:v>
                </c:pt>
                <c:pt idx="17">
                  <c:v>4.340476337</c:v>
                </c:pt>
                <c:pt idx="18">
                  <c:v>4.3457807804</c:v>
                </c:pt>
                <c:pt idx="19">
                  <c:v>4.3510704712</c:v>
                </c:pt>
                <c:pt idx="20">
                  <c:v>4.3563455319</c:v>
                </c:pt>
                <c:pt idx="21">
                  <c:v>4.3616060832</c:v>
                </c:pt>
                <c:pt idx="22">
                  <c:v>4.3668522443</c:v>
                </c:pt>
                <c:pt idx="23">
                  <c:v>4.3720841325</c:v>
                </c:pt>
                <c:pt idx="24">
                  <c:v>4.3773018637</c:v>
                </c:pt>
                <c:pt idx="25">
                  <c:v>4.3825055523</c:v>
                </c:pt>
                <c:pt idx="26">
                  <c:v>4.3876953109</c:v>
                </c:pt>
                <c:pt idx="27">
                  <c:v>4.3928712509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0.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500">
                <a:solidFill>
                  <a:srgbClr val="5E7377"/>
                </a:solidFill>
                <a:latin typeface="Helvetica Neue"/>
                <a:ea typeface="Helvetica Neue"/>
                <a:cs typeface="Helvetica Neue"/>
              </a:defRPr>
            </a:pPr>
          </a:p>
        </c:txPr>
        <c:crossAx val="48672768"/>
      </c:catAx>
      <c:valAx>
        <c:axId val="48672768"/>
        <c:scaling>
          <c:orientation val="minMax"/>
          <c:max val="7"/>
          <c:min val="0"/>
        </c:scaling>
        <c:delete val="0"/>
        <c:axPos val="l"/>
        <c:majorGridlines>
          <c:spPr>
            <a:ln xmlns:a="http://schemas.openxmlformats.org/drawingml/2006/main" w="6668">
              <a:solidFill>
                <a:srgbClr val="D9E1DC"/>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E7377"/>
                    </a:solidFill>
                    <a:latin typeface="Helvetica Neue"/>
                    <a:ea typeface="Helvetica Neue"/>
                    <a:cs typeface="Helvetica Neue"/>
                  </a:rPr>
                  <a:t>Units / day</a:t>
                </a:r>
              </a:p>
            </c:rich>
          </c:tx>
          <c:overlay val="0"/>
          <c:txPr>
            <a:bodyPr xmlns:a="http://schemas.openxmlformats.org/drawingml/2006/main" anchorCtr="1"/>
            <a:lstStyle xmlns:a="http://schemas.openxmlformats.org/drawingml/2006/main"/>
            <a:p xmlns:a="http://schemas.openxmlformats.org/drawingml/2006/main">
              <a:pPr>
                <a:defRPr sz="1575">
                  <a:solidFill>
                    <a:srgbClr val="5E7377"/>
                  </a:solidFill>
                  <a:latin typeface="Helvetica Neue"/>
                  <a:ea typeface="Helvetica Neue"/>
                  <a:cs typeface="Helvetica Neue"/>
                </a:defRPr>
              </a:pPr>
            </a:p>
          </c:txPr>
        </c:title>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2323A"/>
              </a:solidFill>
              <a:latin typeface="Helvetica Neue"/>
              <a:ea typeface="Helvetica Neue"/>
              <a:cs typeface="Helvetica Neue"/>
            </a:defRPr>
          </a:pPr>
        </a:p>
      </c:txPr>
    </c:legend>
    <c:plotVisOnly val="1"/>
    <c:dispBlanksAs val="gap"/>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107D79"/>
            </a:solidFill>
          </c:spPr>
          <c:invertIfNegative val="0"/>
          <c:dPt>
            <c:idx val="0"/>
            <c:invertIfNegative val="0"/>
            <c:spPr>
              <a:solidFill xmlns:a="http://schemas.openxmlformats.org/drawingml/2006/main">
                <a:srgbClr val="6A8C65"/>
              </a:solidFill>
            </c:spPr>
          </c:dPt>
          <c:dPt>
            <c:idx val="1"/>
            <c:invertIfNegative val="0"/>
            <c:spPr>
              <a:solidFill xmlns:a="http://schemas.openxmlformats.org/drawingml/2006/main">
                <a:srgbClr val="9D8856"/>
              </a:solidFill>
            </c:spPr>
          </c:dPt>
          <c:dPt>
            <c:idx val="2"/>
            <c:invertIfNegative val="0"/>
            <c:spPr>
              <a:solidFill xmlns:a="http://schemas.openxmlformats.org/drawingml/2006/main">
                <a:srgbClr val="107D79"/>
              </a:solidFill>
            </c:spPr>
          </c:dPt>
          <c:dPt>
            <c:idx val="3"/>
            <c:invertIfNegative val="0"/>
            <c:spPr>
              <a:solidFill xmlns:a="http://schemas.openxmlformats.org/drawingml/2006/main">
                <a:srgbClr val="65908B"/>
              </a:solidFill>
            </c:spPr>
          </c:dPt>
          <c:cat>
            <c:strRef>
              <c:f>'Chart Data'!$A$2:$A$5</c:f>
              <c:strCache>
                <c:ptCount val="4"/>
                <c:pt idx="0">
                  <c:v>trend + week</c:v>
                </c:pt>
                <c:pt idx="1">
                  <c:v>trend</c:v>
                </c:pt>
                <c:pt idx="2">
                  <c:v>level + week</c:v>
                </c:pt>
                <c:pt idx="3">
                  <c:v>local level</c:v>
                </c:pt>
              </c:strCache>
            </c:strRef>
          </c:cat>
          <c:val>
            <c:numRef>
              <c:f>'Chart Data'!$B$2:$B$5</c:f>
              <c:numCache>
                <c:formatCode>0%</c:formatCode>
                <c:ptCount val="4"/>
                <c:pt idx="0">
                  <c:v>0.8304637112</c:v>
                </c:pt>
                <c:pt idx="1">
                  <c:v>0.846587418</c:v>
                </c:pt>
                <c:pt idx="2">
                  <c:v>0.8285572921</c:v>
                </c:pt>
                <c:pt idx="3">
                  <c:v>0.8367760327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232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72768"/>
      </c:catAx>
      <c:valAx>
        <c:axId val="48672768"/>
        <c:scaling>
          <c:orientation val="minMax"/>
          <c:max val="0.95"/>
          <c:min val="0"/>
        </c:scaling>
        <c:delete val="0"/>
        <c:axPos val="b"/>
        <c:majorGridlines>
          <c:spPr>
            <a:ln xmlns:a="http://schemas.openxmlformats.org/drawingml/2006/main" w="6668">
              <a:solidFill>
                <a:srgbClr val="D9E1DC"/>
              </a:solidFill>
            </a:ln>
          </c:spPr>
        </c:majorGridlines>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107D79"/>
            </a:solidFill>
          </c:spPr>
          <c:invertIfNegative val="0"/>
          <c:dPt>
            <c:idx val="0"/>
            <c:invertIfNegative val="0"/>
            <c:spPr>
              <a:solidFill xmlns:a="http://schemas.openxmlformats.org/drawingml/2006/main">
                <a:srgbClr val="107D79"/>
              </a:solidFill>
            </c:spPr>
          </c:dPt>
          <c:dPt>
            <c:idx val="1"/>
            <c:invertIfNegative val="0"/>
            <c:spPr>
              <a:solidFill xmlns:a="http://schemas.openxmlformats.org/drawingml/2006/main">
                <a:srgbClr val="CC713F"/>
              </a:solidFill>
            </c:spPr>
          </c:dPt>
          <c:dPt>
            <c:idx val="2"/>
            <c:invertIfNegative val="0"/>
            <c:spPr>
              <a:solidFill xmlns:a="http://schemas.openxmlformats.org/drawingml/2006/main">
                <a:srgbClr val="107D79"/>
              </a:solidFill>
            </c:spPr>
          </c:dPt>
          <c:dPt>
            <c:idx val="3"/>
            <c:invertIfNegative val="0"/>
            <c:spPr>
              <a:solidFill xmlns:a="http://schemas.openxmlformats.org/drawingml/2006/main">
                <a:srgbClr val="107D79"/>
              </a:solidFill>
            </c:spPr>
          </c:dPt>
          <c:dPt>
            <c:idx val="4"/>
            <c:invertIfNegative val="0"/>
            <c:spPr>
              <a:solidFill xmlns:a="http://schemas.openxmlformats.org/drawingml/2006/main">
                <a:srgbClr val="107D79"/>
              </a:solidFill>
            </c:spPr>
          </c:dPt>
          <c:cat>
            <c:strRef>
              <c:f>'Chart Data'!$A$2:$A$6</c:f>
              <c:strCache>
                <c:ptCount val="5"/>
                <c:pt idx="0">
                  <c:v>14-day deviation</c:v>
                </c:pt>
                <c:pt idx="1">
                  <c:v>Last known price</c:v>
                </c:pt>
                <c:pt idx="2">
                  <c:v>14-day mean</c:v>
                </c:pt>
                <c:pt idx="3">
                  <c:v>28-day deviation</c:v>
                </c:pt>
                <c:pt idx="4">
                  <c:v>28-day mean</c:v>
                </c:pt>
              </c:strCache>
            </c:strRef>
          </c:cat>
          <c:val>
            <c:numRef>
              <c:f>'Chart Data'!$B$2:$B$6</c:f>
              <c:numCache>
                <c:formatCode>0.0</c:formatCode>
                <c:ptCount val="5"/>
                <c:pt idx="0">
                  <c:v>232.96542479</c:v>
                </c:pt>
                <c:pt idx="1">
                  <c:v>260.829629825</c:v>
                </c:pt>
                <c:pt idx="2">
                  <c:v>334.923402974</c:v>
                </c:pt>
                <c:pt idx="3">
                  <c:v>413.502181728</c:v>
                </c:pt>
                <c:pt idx="4">
                  <c:v>452.99246186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1232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72768"/>
      </c:catAx>
      <c:valAx>
        <c:axId val="48672768"/>
        <c:scaling>
          <c:orientation val="minMax"/>
          <c:max val="550"/>
          <c:min val="0"/>
        </c:scaling>
        <c:delete val="0"/>
        <c:axPos val="b"/>
        <c:majorGridlines>
          <c:spPr>
            <a:ln xmlns:a="http://schemas.openxmlformats.org/drawingml/2006/main" w="6668">
              <a:solidFill>
                <a:srgbClr val="D9E1DC"/>
              </a:solidFill>
            </a:ln>
          </c:spPr>
        </c:majorGridlines>
        <c:title>
          <c:tx>
            <c:rich>
              <a:bodyPr xmlns:a="http://schemas.openxmlformats.org/drawingml/2006/main"/>
              <a:lstStyle xmlns:a="http://schemas.openxmlformats.org/drawingml/2006/main"/>
              <a:p xmlns:a="http://schemas.openxmlformats.org/drawingml/2006/main">
                <a:r>
                  <a:rPr sz="1500">
                    <a:solidFill>
                      <a:srgbClr val="5E7377"/>
                    </a:solidFill>
                    <a:latin typeface="Helvetica Neue"/>
                    <a:ea typeface="Helvetica Neue"/>
                    <a:cs typeface="Helvetica Neue"/>
                  </a:rPr>
                  <a:t>Mean split gain (thousands)</a:t>
                </a:r>
              </a:p>
            </c:rich>
          </c:tx>
          <c:overlay val="0"/>
          <c:txPr>
            <a:bodyPr xmlns:a="http://schemas.openxmlformats.org/drawingml/2006/main" anchorCtr="1"/>
            <a:lstStyle xmlns:a="http://schemas.openxmlformats.org/drawingml/2006/main"/>
            <a:p xmlns:a="http://schemas.openxmlformats.org/drawingml/2006/main">
              <a:pPr>
                <a:defRPr sz="1500">
                  <a:solidFill>
                    <a:srgbClr val="5E7377"/>
                  </a:solidFill>
                  <a:latin typeface="Helvetica Neue"/>
                  <a:ea typeface="Helvetica Neue"/>
                  <a:cs typeface="Helvetica Neue"/>
                </a:defRPr>
              </a:pPr>
            </a:p>
          </c:txPr>
        </c:title>
        <c:numFmt formatCode="0.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majorUnit val="1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107D79"/>
            </a:solidFill>
          </c:spPr>
          <c:invertIfNegative val="0"/>
          <c:dPt>
            <c:idx val="0"/>
            <c:invertIfNegative val="0"/>
            <c:spPr>
              <a:solidFill xmlns:a="http://schemas.openxmlformats.org/drawingml/2006/main">
                <a:srgbClr val="A4B0B2"/>
              </a:solidFill>
            </c:spPr>
          </c:dPt>
          <c:dPt>
            <c:idx val="1"/>
            <c:invertIfNegative val="0"/>
            <c:spPr>
              <a:solidFill xmlns:a="http://schemas.openxmlformats.org/drawingml/2006/main">
                <a:srgbClr val="5B82A0"/>
              </a:solidFill>
            </c:spPr>
          </c:dPt>
          <c:dPt>
            <c:idx val="2"/>
            <c:invertIfNegative val="0"/>
            <c:spPr>
              <a:solidFill xmlns:a="http://schemas.openxmlformats.org/drawingml/2006/main">
                <a:srgbClr val="9D8856"/>
              </a:solidFill>
            </c:spPr>
          </c:dPt>
          <c:dPt>
            <c:idx val="3"/>
            <c:invertIfNegative val="0"/>
            <c:spPr>
              <a:solidFill xmlns:a="http://schemas.openxmlformats.org/drawingml/2006/main">
                <a:srgbClr val="78689C"/>
              </a:solidFill>
            </c:spPr>
          </c:dPt>
          <c:dPt>
            <c:idx val="4"/>
            <c:invertIfNegative val="0"/>
            <c:spPr>
              <a:solidFill xmlns:a="http://schemas.openxmlformats.org/drawingml/2006/main">
                <a:srgbClr val="65908B"/>
              </a:solidFill>
            </c:spPr>
          </c:dPt>
          <c:dPt>
            <c:idx val="5"/>
            <c:invertIfNegative val="0"/>
            <c:spPr>
              <a:solidFill xmlns:a="http://schemas.openxmlformats.org/drawingml/2006/main">
                <a:srgbClr val="6A8C65"/>
              </a:solidFill>
            </c:spPr>
          </c:dPt>
          <c:dPt>
            <c:idx val="6"/>
            <c:invertIfNegative val="0"/>
            <c:spPr>
              <a:solidFill xmlns:a="http://schemas.openxmlformats.org/drawingml/2006/main">
                <a:srgbClr val="107D79"/>
              </a:solidFill>
            </c:spPr>
          </c:dPt>
          <c:dPt>
            <c:idx val="7"/>
            <c:invertIfNegative val="0"/>
            <c:spPr>
              <a:solidFill xmlns:a="http://schemas.openxmlformats.org/drawingml/2006/main">
                <a:srgbClr val="CC713F"/>
              </a:solidFill>
            </c:spPr>
          </c:dPt>
          <c:cat>
            <c:strRef>
              <c:f>'Chart Data'!$A$2:$A$9</c:f>
              <c:strCache>
                <c:ptCount val="8"/>
                <c:pt idx="0">
                  <c:v>Last value</c:v>
                </c:pt>
                <c:pt idx="1">
                  <c:v>Weekly naive</c:v>
                </c:pt>
                <c:pt idx="2">
                  <c:v>M7 trend</c:v>
                </c:pt>
                <c:pt idx="3">
                  <c:v>M6 local level</c:v>
                </c:pt>
                <c:pt idx="4">
                  <c:v>M7 local level</c:v>
                </c:pt>
                <c:pt idx="5">
                  <c:v>M7 trend + week</c:v>
                </c:pt>
                <c:pt idx="6">
                  <c:v>M7 level + week</c:v>
                </c:pt>
                <c:pt idx="7">
                  <c:v>LightGBM</c:v>
                </c:pt>
              </c:strCache>
            </c:strRef>
          </c:cat>
          <c:val>
            <c:numRef>
              <c:f>'Chart Data'!$B$2:$B$9</c:f>
              <c:numCache>
                <c:formatCode>0%</c:formatCode>
                <c:ptCount val="8"/>
                <c:pt idx="0">
                  <c:v>1.03320499</c:v>
                </c:pt>
                <c:pt idx="1">
                  <c:v>0.9827506546</c:v>
                </c:pt>
                <c:pt idx="2">
                  <c:v>0.846587418</c:v>
                </c:pt>
                <c:pt idx="3">
                  <c:v>0.8375123423</c:v>
                </c:pt>
                <c:pt idx="4">
                  <c:v>0.8367760327</c:v>
                </c:pt>
                <c:pt idx="5">
                  <c:v>0.8304637112</c:v>
                </c:pt>
                <c:pt idx="6">
                  <c:v>0.8285572921</c:v>
                </c:pt>
                <c:pt idx="7">
                  <c:v>0.7639960315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232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72768"/>
      </c:catAx>
      <c:valAx>
        <c:axId val="48672768"/>
        <c:scaling>
          <c:orientation val="minMax"/>
          <c:max val="1.22"/>
          <c:min val="0"/>
        </c:scaling>
        <c:delete val="0"/>
        <c:axPos val="b"/>
        <c:majorGridlines>
          <c:spPr>
            <a:ln xmlns:a="http://schemas.openxmlformats.org/drawingml/2006/main" w="6668">
              <a:solidFill>
                <a:srgbClr val="D9E1DC"/>
              </a:solidFill>
            </a:ln>
          </c:spPr>
        </c:majorGridlines>
        <c:numFmt formatCode="0%"/>
        <c:majorTickMark val="none"/>
        <c:minorTickMark val="none"/>
        <c:spPr>
          <a:ln xmlns:a="http://schemas.openxmlformats.org/drawingml/2006/main" w="5715">
            <a:solidFill>
              <a:srgbClr val="D9E1DC"/>
            </a:solidFill>
          </a:ln>
        </c:spPr>
        <c:txPr>
          <a:bodyPr xmlns:a="http://schemas.openxmlformats.org/drawingml/2006/main" anchorCtr="1"/>
          <a:lstStyle xmlns:a="http://schemas.openxmlformats.org/drawingml/2006/main"/>
          <a:p xmlns:a="http://schemas.openxmlformats.org/drawingml/2006/main">
            <a:pPr>
              <a:defRPr sz="1650">
                <a:solidFill>
                  <a:srgbClr val="5E7377"/>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6" name="Text APPLIED MACHINE LEARNING PROJECT">
            <a:extLst xmlns:a="http://schemas.openxmlformats.org/drawingml/2006/main">
              <a:ext uri="{FF2B5EF4-FFF2-40B4-BE49-F238E27FC236}">
                <a16:creationId xmlns:a16="http://schemas.microsoft.com/office/drawing/2014/main" id="{0FA6173F-82FB-42E0-B0D2-379FE7264B25}"/>
              </a:ext>
            </a:extLst>
          </p:cNvPr>
          <p:cNvSpPr>
            <a:spLocks xmlns:a="http://schemas.openxmlformats.org/drawingml/2006/main" noGrp="1"/>
          </p:cNvSpPr>
          <p:nvPr/>
        </p:nvSpPr>
        <p:spPr>
          <a:xfrm xmlns:a="http://schemas.openxmlformats.org/drawingml/2006/main">
            <a:off x="628650" y="6191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07D79"/>
                </a:solidFill>
                <a:latin typeface="Helvetica Neue"/>
                <a:ea typeface="Helvetica Neue"/>
                <a:cs typeface="Helvetica Neue"/>
              </a:defRPr>
            </a:defPPr>
            <a:lvl1pPr algn="l">
              <a:defRPr sz="1350" b="1">
                <a:solidFill>
                  <a:srgbClr val="107D79"/>
                </a:solidFill>
                <a:latin typeface="Helvetica Neue"/>
                <a:ea typeface="Helvetica Neue"/>
                <a:cs typeface="Helvetica Neue"/>
              </a:defRPr>
            </a:lvl1pPr>
            <a:lvl2pPr algn="l">
              <a:defRPr sz="1350" b="1">
                <a:solidFill>
                  <a:srgbClr val="107D79"/>
                </a:solidFill>
                <a:latin typeface="Helvetica Neue"/>
                <a:ea typeface="Helvetica Neue"/>
                <a:cs typeface="Helvetica Neue"/>
              </a:defRPr>
            </a:lvl2pPr>
            <a:lvl3pPr algn="l">
              <a:defRPr sz="1350" b="1">
                <a:solidFill>
                  <a:srgbClr val="107D79"/>
                </a:solidFill>
                <a:latin typeface="Helvetica Neue"/>
                <a:ea typeface="Helvetica Neue"/>
                <a:cs typeface="Helvetica Neue"/>
              </a:defRPr>
            </a:lvl3pPr>
            <a:lvl4pPr algn="l">
              <a:defRPr sz="1350" b="1">
                <a:solidFill>
                  <a:srgbClr val="107D79"/>
                </a:solidFill>
                <a:latin typeface="Helvetica Neue"/>
                <a:ea typeface="Helvetica Neue"/>
                <a:cs typeface="Helvetica Neue"/>
              </a:defRPr>
            </a:lvl4pPr>
            <a:lvl5pPr algn="l">
              <a:defRPr sz="1350" b="1">
                <a:solidFill>
                  <a:srgbClr val="107D79"/>
                </a:solidFill>
                <a:latin typeface="Helvetica Neue"/>
                <a:ea typeface="Helvetica Neue"/>
                <a:cs typeface="Helvetica Neue"/>
              </a:defRPr>
            </a:lvl5pPr>
            <a:lvl6pPr algn="l">
              <a:defRPr sz="1350" b="1">
                <a:solidFill>
                  <a:srgbClr val="107D79"/>
                </a:solidFill>
                <a:latin typeface="Helvetica Neue"/>
                <a:ea typeface="Helvetica Neue"/>
                <a:cs typeface="Helvetica Neue"/>
              </a:defRPr>
            </a:lvl6pPr>
            <a:lvl7pPr algn="l">
              <a:defRPr sz="1350" b="1">
                <a:solidFill>
                  <a:srgbClr val="107D79"/>
                </a:solidFill>
                <a:latin typeface="Helvetica Neue"/>
                <a:ea typeface="Helvetica Neue"/>
                <a:cs typeface="Helvetica Neue"/>
              </a:defRPr>
            </a:lvl7pPr>
            <a:lvl8pPr algn="l">
              <a:defRPr sz="1350" b="1">
                <a:solidFill>
                  <a:srgbClr val="107D79"/>
                </a:solidFill>
                <a:latin typeface="Helvetica Neue"/>
                <a:ea typeface="Helvetica Neue"/>
                <a:cs typeface="Helvetica Neue"/>
              </a:defRPr>
            </a:lvl8pPr>
            <a:lvl9pPr algn="l">
              <a:defRPr sz="1350" b="1">
                <a:solidFill>
                  <a:srgbClr val="107D79"/>
                </a:solidFill>
                <a:latin typeface="Helvetica Neue"/>
                <a:ea typeface="Helvetica Neue"/>
                <a:cs typeface="Helvetica Neue"/>
              </a:defRPr>
            </a:lvl9pPr>
          </a:lstStyle>
          <a:p xmlns:a="http://schemas.openxmlformats.org/drawingml/2006/main">
            <a:pPr algn="l">
              <a:lnSpc>
                <a:spcPct val="112000"/>
              </a:lnSpc>
              <a:buNone/>
              <a:defRPr sz="1350" b="1">
                <a:solidFill>
                  <a:srgbClr val="107D79"/>
                </a:solidFill>
                <a:latin typeface="Helvetica Neue"/>
                <a:ea typeface="Helvetica Neue"/>
                <a:cs typeface="Helvetica Neue"/>
              </a:defRPr>
            </a:pPr>
            <a:r>
              <a:rPr sz="1350" b="1">
                <a:solidFill>
                  <a:srgbClr val="107D79"/>
                </a:solidFill>
                <a:latin typeface="Helvetica Neue"/>
                <a:ea typeface="Helvetica Neue"/>
                <a:cs typeface="Helvetica Neue"/>
              </a:rPr>
              <a:t>APPLIED MACHINE LEARNING PROJECT</a:t>
            </a:r>
          </a:p>
        </p:txBody>
      </p:sp>
      <p:sp>
        <p:nvSpPr>
          <p:cNvPr id="2" name="Text Retail demand&#10;forecasting">
            <a:extLst xmlns:a="http://schemas.openxmlformats.org/drawingml/2006/main">
              <a:ext uri="{FF2B5EF4-FFF2-40B4-BE49-F238E27FC236}">
                <a16:creationId xmlns:a16="http://schemas.microsoft.com/office/drawing/2014/main" id="{11D1AC69-D6E1-4642-9ED0-DAB92BEDE718}"/>
              </a:ext>
            </a:extLst>
          </p:cNvPr>
          <p:cNvSpPr>
            <a:spLocks xmlns:a="http://schemas.openxmlformats.org/drawingml/2006/main" noGrp="1"/>
          </p:cNvSpPr>
          <p:nvPr/>
        </p:nvSpPr>
        <p:spPr>
          <a:xfrm xmlns:a="http://schemas.openxmlformats.org/drawingml/2006/main">
            <a:off x="609600" y="1562100"/>
            <a:ext cx="614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323A"/>
                </a:solidFill>
                <a:latin typeface="Helvetica Neue"/>
                <a:ea typeface="Helvetica Neue"/>
                <a:cs typeface="Helvetica Neue"/>
              </a:defRPr>
            </a:defPPr>
            <a:lvl1pPr algn="l">
              <a:defRPr sz="5700" b="1">
                <a:solidFill>
                  <a:srgbClr val="12323A"/>
                </a:solidFill>
                <a:latin typeface="Helvetica Neue"/>
                <a:ea typeface="Helvetica Neue"/>
                <a:cs typeface="Helvetica Neue"/>
              </a:defRPr>
            </a:lvl1pPr>
            <a:lvl2pPr algn="l">
              <a:defRPr sz="5700" b="1">
                <a:solidFill>
                  <a:srgbClr val="12323A"/>
                </a:solidFill>
                <a:latin typeface="Helvetica Neue"/>
                <a:ea typeface="Helvetica Neue"/>
                <a:cs typeface="Helvetica Neue"/>
              </a:defRPr>
            </a:lvl2pPr>
            <a:lvl3pPr algn="l">
              <a:defRPr sz="5700" b="1">
                <a:solidFill>
                  <a:srgbClr val="12323A"/>
                </a:solidFill>
                <a:latin typeface="Helvetica Neue"/>
                <a:ea typeface="Helvetica Neue"/>
                <a:cs typeface="Helvetica Neue"/>
              </a:defRPr>
            </a:lvl3pPr>
            <a:lvl4pPr algn="l">
              <a:defRPr sz="5700" b="1">
                <a:solidFill>
                  <a:srgbClr val="12323A"/>
                </a:solidFill>
                <a:latin typeface="Helvetica Neue"/>
                <a:ea typeface="Helvetica Neue"/>
                <a:cs typeface="Helvetica Neue"/>
              </a:defRPr>
            </a:lvl4pPr>
            <a:lvl5pPr algn="l">
              <a:defRPr sz="5700" b="1">
                <a:solidFill>
                  <a:srgbClr val="12323A"/>
                </a:solidFill>
                <a:latin typeface="Helvetica Neue"/>
                <a:ea typeface="Helvetica Neue"/>
                <a:cs typeface="Helvetica Neue"/>
              </a:defRPr>
            </a:lvl5pPr>
            <a:lvl6pPr algn="l">
              <a:defRPr sz="5700" b="1">
                <a:solidFill>
                  <a:srgbClr val="12323A"/>
                </a:solidFill>
                <a:latin typeface="Helvetica Neue"/>
                <a:ea typeface="Helvetica Neue"/>
                <a:cs typeface="Helvetica Neue"/>
              </a:defRPr>
            </a:lvl6pPr>
            <a:lvl7pPr algn="l">
              <a:defRPr sz="5700" b="1">
                <a:solidFill>
                  <a:srgbClr val="12323A"/>
                </a:solidFill>
                <a:latin typeface="Helvetica Neue"/>
                <a:ea typeface="Helvetica Neue"/>
                <a:cs typeface="Helvetica Neue"/>
              </a:defRPr>
            </a:lvl7pPr>
            <a:lvl8pPr algn="l">
              <a:defRPr sz="5700" b="1">
                <a:solidFill>
                  <a:srgbClr val="12323A"/>
                </a:solidFill>
                <a:latin typeface="Helvetica Neue"/>
                <a:ea typeface="Helvetica Neue"/>
                <a:cs typeface="Helvetica Neue"/>
              </a:defRPr>
            </a:lvl8pPr>
            <a:lvl9pPr algn="l">
              <a:defRPr sz="5700" b="1">
                <a:solidFill>
                  <a:srgbClr val="12323A"/>
                </a:solidFill>
                <a:latin typeface="Helvetica Neue"/>
                <a:ea typeface="Helvetica Neue"/>
                <a:cs typeface="Helvetica Neue"/>
              </a:defRPr>
            </a:lvl9pPr>
          </a:lstStyle>
          <a:p xmlns:a="http://schemas.openxmlformats.org/drawingml/2006/main">
            <a:pPr algn="l">
              <a:lnSpc>
                <a:spcPct val="112000"/>
              </a:lnSpc>
              <a:buNone/>
              <a:defRPr sz="5700" b="1">
                <a:solidFill>
                  <a:srgbClr val="12323A"/>
                </a:solidFill>
                <a:latin typeface="Helvetica Neue"/>
                <a:ea typeface="Helvetica Neue"/>
                <a:cs typeface="Helvetica Neue"/>
              </a:defRPr>
            </a:pPr>
            <a:r>
              <a:rPr sz="5700" b="1">
                <a:solidFill>
                  <a:srgbClr val="12323A"/>
                </a:solidFill>
                <a:latin typeface="Helvetica Neue"/>
                <a:ea typeface="Helvetica Neue"/>
                <a:cs typeface="Helvetica Neue"/>
              </a:rPr>
              <a:t>Retail demand</a:t>
            </a:r>
          </a:p>
          <a:p xmlns:a="http://schemas.openxmlformats.org/drawingml/2006/main">
            <a:pPr algn="l">
              <a:lnSpc>
                <a:spcPct val="112000"/>
              </a:lnSpc>
              <a:buNone/>
              <a:defRPr sz="5700" b="1">
                <a:solidFill>
                  <a:srgbClr val="12323A"/>
                </a:solidFill>
                <a:latin typeface="Helvetica Neue"/>
                <a:ea typeface="Helvetica Neue"/>
                <a:cs typeface="Helvetica Neue"/>
              </a:defRPr>
            </a:pPr>
            <a:r>
              <a:rPr sz="5700" b="1">
                <a:solidFill>
                  <a:srgbClr val="12323A"/>
                </a:solidFill>
                <a:latin typeface="Helvetica Neue"/>
                <a:ea typeface="Helvetica Neue"/>
                <a:cs typeface="Helvetica Neue"/>
              </a:rPr>
              <a:t>forecasting</a:t>
            </a:r>
          </a:p>
        </p:txBody>
      </p:sp>
      <p:sp>
        <p:nvSpPr>
          <p:cNvPr id="3" name="Text 240 product-store series&#10;28 days ahead">
            <a:extLst xmlns:a="http://schemas.openxmlformats.org/drawingml/2006/main">
              <a:ext uri="{FF2B5EF4-FFF2-40B4-BE49-F238E27FC236}">
                <a16:creationId xmlns:a16="http://schemas.microsoft.com/office/drawing/2014/main" id="{2DC49F9D-970D-45BD-AD76-7F57744A9717}"/>
              </a:ext>
            </a:extLst>
          </p:cNvPr>
          <p:cNvSpPr>
            <a:spLocks xmlns:a="http://schemas.openxmlformats.org/drawingml/2006/main" noGrp="1"/>
          </p:cNvSpPr>
          <p:nvPr/>
        </p:nvSpPr>
        <p:spPr>
          <a:xfrm xmlns:a="http://schemas.openxmlformats.org/drawingml/2006/main">
            <a:off x="647700" y="4019550"/>
            <a:ext cx="542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E7377"/>
                </a:solidFill>
                <a:latin typeface="Helvetica Neue"/>
                <a:ea typeface="Helvetica Neue"/>
                <a:cs typeface="Helvetica Neue"/>
              </a:defRPr>
            </a:defPPr>
            <a:lvl1pPr algn="l">
              <a:defRPr sz="2325" b="0">
                <a:solidFill>
                  <a:srgbClr val="5E7377"/>
                </a:solidFill>
                <a:latin typeface="Helvetica Neue"/>
                <a:ea typeface="Helvetica Neue"/>
                <a:cs typeface="Helvetica Neue"/>
              </a:defRPr>
            </a:lvl1pPr>
            <a:lvl2pPr algn="l">
              <a:defRPr sz="2325" b="0">
                <a:solidFill>
                  <a:srgbClr val="5E7377"/>
                </a:solidFill>
                <a:latin typeface="Helvetica Neue"/>
                <a:ea typeface="Helvetica Neue"/>
                <a:cs typeface="Helvetica Neue"/>
              </a:defRPr>
            </a:lvl2pPr>
            <a:lvl3pPr algn="l">
              <a:defRPr sz="2325" b="0">
                <a:solidFill>
                  <a:srgbClr val="5E7377"/>
                </a:solidFill>
                <a:latin typeface="Helvetica Neue"/>
                <a:ea typeface="Helvetica Neue"/>
                <a:cs typeface="Helvetica Neue"/>
              </a:defRPr>
            </a:lvl3pPr>
            <a:lvl4pPr algn="l">
              <a:defRPr sz="2325" b="0">
                <a:solidFill>
                  <a:srgbClr val="5E7377"/>
                </a:solidFill>
                <a:latin typeface="Helvetica Neue"/>
                <a:ea typeface="Helvetica Neue"/>
                <a:cs typeface="Helvetica Neue"/>
              </a:defRPr>
            </a:lvl4pPr>
            <a:lvl5pPr algn="l">
              <a:defRPr sz="2325" b="0">
                <a:solidFill>
                  <a:srgbClr val="5E7377"/>
                </a:solidFill>
                <a:latin typeface="Helvetica Neue"/>
                <a:ea typeface="Helvetica Neue"/>
                <a:cs typeface="Helvetica Neue"/>
              </a:defRPr>
            </a:lvl5pPr>
            <a:lvl6pPr algn="l">
              <a:defRPr sz="2325" b="0">
                <a:solidFill>
                  <a:srgbClr val="5E7377"/>
                </a:solidFill>
                <a:latin typeface="Helvetica Neue"/>
                <a:ea typeface="Helvetica Neue"/>
                <a:cs typeface="Helvetica Neue"/>
              </a:defRPr>
            </a:lvl6pPr>
            <a:lvl7pPr algn="l">
              <a:defRPr sz="2325" b="0">
                <a:solidFill>
                  <a:srgbClr val="5E7377"/>
                </a:solidFill>
                <a:latin typeface="Helvetica Neue"/>
                <a:ea typeface="Helvetica Neue"/>
                <a:cs typeface="Helvetica Neue"/>
              </a:defRPr>
            </a:lvl7pPr>
            <a:lvl8pPr algn="l">
              <a:defRPr sz="2325" b="0">
                <a:solidFill>
                  <a:srgbClr val="5E7377"/>
                </a:solidFill>
                <a:latin typeface="Helvetica Neue"/>
                <a:ea typeface="Helvetica Neue"/>
                <a:cs typeface="Helvetica Neue"/>
              </a:defRPr>
            </a:lvl8pPr>
            <a:lvl9pPr algn="l">
              <a:defRPr sz="2325" b="0">
                <a:solidFill>
                  <a:srgbClr val="5E7377"/>
                </a:solidFill>
                <a:latin typeface="Helvetica Neue"/>
                <a:ea typeface="Helvetica Neue"/>
                <a:cs typeface="Helvetica Neue"/>
              </a:defRPr>
            </a:lvl9pPr>
          </a:lstStyle>
          <a:p xmlns:a="http://schemas.openxmlformats.org/drawingml/2006/main">
            <a:pPr algn="l">
              <a:lnSpc>
                <a:spcPct val="112000"/>
              </a:lnSpc>
              <a:buNone/>
              <a:defRPr sz="2325" b="0">
                <a:solidFill>
                  <a:srgbClr val="5E7377"/>
                </a:solidFill>
                <a:latin typeface="Helvetica Neue"/>
                <a:ea typeface="Helvetica Neue"/>
                <a:cs typeface="Helvetica Neue"/>
              </a:defRPr>
            </a:pPr>
            <a:r>
              <a:rPr sz="2325" b="0">
                <a:solidFill>
                  <a:srgbClr val="5E7377"/>
                </a:solidFill>
                <a:latin typeface="Helvetica Neue"/>
                <a:ea typeface="Helvetica Neue"/>
                <a:cs typeface="Helvetica Neue"/>
              </a:rPr>
              <a:t>240 product-store series</a:t>
            </a:r>
          </a:p>
          <a:p xmlns:a="http://schemas.openxmlformats.org/drawingml/2006/main">
            <a:pPr algn="l">
              <a:lnSpc>
                <a:spcPct val="112000"/>
              </a:lnSpc>
              <a:buNone/>
              <a:defRPr sz="2325" b="0">
                <a:solidFill>
                  <a:srgbClr val="5E7377"/>
                </a:solidFill>
                <a:latin typeface="Helvetica Neue"/>
                <a:ea typeface="Helvetica Neue"/>
                <a:cs typeface="Helvetica Neue"/>
              </a:defRPr>
            </a:pPr>
            <a:r>
              <a:rPr sz="2325" b="0">
                <a:solidFill>
                  <a:srgbClr val="5E7377"/>
                </a:solidFill>
                <a:latin typeface="Helvetica Neue"/>
                <a:ea typeface="Helvetica Neue"/>
                <a:cs typeface="Helvetica Neue"/>
              </a:rPr>
              <a:t>28 days ahead</a:t>
            </a:r>
          </a:p>
        </p:txBody>
      </p:sp>
      <p:pic>
        <p:nvPicPr>
          <p:cNvPr id="4" name="">
            <a:extLst xmlns:a="http://schemas.openxmlformats.org/drawingml/2006/main">
              <a:ext uri="{FF2B5EF4-FFF2-40B4-BE49-F238E27FC236}">
                <a16:creationId xmlns:a16="http://schemas.microsoft.com/office/drawing/2014/main" id="{2B23A3DA-856F-412A-A9E4-BE30B164F6A4}"/>
              </a:ext>
            </a:extLst>
          </p:cNvPr>
          <p:cNvPicPr>
            <a:picLocks xmlns:a="http://schemas.openxmlformats.org/drawingml/2006/main" noChangeAspect="1"/>
          </p:cNvPicPr>
          <p:nvPr/>
        </p:nvPicPr>
        <p:blipFill>
          <a:blip xmlns:r="http://schemas.openxmlformats.org/officeDocument/2006/relationships" xmlns:a="http://schemas.openxmlformats.org/drawingml/2006/main" r:embed="Rb3872894ce97413d"/>
          <a:stretch xmlns:a="http://schemas.openxmlformats.org/drawingml/2006/main"/>
        </p:blipFill>
        <p:spPr>
          <a:xfrm xmlns:a="http://schemas.openxmlformats.org/drawingml/2006/main">
            <a:off x="6153150" y="1790700"/>
            <a:ext cx="5572125" cy="3714750"/>
          </a:xfrm>
          <a:prstGeom xmlns:a="http://schemas.openxmlformats.org/drawingml/2006/main" prst="rect">
            <a:avLst/>
          </a:prstGeom>
        </p:spPr>
      </p:pic>
      <p:sp>
        <p:nvSpPr>
          <p:cNvPr id="5" name="Text Seasonal naive, Kalman filters and global LightGBM">
            <a:extLst xmlns:a="http://schemas.openxmlformats.org/drawingml/2006/main">
              <a:ext uri="{FF2B5EF4-FFF2-40B4-BE49-F238E27FC236}">
                <a16:creationId xmlns:a16="http://schemas.microsoft.com/office/drawing/2014/main" id="{A7E80560-BF02-47B5-9893-EE33D33881DA}"/>
              </a:ext>
            </a:extLst>
          </p:cNvPr>
          <p:cNvSpPr>
            <a:spLocks xmlns:a="http://schemas.openxmlformats.org/drawingml/2006/main" noGrp="1"/>
          </p:cNvSpPr>
          <p:nvPr/>
        </p:nvSpPr>
        <p:spPr>
          <a:xfrm xmlns:a="http://schemas.openxmlformats.org/drawingml/2006/main">
            <a:off x="647700" y="60198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07D79"/>
                </a:solidFill>
                <a:latin typeface="Helvetica Neue"/>
                <a:ea typeface="Helvetica Neue"/>
                <a:cs typeface="Helvetica Neue"/>
              </a:defRPr>
            </a:defPPr>
            <a:lvl1pPr algn="l">
              <a:defRPr sz="1875" b="0">
                <a:solidFill>
                  <a:srgbClr val="107D79"/>
                </a:solidFill>
                <a:latin typeface="Helvetica Neue"/>
                <a:ea typeface="Helvetica Neue"/>
                <a:cs typeface="Helvetica Neue"/>
              </a:defRPr>
            </a:lvl1pPr>
            <a:lvl2pPr algn="l">
              <a:defRPr sz="1875" b="0">
                <a:solidFill>
                  <a:srgbClr val="107D79"/>
                </a:solidFill>
                <a:latin typeface="Helvetica Neue"/>
                <a:ea typeface="Helvetica Neue"/>
                <a:cs typeface="Helvetica Neue"/>
              </a:defRPr>
            </a:lvl2pPr>
            <a:lvl3pPr algn="l">
              <a:defRPr sz="1875" b="0">
                <a:solidFill>
                  <a:srgbClr val="107D79"/>
                </a:solidFill>
                <a:latin typeface="Helvetica Neue"/>
                <a:ea typeface="Helvetica Neue"/>
                <a:cs typeface="Helvetica Neue"/>
              </a:defRPr>
            </a:lvl3pPr>
            <a:lvl4pPr algn="l">
              <a:defRPr sz="1875" b="0">
                <a:solidFill>
                  <a:srgbClr val="107D79"/>
                </a:solidFill>
                <a:latin typeface="Helvetica Neue"/>
                <a:ea typeface="Helvetica Neue"/>
                <a:cs typeface="Helvetica Neue"/>
              </a:defRPr>
            </a:lvl4pPr>
            <a:lvl5pPr algn="l">
              <a:defRPr sz="1875" b="0">
                <a:solidFill>
                  <a:srgbClr val="107D79"/>
                </a:solidFill>
                <a:latin typeface="Helvetica Neue"/>
                <a:ea typeface="Helvetica Neue"/>
                <a:cs typeface="Helvetica Neue"/>
              </a:defRPr>
            </a:lvl5pPr>
            <a:lvl6pPr algn="l">
              <a:defRPr sz="1875" b="0">
                <a:solidFill>
                  <a:srgbClr val="107D79"/>
                </a:solidFill>
                <a:latin typeface="Helvetica Neue"/>
                <a:ea typeface="Helvetica Neue"/>
                <a:cs typeface="Helvetica Neue"/>
              </a:defRPr>
            </a:lvl6pPr>
            <a:lvl7pPr algn="l">
              <a:defRPr sz="1875" b="0">
                <a:solidFill>
                  <a:srgbClr val="107D79"/>
                </a:solidFill>
                <a:latin typeface="Helvetica Neue"/>
                <a:ea typeface="Helvetica Neue"/>
                <a:cs typeface="Helvetica Neue"/>
              </a:defRPr>
            </a:lvl7pPr>
            <a:lvl8pPr algn="l">
              <a:defRPr sz="1875" b="0">
                <a:solidFill>
                  <a:srgbClr val="107D79"/>
                </a:solidFill>
                <a:latin typeface="Helvetica Neue"/>
                <a:ea typeface="Helvetica Neue"/>
                <a:cs typeface="Helvetica Neue"/>
              </a:defRPr>
            </a:lvl8pPr>
            <a:lvl9pPr algn="l">
              <a:defRPr sz="1875" b="0">
                <a:solidFill>
                  <a:srgbClr val="107D79"/>
                </a:solidFill>
                <a:latin typeface="Helvetica Neue"/>
                <a:ea typeface="Helvetica Neue"/>
                <a:cs typeface="Helvetica Neue"/>
              </a:defRPr>
            </a:lvl9pPr>
          </a:lstStyle>
          <a:p xmlns:a="http://schemas.openxmlformats.org/drawingml/2006/main">
            <a:pPr algn="l">
              <a:lnSpc>
                <a:spcPct val="112000"/>
              </a:lnSpc>
              <a:buNone/>
              <a:defRPr sz="1875" b="0">
                <a:solidFill>
                  <a:srgbClr val="107D79"/>
                </a:solidFill>
                <a:latin typeface="Helvetica Neue"/>
                <a:ea typeface="Helvetica Neue"/>
                <a:cs typeface="Helvetica Neue"/>
              </a:defRPr>
            </a:pPr>
            <a:r>
              <a:rPr sz="1875" b="0">
                <a:solidFill>
                  <a:srgbClr val="107D79"/>
                </a:solidFill>
                <a:latin typeface="Helvetica Neue"/>
                <a:ea typeface="Helvetica Neue"/>
                <a:cs typeface="Helvetica Neue"/>
              </a:rPr>
              <a:t>Seasonal naive, Kalman filters and global LightGBM</a:t>
            </a:r>
          </a:p>
        </p:txBody>
      </p:sp>
    </p:spTree>
    <p:extLst>
      <p:ext uri="{BB962C8B-B14F-4D97-AF65-F5344CB8AC3E}">
        <p14:creationId xmlns:p14="http://schemas.microsoft.com/office/powerpoint/2010/main" val="540234502"/>
      </p:ext>
    </p:extLst>
  </p:cSld>
</p:sld>
</file>

<file path=ppt/slides/slide2.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8" name="Text MILESTONES 1–4">
            <a:extLst xmlns:a="http://schemas.openxmlformats.org/drawingml/2006/main">
              <a:ext uri="{FF2B5EF4-FFF2-40B4-BE49-F238E27FC236}">
                <a16:creationId xmlns:a16="http://schemas.microsoft.com/office/drawing/2014/main" id="{4241B33C-C629-48EA-89FB-F4240A544DE9}"/>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MILESTONES 1–4</a:t>
            </a:r>
          </a:p>
        </p:txBody>
      </p:sp>
      <p:sp>
        <p:nvSpPr>
          <p:cNvPr id="2" name="Text The data and the rules of the experiment">
            <a:extLst xmlns:a="http://schemas.openxmlformats.org/drawingml/2006/main">
              <a:ext uri="{FF2B5EF4-FFF2-40B4-BE49-F238E27FC236}">
                <a16:creationId xmlns:a16="http://schemas.microsoft.com/office/drawing/2014/main" id="{B58D3F9B-C859-4F7A-90D6-6738DFA546B6}"/>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The data and the rules of the experiment</a:t>
            </a:r>
          </a:p>
        </p:txBody>
      </p:sp>
      <p:sp>
        <p:nvSpPr>
          <p:cNvPr id="3" name="Text Observed sales only. Inventory and unmet demand re">
            <a:extLst xmlns:a="http://schemas.openxmlformats.org/drawingml/2006/main">
              <a:ext uri="{FF2B5EF4-FFF2-40B4-BE49-F238E27FC236}">
                <a16:creationId xmlns:a16="http://schemas.microsoft.com/office/drawing/2014/main" id="{8C55CDD7-39E3-49C8-AA91-C524F455129E}"/>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Observed sales only. Inventory and unmet demand remain unknown</a:t>
            </a:r>
          </a:p>
        </p:txBody>
      </p:sp>
      <p:sp>
        <p:nvSpPr>
          <p:cNvPr id="4" name="Text 02">
            <a:extLst xmlns:a="http://schemas.openxmlformats.org/drawingml/2006/main">
              <a:ext uri="{FF2B5EF4-FFF2-40B4-BE49-F238E27FC236}">
                <a16:creationId xmlns:a16="http://schemas.microsoft.com/office/drawing/2014/main" id="{39EA0E14-71A8-45AA-8A31-33DB3CE0FA9F}"/>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02</a:t>
            </a:r>
          </a:p>
        </p:txBody>
      </p:sp>
      <p:sp>
        <p:nvSpPr>
          <p:cNvPr id="5" name="Text M1  Original data">
            <a:extLst xmlns:a="http://schemas.openxmlformats.org/drawingml/2006/main">
              <a:ext uri="{FF2B5EF4-FFF2-40B4-BE49-F238E27FC236}">
                <a16:creationId xmlns:a16="http://schemas.microsoft.com/office/drawing/2014/main" id="{EFD1F4AA-C72F-4936-8F7A-B3D2BD066843}"/>
              </a:ext>
            </a:extLst>
          </p:cNvPr>
          <p:cNvSpPr>
            <a:spLocks xmlns:a="http://schemas.openxmlformats.org/drawingml/2006/main" noGrp="1"/>
          </p:cNvSpPr>
          <p:nvPr/>
        </p:nvSpPr>
        <p:spPr>
          <a:xfrm xmlns:a="http://schemas.openxmlformats.org/drawingml/2006/main">
            <a:off x="647700" y="22764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7D79"/>
                </a:solidFill>
                <a:latin typeface="Helvetica Neue"/>
                <a:ea typeface="Helvetica Neue"/>
                <a:cs typeface="Helvetica Neue"/>
              </a:defRPr>
            </a:defPPr>
            <a:lvl1pPr algn="l">
              <a:defRPr sz="2100" b="1">
                <a:solidFill>
                  <a:srgbClr val="107D79"/>
                </a:solidFill>
                <a:latin typeface="Helvetica Neue"/>
                <a:ea typeface="Helvetica Neue"/>
                <a:cs typeface="Helvetica Neue"/>
              </a:defRPr>
            </a:lvl1pPr>
            <a:lvl2pPr algn="l">
              <a:defRPr sz="2100" b="1">
                <a:solidFill>
                  <a:srgbClr val="107D79"/>
                </a:solidFill>
                <a:latin typeface="Helvetica Neue"/>
                <a:ea typeface="Helvetica Neue"/>
                <a:cs typeface="Helvetica Neue"/>
              </a:defRPr>
            </a:lvl2pPr>
            <a:lvl3pPr algn="l">
              <a:defRPr sz="2100" b="1">
                <a:solidFill>
                  <a:srgbClr val="107D79"/>
                </a:solidFill>
                <a:latin typeface="Helvetica Neue"/>
                <a:ea typeface="Helvetica Neue"/>
                <a:cs typeface="Helvetica Neue"/>
              </a:defRPr>
            </a:lvl3pPr>
            <a:lvl4pPr algn="l">
              <a:defRPr sz="2100" b="1">
                <a:solidFill>
                  <a:srgbClr val="107D79"/>
                </a:solidFill>
                <a:latin typeface="Helvetica Neue"/>
                <a:ea typeface="Helvetica Neue"/>
                <a:cs typeface="Helvetica Neue"/>
              </a:defRPr>
            </a:lvl4pPr>
            <a:lvl5pPr algn="l">
              <a:defRPr sz="2100" b="1">
                <a:solidFill>
                  <a:srgbClr val="107D79"/>
                </a:solidFill>
                <a:latin typeface="Helvetica Neue"/>
                <a:ea typeface="Helvetica Neue"/>
                <a:cs typeface="Helvetica Neue"/>
              </a:defRPr>
            </a:lvl5pPr>
            <a:lvl6pPr algn="l">
              <a:defRPr sz="2100" b="1">
                <a:solidFill>
                  <a:srgbClr val="107D79"/>
                </a:solidFill>
                <a:latin typeface="Helvetica Neue"/>
                <a:ea typeface="Helvetica Neue"/>
                <a:cs typeface="Helvetica Neue"/>
              </a:defRPr>
            </a:lvl6pPr>
            <a:lvl7pPr algn="l">
              <a:defRPr sz="2100" b="1">
                <a:solidFill>
                  <a:srgbClr val="107D79"/>
                </a:solidFill>
                <a:latin typeface="Helvetica Neue"/>
                <a:ea typeface="Helvetica Neue"/>
                <a:cs typeface="Helvetica Neue"/>
              </a:defRPr>
            </a:lvl7pPr>
            <a:lvl8pPr algn="l">
              <a:defRPr sz="2100" b="1">
                <a:solidFill>
                  <a:srgbClr val="107D79"/>
                </a:solidFill>
                <a:latin typeface="Helvetica Neue"/>
                <a:ea typeface="Helvetica Neue"/>
                <a:cs typeface="Helvetica Neue"/>
              </a:defRPr>
            </a:lvl8pPr>
            <a:lvl9pPr algn="l">
              <a:defRPr sz="2100" b="1">
                <a:solidFill>
                  <a:srgbClr val="107D79"/>
                </a:solidFill>
                <a:latin typeface="Helvetica Neue"/>
                <a:ea typeface="Helvetica Neue"/>
                <a:cs typeface="Helvetica Neue"/>
              </a:defRPr>
            </a:lvl9pPr>
          </a:lstStyle>
          <a:p xmlns:a="http://schemas.openxmlformats.org/drawingml/2006/main">
            <a:pPr algn="l">
              <a:lnSpc>
                <a:spcPct val="112000"/>
              </a:lnSpc>
              <a:buNone/>
              <a:defRPr sz="2100" b="1">
                <a:solidFill>
                  <a:srgbClr val="107D79"/>
                </a:solidFill>
                <a:latin typeface="Helvetica Neue"/>
                <a:ea typeface="Helvetica Neue"/>
                <a:cs typeface="Helvetica Neue"/>
              </a:defRPr>
            </a:pPr>
            <a:r>
              <a:rPr sz="2100" b="1">
                <a:solidFill>
                  <a:srgbClr val="107D79"/>
                </a:solidFill>
                <a:latin typeface="Helvetica Neue"/>
                <a:ea typeface="Helvetica Neue"/>
                <a:cs typeface="Helvetica Neue"/>
              </a:rPr>
              <a:t>M1  Original data</a:t>
            </a:r>
          </a:p>
        </p:txBody>
      </p:sp>
      <p:graphicFrame>
        <p:nvGraphicFramePr>
          <p:cNvPr id="6" name="">
            <a:extLst xmlns:a="http://schemas.openxmlformats.org/drawingml/2006/main">
              <a:ext uri="{FF2B5EF4-FFF2-40B4-BE49-F238E27FC236}">
                <a16:creationId xmlns:a16="http://schemas.microsoft.com/office/drawing/2014/main" id="{CEE2F4EC-64E6-4F96-9AC3-72BFD372A528}"/>
              </a:ext>
            </a:extLst>
          </p:cNvPr>
          <p:cNvGraphicFramePr/>
          <p:nvPr/>
        </p:nvGraphicFramePr>
        <p:xfrm>
          <a:off xmlns:a="http://schemas.openxmlformats.org/drawingml/2006/main" x="628650" y="2714625"/>
          <a:ext xmlns:a="http://schemas.openxmlformats.org/drawingml/2006/main" cx="5219700" cy="1514475"/>
        </p:xfrm>
        <a:graphic xmlns:a="http://schemas.openxmlformats.org/drawingml/2006/main">
          <a:graphicData uri="http://schemas.openxmlformats.org/drawingml/2006/table">
            <a:tbl>
              <a:tblPr/>
              <a:tblGrid>
                <a:gridCol w="1571625"/>
                <a:gridCol w="3648075"/>
              </a:tblGrid>
              <a:tr h="378619">
                <a:tc>
                  <a:txBody>
                    <a:bodyPr wrap="square"/>
                    <a:lstStyle/>
                    <a:p>
                      <a:r>
                        <a:rPr sz="1725" b="1">
                          <a:solidFill>
                            <a:srgbClr val="FFFFFF"/>
                          </a:solidFill>
                          <a:latin typeface="Helvetica Neue"/>
                          <a:ea typeface="Helvetica Neue"/>
                          <a:cs typeface="Helvetica Neue"/>
                        </a:rPr>
                        <a:t>Source</a:t>
                      </a:r>
                    </a:p>
                  </a:txBody>
                  <a:tcPr marL="114300" marR="95250" marT="47625" marB="38100" anchor="ctr">
                    <a:lnL w="6668">
                      <a:solidFill>
                        <a:srgbClr val="D9E1DC"/>
                      </a:solidFill>
                      <a:prstDash val="solid"/>
                    </a:lnL>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725" b="1">
                          <a:solidFill>
                            <a:srgbClr val="FFFFFF"/>
                          </a:solidFill>
                          <a:latin typeface="Helvetica Neue"/>
                          <a:ea typeface="Helvetica Neue"/>
                          <a:cs typeface="Helvetica Neue"/>
                        </a:rPr>
                        <a:t>Original structure</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r>
              <a:tr h="378619">
                <a:tc>
                  <a:txBody>
                    <a:bodyPr wrap="square"/>
                    <a:lstStyle/>
                    <a:p>
                      <a:r>
                        <a:rPr sz="1725" b="0">
                          <a:solidFill>
                            <a:srgbClr val="12323A"/>
                          </a:solidFill>
                          <a:latin typeface="Helvetica Neue"/>
                          <a:ea typeface="Helvetica Neue"/>
                          <a:cs typeface="Helvetica Neue"/>
                        </a:rPr>
                        <a:t>Sales</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30,490 item-store series</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378619">
                <a:tc>
                  <a:txBody>
                    <a:bodyPr wrap="square"/>
                    <a:lstStyle/>
                    <a:p>
                      <a:r>
                        <a:rPr sz="1725" b="0">
                          <a:solidFill>
                            <a:srgbClr val="12323A"/>
                          </a:solidFill>
                          <a:latin typeface="Helvetica Neue"/>
                          <a:ea typeface="Helvetica Neue"/>
                          <a:cs typeface="Helvetica Neue"/>
                        </a:rPr>
                        <a:t>Calendar</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1,969 days, 14 fields</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r h="378619">
                <a:tc>
                  <a:txBody>
                    <a:bodyPr wrap="square"/>
                    <a:lstStyle/>
                    <a:p>
                      <a:r>
                        <a:rPr sz="1725" b="0">
                          <a:solidFill>
                            <a:srgbClr val="12323A"/>
                          </a:solidFill>
                          <a:latin typeface="Helvetica Neue"/>
                          <a:ea typeface="Helvetica Neue"/>
                          <a:cs typeface="Helvetica Neue"/>
                        </a:rPr>
                        <a:t>Prices</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6.84M item-store-week rows</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bl>
          </a:graphicData>
        </a:graphic>
      </p:graphicFrame>
      <p:sp>
        <p:nvSpPr>
          <p:cNvPr id="7" name="Text M2  EDA: zero-sales days">
            <a:extLst xmlns:a="http://schemas.openxmlformats.org/drawingml/2006/main">
              <a:ext uri="{FF2B5EF4-FFF2-40B4-BE49-F238E27FC236}">
                <a16:creationId xmlns:a16="http://schemas.microsoft.com/office/drawing/2014/main" id="{F18AA729-8CF1-454C-BF2B-1D1B2381EE60}"/>
              </a:ext>
            </a:extLst>
          </p:cNvPr>
          <p:cNvSpPr>
            <a:spLocks xmlns:a="http://schemas.openxmlformats.org/drawingml/2006/main" noGrp="1"/>
          </p:cNvSpPr>
          <p:nvPr/>
        </p:nvSpPr>
        <p:spPr>
          <a:xfrm xmlns:a="http://schemas.openxmlformats.org/drawingml/2006/main">
            <a:off x="6457950" y="227647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7D79"/>
                </a:solidFill>
                <a:latin typeface="Helvetica Neue"/>
                <a:ea typeface="Helvetica Neue"/>
                <a:cs typeface="Helvetica Neue"/>
              </a:defRPr>
            </a:defPPr>
            <a:lvl1pPr algn="l">
              <a:defRPr sz="2100" b="1">
                <a:solidFill>
                  <a:srgbClr val="107D79"/>
                </a:solidFill>
                <a:latin typeface="Helvetica Neue"/>
                <a:ea typeface="Helvetica Neue"/>
                <a:cs typeface="Helvetica Neue"/>
              </a:defRPr>
            </a:lvl1pPr>
            <a:lvl2pPr algn="l">
              <a:defRPr sz="2100" b="1">
                <a:solidFill>
                  <a:srgbClr val="107D79"/>
                </a:solidFill>
                <a:latin typeface="Helvetica Neue"/>
                <a:ea typeface="Helvetica Neue"/>
                <a:cs typeface="Helvetica Neue"/>
              </a:defRPr>
            </a:lvl2pPr>
            <a:lvl3pPr algn="l">
              <a:defRPr sz="2100" b="1">
                <a:solidFill>
                  <a:srgbClr val="107D79"/>
                </a:solidFill>
                <a:latin typeface="Helvetica Neue"/>
                <a:ea typeface="Helvetica Neue"/>
                <a:cs typeface="Helvetica Neue"/>
              </a:defRPr>
            </a:lvl3pPr>
            <a:lvl4pPr algn="l">
              <a:defRPr sz="2100" b="1">
                <a:solidFill>
                  <a:srgbClr val="107D79"/>
                </a:solidFill>
                <a:latin typeface="Helvetica Neue"/>
                <a:ea typeface="Helvetica Neue"/>
                <a:cs typeface="Helvetica Neue"/>
              </a:defRPr>
            </a:lvl4pPr>
            <a:lvl5pPr algn="l">
              <a:defRPr sz="2100" b="1">
                <a:solidFill>
                  <a:srgbClr val="107D79"/>
                </a:solidFill>
                <a:latin typeface="Helvetica Neue"/>
                <a:ea typeface="Helvetica Neue"/>
                <a:cs typeface="Helvetica Neue"/>
              </a:defRPr>
            </a:lvl5pPr>
            <a:lvl6pPr algn="l">
              <a:defRPr sz="2100" b="1">
                <a:solidFill>
                  <a:srgbClr val="107D79"/>
                </a:solidFill>
                <a:latin typeface="Helvetica Neue"/>
                <a:ea typeface="Helvetica Neue"/>
                <a:cs typeface="Helvetica Neue"/>
              </a:defRPr>
            </a:lvl6pPr>
            <a:lvl7pPr algn="l">
              <a:defRPr sz="2100" b="1">
                <a:solidFill>
                  <a:srgbClr val="107D79"/>
                </a:solidFill>
                <a:latin typeface="Helvetica Neue"/>
                <a:ea typeface="Helvetica Neue"/>
                <a:cs typeface="Helvetica Neue"/>
              </a:defRPr>
            </a:lvl7pPr>
            <a:lvl8pPr algn="l">
              <a:defRPr sz="2100" b="1">
                <a:solidFill>
                  <a:srgbClr val="107D79"/>
                </a:solidFill>
                <a:latin typeface="Helvetica Neue"/>
                <a:ea typeface="Helvetica Neue"/>
                <a:cs typeface="Helvetica Neue"/>
              </a:defRPr>
            </a:lvl8pPr>
            <a:lvl9pPr algn="l">
              <a:defRPr sz="2100" b="1">
                <a:solidFill>
                  <a:srgbClr val="107D79"/>
                </a:solidFill>
                <a:latin typeface="Helvetica Neue"/>
                <a:ea typeface="Helvetica Neue"/>
                <a:cs typeface="Helvetica Neue"/>
              </a:defRPr>
            </a:lvl9pPr>
          </a:lstStyle>
          <a:p xmlns:a="http://schemas.openxmlformats.org/drawingml/2006/main">
            <a:pPr algn="l">
              <a:lnSpc>
                <a:spcPct val="112000"/>
              </a:lnSpc>
              <a:buNone/>
              <a:defRPr sz="2100" b="1">
                <a:solidFill>
                  <a:srgbClr val="107D79"/>
                </a:solidFill>
                <a:latin typeface="Helvetica Neue"/>
                <a:ea typeface="Helvetica Neue"/>
                <a:cs typeface="Helvetica Neue"/>
              </a:defRPr>
            </a:pPr>
            <a:r>
              <a:rPr sz="2100" b="1">
                <a:solidFill>
                  <a:srgbClr val="107D79"/>
                </a:solidFill>
                <a:latin typeface="Helvetica Neue"/>
                <a:ea typeface="Helvetica Neue"/>
                <a:cs typeface="Helvetica Neue"/>
              </a:rPr>
              <a:t>M2  EDA: zero-sales days</a:t>
            </a:r>
          </a:p>
        </p:txBody>
      </p:sp>
      <p:graphicFrame>
        <p:nvGraphicFramePr>
          <p:cNvPr id="8" name="Chart">
            <a:extLst xmlns:a="http://schemas.openxmlformats.org/drawingml/2006/main">
              <a:ext uri="{FF2B5EF4-FFF2-40B4-BE49-F238E27FC236}">
                <a16:creationId xmlns:a16="http://schemas.microsoft.com/office/drawing/2014/main" id="{C698C679-F57B-4C71-AB9C-F0E67EE27F19}"/>
              </a:ext>
            </a:extLst>
          </p:cNvPr>
          <p:cNvGraphicFramePr/>
          <p:nvPr/>
        </p:nvGraphicFramePr>
        <p:xfrm>
          <a:off xmlns:a="http://schemas.openxmlformats.org/drawingml/2006/main" x="6391275" y="2705100"/>
          <a:ext xmlns:a="http://schemas.openxmlformats.org/drawingml/2006/main" cx="5172075" cy="1543050"/>
        </p:xfrm>
        <a:graphic xmlns:a="http://schemas.openxmlformats.org/drawingml/2006/main">
          <a:graphicData uri="http://schemas.openxmlformats.org/drawingml/2006/chart">
            <c:chart xmlns:r="http://schemas.openxmlformats.org/officeDocument/2006/relationships" xmlns:c="http://schemas.openxmlformats.org/drawingml/2006/chart" r:id="R7e39fe4b3dec4bac"/>
          </a:graphicData>
        </a:graphic>
      </p:graphicFrame>
      <p:sp>
        <p:nvSpPr>
          <p:cNvPr id="9" name="Text 69.3% zero days. Weekly rhythm: 1.37×">
            <a:extLst xmlns:a="http://schemas.openxmlformats.org/drawingml/2006/main">
              <a:ext uri="{FF2B5EF4-FFF2-40B4-BE49-F238E27FC236}">
                <a16:creationId xmlns:a16="http://schemas.microsoft.com/office/drawing/2014/main" id="{940B612E-661F-4C3C-AFC3-4F51235363B8}"/>
              </a:ext>
            </a:extLst>
          </p:cNvPr>
          <p:cNvSpPr>
            <a:spLocks xmlns:a="http://schemas.openxmlformats.org/drawingml/2006/main" noGrp="1"/>
          </p:cNvSpPr>
          <p:nvPr/>
        </p:nvSpPr>
        <p:spPr>
          <a:xfrm xmlns:a="http://schemas.openxmlformats.org/drawingml/2006/main">
            <a:off x="6524625" y="42767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7377"/>
                </a:solidFill>
                <a:latin typeface="Helvetica Neue"/>
                <a:ea typeface="Helvetica Neue"/>
                <a:cs typeface="Helvetica Neue"/>
              </a:defRPr>
            </a:defPPr>
            <a:lvl1pPr algn="l">
              <a:defRPr sz="1650" b="0">
                <a:solidFill>
                  <a:srgbClr val="5E7377"/>
                </a:solidFill>
                <a:latin typeface="Helvetica Neue"/>
                <a:ea typeface="Helvetica Neue"/>
                <a:cs typeface="Helvetica Neue"/>
              </a:defRPr>
            </a:lvl1pPr>
            <a:lvl2pPr algn="l">
              <a:defRPr sz="1650" b="0">
                <a:solidFill>
                  <a:srgbClr val="5E7377"/>
                </a:solidFill>
                <a:latin typeface="Helvetica Neue"/>
                <a:ea typeface="Helvetica Neue"/>
                <a:cs typeface="Helvetica Neue"/>
              </a:defRPr>
            </a:lvl2pPr>
            <a:lvl3pPr algn="l">
              <a:defRPr sz="1650" b="0">
                <a:solidFill>
                  <a:srgbClr val="5E7377"/>
                </a:solidFill>
                <a:latin typeface="Helvetica Neue"/>
                <a:ea typeface="Helvetica Neue"/>
                <a:cs typeface="Helvetica Neue"/>
              </a:defRPr>
            </a:lvl3pPr>
            <a:lvl4pPr algn="l">
              <a:defRPr sz="1650" b="0">
                <a:solidFill>
                  <a:srgbClr val="5E7377"/>
                </a:solidFill>
                <a:latin typeface="Helvetica Neue"/>
                <a:ea typeface="Helvetica Neue"/>
                <a:cs typeface="Helvetica Neue"/>
              </a:defRPr>
            </a:lvl4pPr>
            <a:lvl5pPr algn="l">
              <a:defRPr sz="1650" b="0">
                <a:solidFill>
                  <a:srgbClr val="5E7377"/>
                </a:solidFill>
                <a:latin typeface="Helvetica Neue"/>
                <a:ea typeface="Helvetica Neue"/>
                <a:cs typeface="Helvetica Neue"/>
              </a:defRPr>
            </a:lvl5pPr>
            <a:lvl6pPr algn="l">
              <a:defRPr sz="1650" b="0">
                <a:solidFill>
                  <a:srgbClr val="5E7377"/>
                </a:solidFill>
                <a:latin typeface="Helvetica Neue"/>
                <a:ea typeface="Helvetica Neue"/>
                <a:cs typeface="Helvetica Neue"/>
              </a:defRPr>
            </a:lvl6pPr>
            <a:lvl7pPr algn="l">
              <a:defRPr sz="1650" b="0">
                <a:solidFill>
                  <a:srgbClr val="5E7377"/>
                </a:solidFill>
                <a:latin typeface="Helvetica Neue"/>
                <a:ea typeface="Helvetica Neue"/>
                <a:cs typeface="Helvetica Neue"/>
              </a:defRPr>
            </a:lvl7pPr>
            <a:lvl8pPr algn="l">
              <a:defRPr sz="1650" b="0">
                <a:solidFill>
                  <a:srgbClr val="5E7377"/>
                </a:solidFill>
                <a:latin typeface="Helvetica Neue"/>
                <a:ea typeface="Helvetica Neue"/>
                <a:cs typeface="Helvetica Neue"/>
              </a:defRPr>
            </a:lvl8pPr>
            <a:lvl9pPr algn="l">
              <a:defRPr sz="1650" b="0">
                <a:solidFill>
                  <a:srgbClr val="5E7377"/>
                </a:solidFill>
                <a:latin typeface="Helvetica Neue"/>
                <a:ea typeface="Helvetica Neue"/>
                <a:cs typeface="Helvetica Neue"/>
              </a:defRPr>
            </a:lvl9pPr>
          </a:lstStyle>
          <a:p xmlns:a="http://schemas.openxmlformats.org/drawingml/2006/main">
            <a:pPr algn="l">
              <a:lnSpc>
                <a:spcPct val="112000"/>
              </a:lnSpc>
              <a:buNone/>
              <a:defRPr sz="1650" b="0">
                <a:solidFill>
                  <a:srgbClr val="5E7377"/>
                </a:solidFill>
                <a:latin typeface="Helvetica Neue"/>
                <a:ea typeface="Helvetica Neue"/>
                <a:cs typeface="Helvetica Neue"/>
              </a:defRPr>
            </a:pPr>
            <a:r>
              <a:rPr sz="1650" b="0">
                <a:solidFill>
                  <a:srgbClr val="5E7377"/>
                </a:solidFill>
                <a:latin typeface="Helvetica Neue"/>
                <a:ea typeface="Helvetica Neue"/>
                <a:cs typeface="Helvetica Neue"/>
              </a:rPr>
              <a:t>69.3% zero days. Weekly rhythm: 1.37×</a:t>
            </a:r>
          </a:p>
        </p:txBody>
      </p:sp>
      <p:sp>
        <p:nvSpPr>
          <p:cNvPr id="10" name="Text 80 low / 80 medium / 80 high">
            <a:extLst xmlns:a="http://schemas.openxmlformats.org/drawingml/2006/main">
              <a:ext uri="{FF2B5EF4-FFF2-40B4-BE49-F238E27FC236}">
                <a16:creationId xmlns:a16="http://schemas.microsoft.com/office/drawing/2014/main" id="{A42A6BB4-46BB-4FC7-BE25-9586E8004497}"/>
              </a:ext>
            </a:extLst>
          </p:cNvPr>
          <p:cNvSpPr>
            <a:spLocks xmlns:a="http://schemas.openxmlformats.org/drawingml/2006/main" noGrp="1"/>
          </p:cNvSpPr>
          <p:nvPr/>
        </p:nvSpPr>
        <p:spPr>
          <a:xfrm xmlns:a="http://schemas.openxmlformats.org/drawingml/2006/main">
            <a:off x="666750" y="4305300"/>
            <a:ext cx="5219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E7377"/>
                </a:solidFill>
                <a:latin typeface="Helvetica Neue"/>
                <a:ea typeface="Helvetica Neue"/>
                <a:cs typeface="Helvetica Neue"/>
              </a:defRPr>
            </a:defPPr>
            <a:lvl1pPr algn="l">
              <a:defRPr sz="1575" b="0">
                <a:solidFill>
                  <a:srgbClr val="5E7377"/>
                </a:solidFill>
                <a:latin typeface="Helvetica Neue"/>
                <a:ea typeface="Helvetica Neue"/>
                <a:cs typeface="Helvetica Neue"/>
              </a:defRPr>
            </a:lvl1pPr>
            <a:lvl2pPr algn="l">
              <a:defRPr sz="1575" b="0">
                <a:solidFill>
                  <a:srgbClr val="5E7377"/>
                </a:solidFill>
                <a:latin typeface="Helvetica Neue"/>
                <a:ea typeface="Helvetica Neue"/>
                <a:cs typeface="Helvetica Neue"/>
              </a:defRPr>
            </a:lvl2pPr>
            <a:lvl3pPr algn="l">
              <a:defRPr sz="1575" b="0">
                <a:solidFill>
                  <a:srgbClr val="5E7377"/>
                </a:solidFill>
                <a:latin typeface="Helvetica Neue"/>
                <a:ea typeface="Helvetica Neue"/>
                <a:cs typeface="Helvetica Neue"/>
              </a:defRPr>
            </a:lvl3pPr>
            <a:lvl4pPr algn="l">
              <a:defRPr sz="1575" b="0">
                <a:solidFill>
                  <a:srgbClr val="5E7377"/>
                </a:solidFill>
                <a:latin typeface="Helvetica Neue"/>
                <a:ea typeface="Helvetica Neue"/>
                <a:cs typeface="Helvetica Neue"/>
              </a:defRPr>
            </a:lvl4pPr>
            <a:lvl5pPr algn="l">
              <a:defRPr sz="1575" b="0">
                <a:solidFill>
                  <a:srgbClr val="5E7377"/>
                </a:solidFill>
                <a:latin typeface="Helvetica Neue"/>
                <a:ea typeface="Helvetica Neue"/>
                <a:cs typeface="Helvetica Neue"/>
              </a:defRPr>
            </a:lvl5pPr>
            <a:lvl6pPr algn="l">
              <a:defRPr sz="1575" b="0">
                <a:solidFill>
                  <a:srgbClr val="5E7377"/>
                </a:solidFill>
                <a:latin typeface="Helvetica Neue"/>
                <a:ea typeface="Helvetica Neue"/>
                <a:cs typeface="Helvetica Neue"/>
              </a:defRPr>
            </a:lvl6pPr>
            <a:lvl7pPr algn="l">
              <a:defRPr sz="1575" b="0">
                <a:solidFill>
                  <a:srgbClr val="5E7377"/>
                </a:solidFill>
                <a:latin typeface="Helvetica Neue"/>
                <a:ea typeface="Helvetica Neue"/>
                <a:cs typeface="Helvetica Neue"/>
              </a:defRPr>
            </a:lvl7pPr>
            <a:lvl8pPr algn="l">
              <a:defRPr sz="1575" b="0">
                <a:solidFill>
                  <a:srgbClr val="5E7377"/>
                </a:solidFill>
                <a:latin typeface="Helvetica Neue"/>
                <a:ea typeface="Helvetica Neue"/>
                <a:cs typeface="Helvetica Neue"/>
              </a:defRPr>
            </a:lvl8pPr>
            <a:lvl9pPr algn="l">
              <a:defRPr sz="1575" b="0">
                <a:solidFill>
                  <a:srgbClr val="5E7377"/>
                </a:solidFill>
                <a:latin typeface="Helvetica Neue"/>
                <a:ea typeface="Helvetica Neue"/>
                <a:cs typeface="Helvetica Neue"/>
              </a:defRPr>
            </a:lvl9pPr>
          </a:lstStyle>
          <a:p xmlns:a="http://schemas.openxmlformats.org/drawingml/2006/main">
            <a:pPr algn="l">
              <a:lnSpc>
                <a:spcPct val="112000"/>
              </a:lnSpc>
              <a:buNone/>
              <a:defRPr sz="1575" b="0">
                <a:solidFill>
                  <a:srgbClr val="5E7377"/>
                </a:solidFill>
                <a:latin typeface="Helvetica Neue"/>
                <a:ea typeface="Helvetica Neue"/>
                <a:cs typeface="Helvetica Neue"/>
              </a:defRPr>
            </a:pPr>
            <a:r>
              <a:rPr sz="1575" b="0">
                <a:solidFill>
                  <a:srgbClr val="5E7377"/>
                </a:solidFill>
                <a:latin typeface="Helvetica Neue"/>
                <a:ea typeface="Helvetica Neue"/>
                <a:cs typeface="Helvetica Neue"/>
              </a:rPr>
              <a:t>80 low / 80 medium / 80 high</a:t>
            </a:r>
          </a:p>
        </p:txBody>
      </p:sp>
      <p:sp>
        <p:nvSpPr>
          <p:cNvPr id="11" name="Text M3  Reshape, join, validate">
            <a:extLst xmlns:a="http://schemas.openxmlformats.org/drawingml/2006/main">
              <a:ext uri="{FF2B5EF4-FFF2-40B4-BE49-F238E27FC236}">
                <a16:creationId xmlns:a16="http://schemas.microsoft.com/office/drawing/2014/main" id="{52086459-0548-4FCF-B792-4061E9EBDB4B}"/>
              </a:ext>
            </a:extLst>
          </p:cNvPr>
          <p:cNvSpPr>
            <a:spLocks xmlns:a="http://schemas.openxmlformats.org/drawingml/2006/main" noGrp="1"/>
          </p:cNvSpPr>
          <p:nvPr/>
        </p:nvSpPr>
        <p:spPr>
          <a:xfrm xmlns:a="http://schemas.openxmlformats.org/drawingml/2006/main">
            <a:off x="647700" y="46101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7D79"/>
                </a:solidFill>
                <a:latin typeface="Helvetica Neue"/>
                <a:ea typeface="Helvetica Neue"/>
                <a:cs typeface="Helvetica Neue"/>
              </a:defRPr>
            </a:defPPr>
            <a:lvl1pPr algn="l">
              <a:defRPr sz="2100" b="1">
                <a:solidFill>
                  <a:srgbClr val="107D79"/>
                </a:solidFill>
                <a:latin typeface="Helvetica Neue"/>
                <a:ea typeface="Helvetica Neue"/>
                <a:cs typeface="Helvetica Neue"/>
              </a:defRPr>
            </a:lvl1pPr>
            <a:lvl2pPr algn="l">
              <a:defRPr sz="2100" b="1">
                <a:solidFill>
                  <a:srgbClr val="107D79"/>
                </a:solidFill>
                <a:latin typeface="Helvetica Neue"/>
                <a:ea typeface="Helvetica Neue"/>
                <a:cs typeface="Helvetica Neue"/>
              </a:defRPr>
            </a:lvl2pPr>
            <a:lvl3pPr algn="l">
              <a:defRPr sz="2100" b="1">
                <a:solidFill>
                  <a:srgbClr val="107D79"/>
                </a:solidFill>
                <a:latin typeface="Helvetica Neue"/>
                <a:ea typeface="Helvetica Neue"/>
                <a:cs typeface="Helvetica Neue"/>
              </a:defRPr>
            </a:lvl3pPr>
            <a:lvl4pPr algn="l">
              <a:defRPr sz="2100" b="1">
                <a:solidFill>
                  <a:srgbClr val="107D79"/>
                </a:solidFill>
                <a:latin typeface="Helvetica Neue"/>
                <a:ea typeface="Helvetica Neue"/>
                <a:cs typeface="Helvetica Neue"/>
              </a:defRPr>
            </a:lvl4pPr>
            <a:lvl5pPr algn="l">
              <a:defRPr sz="2100" b="1">
                <a:solidFill>
                  <a:srgbClr val="107D79"/>
                </a:solidFill>
                <a:latin typeface="Helvetica Neue"/>
                <a:ea typeface="Helvetica Neue"/>
                <a:cs typeface="Helvetica Neue"/>
              </a:defRPr>
            </a:lvl5pPr>
            <a:lvl6pPr algn="l">
              <a:defRPr sz="2100" b="1">
                <a:solidFill>
                  <a:srgbClr val="107D79"/>
                </a:solidFill>
                <a:latin typeface="Helvetica Neue"/>
                <a:ea typeface="Helvetica Neue"/>
                <a:cs typeface="Helvetica Neue"/>
              </a:defRPr>
            </a:lvl6pPr>
            <a:lvl7pPr algn="l">
              <a:defRPr sz="2100" b="1">
                <a:solidFill>
                  <a:srgbClr val="107D79"/>
                </a:solidFill>
                <a:latin typeface="Helvetica Neue"/>
                <a:ea typeface="Helvetica Neue"/>
                <a:cs typeface="Helvetica Neue"/>
              </a:defRPr>
            </a:lvl7pPr>
            <a:lvl8pPr algn="l">
              <a:defRPr sz="2100" b="1">
                <a:solidFill>
                  <a:srgbClr val="107D79"/>
                </a:solidFill>
                <a:latin typeface="Helvetica Neue"/>
                <a:ea typeface="Helvetica Neue"/>
                <a:cs typeface="Helvetica Neue"/>
              </a:defRPr>
            </a:lvl8pPr>
            <a:lvl9pPr algn="l">
              <a:defRPr sz="2100" b="1">
                <a:solidFill>
                  <a:srgbClr val="107D79"/>
                </a:solidFill>
                <a:latin typeface="Helvetica Neue"/>
                <a:ea typeface="Helvetica Neue"/>
                <a:cs typeface="Helvetica Neue"/>
              </a:defRPr>
            </a:lvl9pPr>
          </a:lstStyle>
          <a:p xmlns:a="http://schemas.openxmlformats.org/drawingml/2006/main">
            <a:pPr algn="l">
              <a:lnSpc>
                <a:spcPct val="112000"/>
              </a:lnSpc>
              <a:buNone/>
              <a:defRPr sz="2100" b="1">
                <a:solidFill>
                  <a:srgbClr val="107D79"/>
                </a:solidFill>
                <a:latin typeface="Helvetica Neue"/>
                <a:ea typeface="Helvetica Neue"/>
                <a:cs typeface="Helvetica Neue"/>
              </a:defRPr>
            </a:pPr>
            <a:r>
              <a:rPr sz="2100" b="1">
                <a:solidFill>
                  <a:srgbClr val="107D79"/>
                </a:solidFill>
                <a:latin typeface="Helvetica Neue"/>
                <a:ea typeface="Helvetica Neue"/>
                <a:cs typeface="Helvetica Neue"/>
              </a:rPr>
              <a:t>M3  Reshape, join, validate</a:t>
            </a:r>
          </a:p>
        </p:txBody>
      </p:sp>
      <p:graphicFrame>
        <p:nvGraphicFramePr>
          <p:cNvPr id="12" name="">
            <a:extLst xmlns:a="http://schemas.openxmlformats.org/drawingml/2006/main">
              <a:ext uri="{FF2B5EF4-FFF2-40B4-BE49-F238E27FC236}">
                <a16:creationId xmlns:a16="http://schemas.microsoft.com/office/drawing/2014/main" id="{0AB3557E-DC91-44FA-A66A-334A8DAE0B8E}"/>
              </a:ext>
            </a:extLst>
          </p:cNvPr>
          <p:cNvGraphicFramePr/>
          <p:nvPr/>
        </p:nvGraphicFramePr>
        <p:xfrm>
          <a:off xmlns:a="http://schemas.openxmlformats.org/drawingml/2006/main" x="628650" y="5086350"/>
          <a:ext xmlns:a="http://schemas.openxmlformats.org/drawingml/2006/main" cx="5219700" cy="1009650"/>
        </p:xfrm>
        <a:graphic xmlns:a="http://schemas.openxmlformats.org/drawingml/2006/main">
          <a:graphicData uri="http://schemas.openxmlformats.org/drawingml/2006/table">
            <a:tbl>
              <a:tblPr/>
              <a:tblGrid>
                <a:gridCol w="2143125"/>
                <a:gridCol w="1381125"/>
                <a:gridCol w="1695450"/>
              </a:tblGrid>
              <a:tr h="336550">
                <a:tc>
                  <a:txBody>
                    <a:bodyPr wrap="square"/>
                    <a:lstStyle/>
                    <a:p>
                      <a:r>
                        <a:rPr sz="1725" b="1">
                          <a:solidFill>
                            <a:srgbClr val="FFFFFF"/>
                          </a:solidFill>
                          <a:latin typeface="Helvetica Neue"/>
                          <a:ea typeface="Helvetica Neue"/>
                          <a:cs typeface="Helvetica Neue"/>
                        </a:rPr>
                        <a:t>Day</a:t>
                      </a:r>
                    </a:p>
                  </a:txBody>
                  <a:tcPr marL="114300" marR="95250" marT="47625" marB="38100" anchor="ctr">
                    <a:lnL w="6668">
                      <a:solidFill>
                        <a:srgbClr val="D9E1DC"/>
                      </a:solidFill>
                      <a:prstDash val="solid"/>
                    </a:lnL>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725" b="1">
                          <a:solidFill>
                            <a:srgbClr val="FFFFFF"/>
                          </a:solidFill>
                          <a:latin typeface="Helvetica Neue"/>
                          <a:ea typeface="Helvetica Neue"/>
                          <a:cs typeface="Helvetica Neue"/>
                        </a:rPr>
                        <a:t>Units</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725" b="1">
                          <a:solidFill>
                            <a:srgbClr val="FFFFFF"/>
                          </a:solidFill>
                          <a:latin typeface="Helvetica Neue"/>
                          <a:ea typeface="Helvetica Neue"/>
                          <a:cs typeface="Helvetica Neue"/>
                        </a:rPr>
                        <a:t>Price</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r>
              <a:tr h="336550">
                <a:tc>
                  <a:txBody>
                    <a:bodyPr wrap="square"/>
                    <a:lstStyle/>
                    <a:p>
                      <a:r>
                        <a:rPr sz="1725" b="0">
                          <a:solidFill>
                            <a:srgbClr val="12323A"/>
                          </a:solidFill>
                          <a:latin typeface="Helvetica Neue"/>
                          <a:ea typeface="Helvetica Neue"/>
                          <a:cs typeface="Helvetica Neue"/>
                        </a:rPr>
                        <a:t>d_1800</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0</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$1.96</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336550">
                <a:tc>
                  <a:txBody>
                    <a:bodyPr wrap="square"/>
                    <a:lstStyle/>
                    <a:p>
                      <a:r>
                        <a:rPr sz="1725" b="0">
                          <a:solidFill>
                            <a:srgbClr val="12323A"/>
                          </a:solidFill>
                          <a:latin typeface="Helvetica Neue"/>
                          <a:ea typeface="Helvetica Neue"/>
                          <a:cs typeface="Helvetica Neue"/>
                        </a:rPr>
                        <a:t>d_1801</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$1.96</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bl>
          </a:graphicData>
        </a:graphic>
      </p:graphicFrame>
      <p:sp>
        <p:nvSpPr>
          <p:cNvPr id="13" name="Text 459,120 daily development rows">
            <a:extLst xmlns:a="http://schemas.openxmlformats.org/drawingml/2006/main">
              <a:ext uri="{FF2B5EF4-FFF2-40B4-BE49-F238E27FC236}">
                <a16:creationId xmlns:a16="http://schemas.microsoft.com/office/drawing/2014/main" id="{FF62BE90-28C6-44D8-84A8-14B8C286F976}"/>
              </a:ext>
            </a:extLst>
          </p:cNvPr>
          <p:cNvSpPr>
            <a:spLocks xmlns:a="http://schemas.openxmlformats.org/drawingml/2006/main" noGrp="1"/>
          </p:cNvSpPr>
          <p:nvPr/>
        </p:nvSpPr>
        <p:spPr>
          <a:xfrm xmlns:a="http://schemas.openxmlformats.org/drawingml/2006/main">
            <a:off x="666750" y="61722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7377"/>
                </a:solidFill>
                <a:latin typeface="Helvetica Neue"/>
                <a:ea typeface="Helvetica Neue"/>
                <a:cs typeface="Helvetica Neue"/>
              </a:defRPr>
            </a:defPPr>
            <a:lvl1pPr algn="l">
              <a:defRPr sz="1650" b="0">
                <a:solidFill>
                  <a:srgbClr val="5E7377"/>
                </a:solidFill>
                <a:latin typeface="Helvetica Neue"/>
                <a:ea typeface="Helvetica Neue"/>
                <a:cs typeface="Helvetica Neue"/>
              </a:defRPr>
            </a:lvl1pPr>
            <a:lvl2pPr algn="l">
              <a:defRPr sz="1650" b="0">
                <a:solidFill>
                  <a:srgbClr val="5E7377"/>
                </a:solidFill>
                <a:latin typeface="Helvetica Neue"/>
                <a:ea typeface="Helvetica Neue"/>
                <a:cs typeface="Helvetica Neue"/>
              </a:defRPr>
            </a:lvl2pPr>
            <a:lvl3pPr algn="l">
              <a:defRPr sz="1650" b="0">
                <a:solidFill>
                  <a:srgbClr val="5E7377"/>
                </a:solidFill>
                <a:latin typeface="Helvetica Neue"/>
                <a:ea typeface="Helvetica Neue"/>
                <a:cs typeface="Helvetica Neue"/>
              </a:defRPr>
            </a:lvl3pPr>
            <a:lvl4pPr algn="l">
              <a:defRPr sz="1650" b="0">
                <a:solidFill>
                  <a:srgbClr val="5E7377"/>
                </a:solidFill>
                <a:latin typeface="Helvetica Neue"/>
                <a:ea typeface="Helvetica Neue"/>
                <a:cs typeface="Helvetica Neue"/>
              </a:defRPr>
            </a:lvl4pPr>
            <a:lvl5pPr algn="l">
              <a:defRPr sz="1650" b="0">
                <a:solidFill>
                  <a:srgbClr val="5E7377"/>
                </a:solidFill>
                <a:latin typeface="Helvetica Neue"/>
                <a:ea typeface="Helvetica Neue"/>
                <a:cs typeface="Helvetica Neue"/>
              </a:defRPr>
            </a:lvl5pPr>
            <a:lvl6pPr algn="l">
              <a:defRPr sz="1650" b="0">
                <a:solidFill>
                  <a:srgbClr val="5E7377"/>
                </a:solidFill>
                <a:latin typeface="Helvetica Neue"/>
                <a:ea typeface="Helvetica Neue"/>
                <a:cs typeface="Helvetica Neue"/>
              </a:defRPr>
            </a:lvl6pPr>
            <a:lvl7pPr algn="l">
              <a:defRPr sz="1650" b="0">
                <a:solidFill>
                  <a:srgbClr val="5E7377"/>
                </a:solidFill>
                <a:latin typeface="Helvetica Neue"/>
                <a:ea typeface="Helvetica Neue"/>
                <a:cs typeface="Helvetica Neue"/>
              </a:defRPr>
            </a:lvl7pPr>
            <a:lvl8pPr algn="l">
              <a:defRPr sz="1650" b="0">
                <a:solidFill>
                  <a:srgbClr val="5E7377"/>
                </a:solidFill>
                <a:latin typeface="Helvetica Neue"/>
                <a:ea typeface="Helvetica Neue"/>
                <a:cs typeface="Helvetica Neue"/>
              </a:defRPr>
            </a:lvl8pPr>
            <a:lvl9pPr algn="l">
              <a:defRPr sz="1650" b="0">
                <a:solidFill>
                  <a:srgbClr val="5E7377"/>
                </a:solidFill>
                <a:latin typeface="Helvetica Neue"/>
                <a:ea typeface="Helvetica Neue"/>
                <a:cs typeface="Helvetica Neue"/>
              </a:defRPr>
            </a:lvl9pPr>
          </a:lstStyle>
          <a:p xmlns:a="http://schemas.openxmlformats.org/drawingml/2006/main">
            <a:pPr algn="l">
              <a:lnSpc>
                <a:spcPct val="112000"/>
              </a:lnSpc>
              <a:buNone/>
              <a:defRPr sz="1650" b="0">
                <a:solidFill>
                  <a:srgbClr val="5E7377"/>
                </a:solidFill>
                <a:latin typeface="Helvetica Neue"/>
                <a:ea typeface="Helvetica Neue"/>
                <a:cs typeface="Helvetica Neue"/>
              </a:defRPr>
            </a:pPr>
            <a:r>
              <a:rPr sz="1650" b="0">
                <a:solidFill>
                  <a:srgbClr val="5E7377"/>
                </a:solidFill>
                <a:latin typeface="Helvetica Neue"/>
                <a:ea typeface="Helvetica Neue"/>
                <a:cs typeface="Helvetica Neue"/>
              </a:rPr>
              <a:t>459,120 daily development rows</a:t>
            </a:r>
          </a:p>
        </p:txBody>
      </p:sp>
      <p:sp>
        <p:nvSpPr>
          <p:cNvPr id="14" name="Text M4  Same chronological test">
            <a:extLst xmlns:a="http://schemas.openxmlformats.org/drawingml/2006/main">
              <a:ext uri="{FF2B5EF4-FFF2-40B4-BE49-F238E27FC236}">
                <a16:creationId xmlns:a16="http://schemas.microsoft.com/office/drawing/2014/main" id="{C826A919-706E-4438-B4A9-BEFF1C8775FE}"/>
              </a:ext>
            </a:extLst>
          </p:cNvPr>
          <p:cNvSpPr>
            <a:spLocks xmlns:a="http://schemas.openxmlformats.org/drawingml/2006/main" noGrp="1"/>
          </p:cNvSpPr>
          <p:nvPr/>
        </p:nvSpPr>
        <p:spPr>
          <a:xfrm xmlns:a="http://schemas.openxmlformats.org/drawingml/2006/main">
            <a:off x="6457950" y="4705350"/>
            <a:ext cx="512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7D79"/>
                </a:solidFill>
                <a:latin typeface="Helvetica Neue"/>
                <a:ea typeface="Helvetica Neue"/>
                <a:cs typeface="Helvetica Neue"/>
              </a:defRPr>
            </a:defPPr>
            <a:lvl1pPr algn="l">
              <a:defRPr sz="2100" b="1">
                <a:solidFill>
                  <a:srgbClr val="107D79"/>
                </a:solidFill>
                <a:latin typeface="Helvetica Neue"/>
                <a:ea typeface="Helvetica Neue"/>
                <a:cs typeface="Helvetica Neue"/>
              </a:defRPr>
            </a:lvl1pPr>
            <a:lvl2pPr algn="l">
              <a:defRPr sz="2100" b="1">
                <a:solidFill>
                  <a:srgbClr val="107D79"/>
                </a:solidFill>
                <a:latin typeface="Helvetica Neue"/>
                <a:ea typeface="Helvetica Neue"/>
                <a:cs typeface="Helvetica Neue"/>
              </a:defRPr>
            </a:lvl2pPr>
            <a:lvl3pPr algn="l">
              <a:defRPr sz="2100" b="1">
                <a:solidFill>
                  <a:srgbClr val="107D79"/>
                </a:solidFill>
                <a:latin typeface="Helvetica Neue"/>
                <a:ea typeface="Helvetica Neue"/>
                <a:cs typeface="Helvetica Neue"/>
              </a:defRPr>
            </a:lvl3pPr>
            <a:lvl4pPr algn="l">
              <a:defRPr sz="2100" b="1">
                <a:solidFill>
                  <a:srgbClr val="107D79"/>
                </a:solidFill>
                <a:latin typeface="Helvetica Neue"/>
                <a:ea typeface="Helvetica Neue"/>
                <a:cs typeface="Helvetica Neue"/>
              </a:defRPr>
            </a:lvl4pPr>
            <a:lvl5pPr algn="l">
              <a:defRPr sz="2100" b="1">
                <a:solidFill>
                  <a:srgbClr val="107D79"/>
                </a:solidFill>
                <a:latin typeface="Helvetica Neue"/>
                <a:ea typeface="Helvetica Neue"/>
                <a:cs typeface="Helvetica Neue"/>
              </a:defRPr>
            </a:lvl5pPr>
            <a:lvl6pPr algn="l">
              <a:defRPr sz="2100" b="1">
                <a:solidFill>
                  <a:srgbClr val="107D79"/>
                </a:solidFill>
                <a:latin typeface="Helvetica Neue"/>
                <a:ea typeface="Helvetica Neue"/>
                <a:cs typeface="Helvetica Neue"/>
              </a:defRPr>
            </a:lvl6pPr>
            <a:lvl7pPr algn="l">
              <a:defRPr sz="2100" b="1">
                <a:solidFill>
                  <a:srgbClr val="107D79"/>
                </a:solidFill>
                <a:latin typeface="Helvetica Neue"/>
                <a:ea typeface="Helvetica Neue"/>
                <a:cs typeface="Helvetica Neue"/>
              </a:defRPr>
            </a:lvl7pPr>
            <a:lvl8pPr algn="l">
              <a:defRPr sz="2100" b="1">
                <a:solidFill>
                  <a:srgbClr val="107D79"/>
                </a:solidFill>
                <a:latin typeface="Helvetica Neue"/>
                <a:ea typeface="Helvetica Neue"/>
                <a:cs typeface="Helvetica Neue"/>
              </a:defRPr>
            </a:lvl8pPr>
            <a:lvl9pPr algn="l">
              <a:defRPr sz="2100" b="1">
                <a:solidFill>
                  <a:srgbClr val="107D79"/>
                </a:solidFill>
                <a:latin typeface="Helvetica Neue"/>
                <a:ea typeface="Helvetica Neue"/>
                <a:cs typeface="Helvetica Neue"/>
              </a:defRPr>
            </a:lvl9pPr>
          </a:lstStyle>
          <a:p xmlns:a="http://schemas.openxmlformats.org/drawingml/2006/main">
            <a:pPr algn="l">
              <a:lnSpc>
                <a:spcPct val="112000"/>
              </a:lnSpc>
              <a:buNone/>
              <a:defRPr sz="2100" b="1">
                <a:solidFill>
                  <a:srgbClr val="107D79"/>
                </a:solidFill>
                <a:latin typeface="Helvetica Neue"/>
                <a:ea typeface="Helvetica Neue"/>
                <a:cs typeface="Helvetica Neue"/>
              </a:defRPr>
            </a:pPr>
            <a:r>
              <a:rPr sz="2100" b="1">
                <a:solidFill>
                  <a:srgbClr val="107D79"/>
                </a:solidFill>
                <a:latin typeface="Helvetica Neue"/>
                <a:ea typeface="Helvetica Neue"/>
                <a:cs typeface="Helvetica Neue"/>
              </a:rPr>
              <a:t>M4  Same chronological test</a:t>
            </a:r>
          </a:p>
        </p:txBody>
      </p:sp>
      <p:sp>
        <p:nvSpPr>
          <p:cNvPr id="15" name="Text 240 series × 4 windows × 28 days">
            <a:extLst xmlns:a="http://schemas.openxmlformats.org/drawingml/2006/main">
              <a:ext uri="{FF2B5EF4-FFF2-40B4-BE49-F238E27FC236}">
                <a16:creationId xmlns:a16="http://schemas.microsoft.com/office/drawing/2014/main" id="{D6749C4E-A1DB-43FB-8126-A291C1BFA8C0}"/>
              </a:ext>
            </a:extLst>
          </p:cNvPr>
          <p:cNvSpPr>
            <a:spLocks xmlns:a="http://schemas.openxmlformats.org/drawingml/2006/main" noGrp="1"/>
          </p:cNvSpPr>
          <p:nvPr/>
        </p:nvSpPr>
        <p:spPr>
          <a:xfrm xmlns:a="http://schemas.openxmlformats.org/drawingml/2006/main">
            <a:off x="6486525" y="51625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323A"/>
                </a:solidFill>
                <a:latin typeface="Helvetica Neue"/>
                <a:ea typeface="Helvetica Neue"/>
                <a:cs typeface="Helvetica Neue"/>
              </a:defRPr>
            </a:defPPr>
            <a:lvl1pPr algn="l">
              <a:defRPr sz="1875" b="0">
                <a:solidFill>
                  <a:srgbClr val="12323A"/>
                </a:solidFill>
                <a:latin typeface="Helvetica Neue"/>
                <a:ea typeface="Helvetica Neue"/>
                <a:cs typeface="Helvetica Neue"/>
              </a:defRPr>
            </a:lvl1pPr>
            <a:lvl2pPr algn="l">
              <a:defRPr sz="1875" b="0">
                <a:solidFill>
                  <a:srgbClr val="12323A"/>
                </a:solidFill>
                <a:latin typeface="Helvetica Neue"/>
                <a:ea typeface="Helvetica Neue"/>
                <a:cs typeface="Helvetica Neue"/>
              </a:defRPr>
            </a:lvl2pPr>
            <a:lvl3pPr algn="l">
              <a:defRPr sz="1875" b="0">
                <a:solidFill>
                  <a:srgbClr val="12323A"/>
                </a:solidFill>
                <a:latin typeface="Helvetica Neue"/>
                <a:ea typeface="Helvetica Neue"/>
                <a:cs typeface="Helvetica Neue"/>
              </a:defRPr>
            </a:lvl3pPr>
            <a:lvl4pPr algn="l">
              <a:defRPr sz="1875" b="0">
                <a:solidFill>
                  <a:srgbClr val="12323A"/>
                </a:solidFill>
                <a:latin typeface="Helvetica Neue"/>
                <a:ea typeface="Helvetica Neue"/>
                <a:cs typeface="Helvetica Neue"/>
              </a:defRPr>
            </a:lvl4pPr>
            <a:lvl5pPr algn="l">
              <a:defRPr sz="1875" b="0">
                <a:solidFill>
                  <a:srgbClr val="12323A"/>
                </a:solidFill>
                <a:latin typeface="Helvetica Neue"/>
                <a:ea typeface="Helvetica Neue"/>
                <a:cs typeface="Helvetica Neue"/>
              </a:defRPr>
            </a:lvl5pPr>
            <a:lvl6pPr algn="l">
              <a:defRPr sz="1875" b="0">
                <a:solidFill>
                  <a:srgbClr val="12323A"/>
                </a:solidFill>
                <a:latin typeface="Helvetica Neue"/>
                <a:ea typeface="Helvetica Neue"/>
                <a:cs typeface="Helvetica Neue"/>
              </a:defRPr>
            </a:lvl6pPr>
            <a:lvl7pPr algn="l">
              <a:defRPr sz="1875" b="0">
                <a:solidFill>
                  <a:srgbClr val="12323A"/>
                </a:solidFill>
                <a:latin typeface="Helvetica Neue"/>
                <a:ea typeface="Helvetica Neue"/>
                <a:cs typeface="Helvetica Neue"/>
              </a:defRPr>
            </a:lvl7pPr>
            <a:lvl8pPr algn="l">
              <a:defRPr sz="1875" b="0">
                <a:solidFill>
                  <a:srgbClr val="12323A"/>
                </a:solidFill>
                <a:latin typeface="Helvetica Neue"/>
                <a:ea typeface="Helvetica Neue"/>
                <a:cs typeface="Helvetica Neue"/>
              </a:defRPr>
            </a:lvl8pPr>
            <a:lvl9pPr algn="l">
              <a:defRPr sz="1875" b="0">
                <a:solidFill>
                  <a:srgbClr val="12323A"/>
                </a:solidFill>
                <a:latin typeface="Helvetica Neue"/>
                <a:ea typeface="Helvetica Neue"/>
                <a:cs typeface="Helvetica Neue"/>
              </a:defRPr>
            </a:lvl9pPr>
          </a:lstStyle>
          <a:p xmlns:a="http://schemas.openxmlformats.org/drawingml/2006/main">
            <a:pPr algn="l">
              <a:lnSpc>
                <a:spcPct val="112000"/>
              </a:lnSpc>
              <a:buNone/>
              <a:defRPr sz="1875" b="0">
                <a:solidFill>
                  <a:srgbClr val="12323A"/>
                </a:solidFill>
                <a:latin typeface="Helvetica Neue"/>
                <a:ea typeface="Helvetica Neue"/>
                <a:cs typeface="Helvetica Neue"/>
              </a:defRPr>
            </a:pPr>
            <a:r>
              <a:rPr sz="1875" b="0">
                <a:solidFill>
                  <a:srgbClr val="12323A"/>
                </a:solidFill>
                <a:latin typeface="Helvetica Neue"/>
                <a:ea typeface="Helvetica Neue"/>
                <a:cs typeface="Helvetica Neue"/>
              </a:rPr>
              <a:t>240 series × 4 windows × 28 days</a:t>
            </a:r>
          </a:p>
        </p:txBody>
      </p:sp>
      <p:sp>
        <p:nvSpPr>
          <p:cNvPr id="16" name="Text 26,880 forecasts per model">
            <a:extLst xmlns:a="http://schemas.openxmlformats.org/drawingml/2006/main">
              <a:ext uri="{FF2B5EF4-FFF2-40B4-BE49-F238E27FC236}">
                <a16:creationId xmlns:a16="http://schemas.microsoft.com/office/drawing/2014/main" id="{249FAB82-7887-4436-9EF1-D64413CD0F50}"/>
              </a:ext>
            </a:extLst>
          </p:cNvPr>
          <p:cNvSpPr>
            <a:spLocks xmlns:a="http://schemas.openxmlformats.org/drawingml/2006/main" noGrp="1"/>
          </p:cNvSpPr>
          <p:nvPr/>
        </p:nvSpPr>
        <p:spPr>
          <a:xfrm xmlns:a="http://schemas.openxmlformats.org/drawingml/2006/main">
            <a:off x="6486525" y="5600700"/>
            <a:ext cx="5067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7D79"/>
                </a:solidFill>
                <a:latin typeface="Helvetica Neue"/>
                <a:ea typeface="Helvetica Neue"/>
                <a:cs typeface="Helvetica Neue"/>
              </a:defRPr>
            </a:defPPr>
            <a:lvl1pPr algn="l">
              <a:defRPr sz="2175" b="1">
                <a:solidFill>
                  <a:srgbClr val="107D79"/>
                </a:solidFill>
                <a:latin typeface="Helvetica Neue"/>
                <a:ea typeface="Helvetica Neue"/>
                <a:cs typeface="Helvetica Neue"/>
              </a:defRPr>
            </a:lvl1pPr>
            <a:lvl2pPr algn="l">
              <a:defRPr sz="2175" b="1">
                <a:solidFill>
                  <a:srgbClr val="107D79"/>
                </a:solidFill>
                <a:latin typeface="Helvetica Neue"/>
                <a:ea typeface="Helvetica Neue"/>
                <a:cs typeface="Helvetica Neue"/>
              </a:defRPr>
            </a:lvl2pPr>
            <a:lvl3pPr algn="l">
              <a:defRPr sz="2175" b="1">
                <a:solidFill>
                  <a:srgbClr val="107D79"/>
                </a:solidFill>
                <a:latin typeface="Helvetica Neue"/>
                <a:ea typeface="Helvetica Neue"/>
                <a:cs typeface="Helvetica Neue"/>
              </a:defRPr>
            </a:lvl3pPr>
            <a:lvl4pPr algn="l">
              <a:defRPr sz="2175" b="1">
                <a:solidFill>
                  <a:srgbClr val="107D79"/>
                </a:solidFill>
                <a:latin typeface="Helvetica Neue"/>
                <a:ea typeface="Helvetica Neue"/>
                <a:cs typeface="Helvetica Neue"/>
              </a:defRPr>
            </a:lvl4pPr>
            <a:lvl5pPr algn="l">
              <a:defRPr sz="2175" b="1">
                <a:solidFill>
                  <a:srgbClr val="107D79"/>
                </a:solidFill>
                <a:latin typeface="Helvetica Neue"/>
                <a:ea typeface="Helvetica Neue"/>
                <a:cs typeface="Helvetica Neue"/>
              </a:defRPr>
            </a:lvl5pPr>
            <a:lvl6pPr algn="l">
              <a:defRPr sz="2175" b="1">
                <a:solidFill>
                  <a:srgbClr val="107D79"/>
                </a:solidFill>
                <a:latin typeface="Helvetica Neue"/>
                <a:ea typeface="Helvetica Neue"/>
                <a:cs typeface="Helvetica Neue"/>
              </a:defRPr>
            </a:lvl6pPr>
            <a:lvl7pPr algn="l">
              <a:defRPr sz="2175" b="1">
                <a:solidFill>
                  <a:srgbClr val="107D79"/>
                </a:solidFill>
                <a:latin typeface="Helvetica Neue"/>
                <a:ea typeface="Helvetica Neue"/>
                <a:cs typeface="Helvetica Neue"/>
              </a:defRPr>
            </a:lvl7pPr>
            <a:lvl8pPr algn="l">
              <a:defRPr sz="2175" b="1">
                <a:solidFill>
                  <a:srgbClr val="107D79"/>
                </a:solidFill>
                <a:latin typeface="Helvetica Neue"/>
                <a:ea typeface="Helvetica Neue"/>
                <a:cs typeface="Helvetica Neue"/>
              </a:defRPr>
            </a:lvl8pPr>
            <a:lvl9pPr algn="l">
              <a:defRPr sz="2175" b="1">
                <a:solidFill>
                  <a:srgbClr val="107D79"/>
                </a:solidFill>
                <a:latin typeface="Helvetica Neue"/>
                <a:ea typeface="Helvetica Neue"/>
                <a:cs typeface="Helvetica Neue"/>
              </a:defRPr>
            </a:lvl9pPr>
          </a:lstStyle>
          <a:p xmlns:a="http://schemas.openxmlformats.org/drawingml/2006/main">
            <a:pPr algn="l">
              <a:lnSpc>
                <a:spcPct val="112000"/>
              </a:lnSpc>
              <a:buNone/>
              <a:defRPr sz="2175" b="1">
                <a:solidFill>
                  <a:srgbClr val="107D79"/>
                </a:solidFill>
                <a:latin typeface="Helvetica Neue"/>
                <a:ea typeface="Helvetica Neue"/>
                <a:cs typeface="Helvetica Neue"/>
              </a:defRPr>
            </a:pPr>
            <a:r>
              <a:rPr sz="2175" b="1">
                <a:solidFill>
                  <a:srgbClr val="107D79"/>
                </a:solidFill>
                <a:latin typeface="Helvetica Neue"/>
                <a:ea typeface="Helvetica Neue"/>
                <a:cs typeface="Helvetica Neue"/>
              </a:rPr>
              <a:t>26,880 forecasts per model</a:t>
            </a:r>
          </a:p>
        </p:txBody>
      </p:sp>
      <p:sp>
        <p:nvSpPr>
          <p:cNvPr id="17" name="Text Holdout: d_1914–d_1941 untouched">
            <a:extLst xmlns:a="http://schemas.openxmlformats.org/drawingml/2006/main">
              <a:ext uri="{FF2B5EF4-FFF2-40B4-BE49-F238E27FC236}">
                <a16:creationId xmlns:a16="http://schemas.microsoft.com/office/drawing/2014/main" id="{9FC553CA-ED0F-4C1B-BAF7-F161055A631D}"/>
              </a:ext>
            </a:extLst>
          </p:cNvPr>
          <p:cNvSpPr>
            <a:spLocks xmlns:a="http://schemas.openxmlformats.org/drawingml/2006/main" noGrp="1"/>
          </p:cNvSpPr>
          <p:nvPr/>
        </p:nvSpPr>
        <p:spPr>
          <a:xfrm xmlns:a="http://schemas.openxmlformats.org/drawingml/2006/main">
            <a:off x="6486525" y="6105525"/>
            <a:ext cx="5067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7377"/>
                </a:solidFill>
                <a:latin typeface="Helvetica Neue"/>
                <a:ea typeface="Helvetica Neue"/>
                <a:cs typeface="Helvetica Neue"/>
              </a:defRPr>
            </a:defPPr>
            <a:lvl1pPr algn="l">
              <a:defRPr sz="1650" b="0">
                <a:solidFill>
                  <a:srgbClr val="5E7377"/>
                </a:solidFill>
                <a:latin typeface="Helvetica Neue"/>
                <a:ea typeface="Helvetica Neue"/>
                <a:cs typeface="Helvetica Neue"/>
              </a:defRPr>
            </a:lvl1pPr>
            <a:lvl2pPr algn="l">
              <a:defRPr sz="1650" b="0">
                <a:solidFill>
                  <a:srgbClr val="5E7377"/>
                </a:solidFill>
                <a:latin typeface="Helvetica Neue"/>
                <a:ea typeface="Helvetica Neue"/>
                <a:cs typeface="Helvetica Neue"/>
              </a:defRPr>
            </a:lvl2pPr>
            <a:lvl3pPr algn="l">
              <a:defRPr sz="1650" b="0">
                <a:solidFill>
                  <a:srgbClr val="5E7377"/>
                </a:solidFill>
                <a:latin typeface="Helvetica Neue"/>
                <a:ea typeface="Helvetica Neue"/>
                <a:cs typeface="Helvetica Neue"/>
              </a:defRPr>
            </a:lvl3pPr>
            <a:lvl4pPr algn="l">
              <a:defRPr sz="1650" b="0">
                <a:solidFill>
                  <a:srgbClr val="5E7377"/>
                </a:solidFill>
                <a:latin typeface="Helvetica Neue"/>
                <a:ea typeface="Helvetica Neue"/>
                <a:cs typeface="Helvetica Neue"/>
              </a:defRPr>
            </a:lvl4pPr>
            <a:lvl5pPr algn="l">
              <a:defRPr sz="1650" b="0">
                <a:solidFill>
                  <a:srgbClr val="5E7377"/>
                </a:solidFill>
                <a:latin typeface="Helvetica Neue"/>
                <a:ea typeface="Helvetica Neue"/>
                <a:cs typeface="Helvetica Neue"/>
              </a:defRPr>
            </a:lvl5pPr>
            <a:lvl6pPr algn="l">
              <a:defRPr sz="1650" b="0">
                <a:solidFill>
                  <a:srgbClr val="5E7377"/>
                </a:solidFill>
                <a:latin typeface="Helvetica Neue"/>
                <a:ea typeface="Helvetica Neue"/>
                <a:cs typeface="Helvetica Neue"/>
              </a:defRPr>
            </a:lvl6pPr>
            <a:lvl7pPr algn="l">
              <a:defRPr sz="1650" b="0">
                <a:solidFill>
                  <a:srgbClr val="5E7377"/>
                </a:solidFill>
                <a:latin typeface="Helvetica Neue"/>
                <a:ea typeface="Helvetica Neue"/>
                <a:cs typeface="Helvetica Neue"/>
              </a:defRPr>
            </a:lvl7pPr>
            <a:lvl8pPr algn="l">
              <a:defRPr sz="1650" b="0">
                <a:solidFill>
                  <a:srgbClr val="5E7377"/>
                </a:solidFill>
                <a:latin typeface="Helvetica Neue"/>
                <a:ea typeface="Helvetica Neue"/>
                <a:cs typeface="Helvetica Neue"/>
              </a:defRPr>
            </a:lvl8pPr>
            <a:lvl9pPr algn="l">
              <a:defRPr sz="1650" b="0">
                <a:solidFill>
                  <a:srgbClr val="5E7377"/>
                </a:solidFill>
                <a:latin typeface="Helvetica Neue"/>
                <a:ea typeface="Helvetica Neue"/>
                <a:cs typeface="Helvetica Neue"/>
              </a:defRPr>
            </a:lvl9pPr>
          </a:lstStyle>
          <a:p xmlns:a="http://schemas.openxmlformats.org/drawingml/2006/main">
            <a:pPr algn="l">
              <a:lnSpc>
                <a:spcPct val="112000"/>
              </a:lnSpc>
              <a:buNone/>
              <a:defRPr sz="1650" b="0">
                <a:solidFill>
                  <a:srgbClr val="5E7377"/>
                </a:solidFill>
                <a:latin typeface="Helvetica Neue"/>
                <a:ea typeface="Helvetica Neue"/>
                <a:cs typeface="Helvetica Neue"/>
              </a:defRPr>
            </a:pPr>
            <a:r>
              <a:rPr sz="1650" b="0">
                <a:solidFill>
                  <a:srgbClr val="5E7377"/>
                </a:solidFill>
                <a:latin typeface="Helvetica Neue"/>
                <a:ea typeface="Helvetica Neue"/>
                <a:cs typeface="Helvetica Neue"/>
              </a:rPr>
              <a:t>Holdout: d_1914–d_1941 untouched</a:t>
            </a:r>
          </a:p>
        </p:txBody>
      </p:sp>
    </p:spTree>
    <p:extLst>
      <p:ext uri="{BB962C8B-B14F-4D97-AF65-F5344CB8AC3E}">
        <p14:creationId xmlns:p14="http://schemas.microsoft.com/office/powerpoint/2010/main" val="146746956"/>
      </p:ext>
    </p:extLst>
  </p:cSld>
</p:sld>
</file>

<file path=ppt/slides/slide3.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1" name="Text MILESTONE 5 / SEASONAL NAIVE">
            <a:extLst xmlns:a="http://schemas.openxmlformats.org/drawingml/2006/main">
              <a:ext uri="{FF2B5EF4-FFF2-40B4-BE49-F238E27FC236}">
                <a16:creationId xmlns:a16="http://schemas.microsoft.com/office/drawing/2014/main" id="{1DF8C450-2155-4180-84E1-43AECFECDFD0}"/>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MILESTONE 5 / SEASONAL NAIVE</a:t>
            </a:r>
          </a:p>
        </p:txBody>
      </p:sp>
      <p:sp>
        <p:nvSpPr>
          <p:cNvPr id="2" name="Text Simple rules establish the reference score">
            <a:extLst xmlns:a="http://schemas.openxmlformats.org/drawingml/2006/main">
              <a:ext uri="{FF2B5EF4-FFF2-40B4-BE49-F238E27FC236}">
                <a16:creationId xmlns:a16="http://schemas.microsoft.com/office/drawing/2014/main" id="{CE9C5AE3-AA3C-4549-B716-F8D07339B576}"/>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Simple rules establish the reference score</a:t>
            </a:r>
          </a:p>
        </p:txBody>
      </p:sp>
      <p:sp>
        <p:nvSpPr>
          <p:cNvPr id="3" name="Text Tomorrow repeats the last day, or the correspondin">
            <a:extLst xmlns:a="http://schemas.openxmlformats.org/drawingml/2006/main">
              <a:ext uri="{FF2B5EF4-FFF2-40B4-BE49-F238E27FC236}">
                <a16:creationId xmlns:a16="http://schemas.microsoft.com/office/drawing/2014/main" id="{EBB76450-8ED1-4C3B-8322-C08A323B0FEB}"/>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Tomorrow repeats the last day, or the corresponding day from last week</a:t>
            </a:r>
          </a:p>
        </p:txBody>
      </p:sp>
      <p:sp>
        <p:nvSpPr>
          <p:cNvPr id="4" name="Text 03">
            <a:extLst xmlns:a="http://schemas.openxmlformats.org/drawingml/2006/main">
              <a:ext uri="{FF2B5EF4-FFF2-40B4-BE49-F238E27FC236}">
                <a16:creationId xmlns:a16="http://schemas.microsoft.com/office/drawing/2014/main" id="{C1C2DCED-579F-4666-94F9-CC3C3B2C7211}"/>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03</a:t>
            </a:r>
          </a:p>
        </p:txBody>
      </p:sp>
      <p:graphicFrame>
        <p:nvGraphicFramePr>
          <p:cNvPr id="5" name="Chart">
            <a:extLst xmlns:a="http://schemas.openxmlformats.org/drawingml/2006/main">
              <a:ext uri="{FF2B5EF4-FFF2-40B4-BE49-F238E27FC236}">
                <a16:creationId xmlns:a16="http://schemas.microsoft.com/office/drawing/2014/main" id="{D7674FCE-DB33-4CAB-AC85-0659E8869B1E}"/>
              </a:ext>
            </a:extLst>
          </p:cNvPr>
          <p:cNvGraphicFramePr/>
          <p:nvPr/>
        </p:nvGraphicFramePr>
        <p:xfrm>
          <a:off xmlns:a="http://schemas.openxmlformats.org/drawingml/2006/main" x="628650" y="2457450"/>
          <a:ext xmlns:a="http://schemas.openxmlformats.org/drawingml/2006/main" cx="8048625" cy="3352800"/>
        </p:xfrm>
        <a:graphic xmlns:a="http://schemas.openxmlformats.org/drawingml/2006/main">
          <a:graphicData uri="http://schemas.openxmlformats.org/drawingml/2006/chart">
            <c:chart xmlns:r="http://schemas.openxmlformats.org/officeDocument/2006/relationships" xmlns:c="http://schemas.openxmlformats.org/drawingml/2006/chart" r:id="R36fd046b6b104729"/>
          </a:graphicData>
        </a:graphic>
      </p:graphicFrame>
      <p:sp>
        <p:nvSpPr>
          <p:cNvPr id="6" name="Text 1.248">
            <a:extLst xmlns:a="http://schemas.openxmlformats.org/drawingml/2006/main">
              <a:ext uri="{FF2B5EF4-FFF2-40B4-BE49-F238E27FC236}">
                <a16:creationId xmlns:a16="http://schemas.microsoft.com/office/drawing/2014/main" id="{EEC2FE50-D761-41FB-8D84-ECE148331141}"/>
              </a:ext>
            </a:extLst>
          </p:cNvPr>
          <p:cNvSpPr>
            <a:spLocks xmlns:a="http://schemas.openxmlformats.org/drawingml/2006/main" noGrp="1"/>
          </p:cNvSpPr>
          <p:nvPr/>
        </p:nvSpPr>
        <p:spPr>
          <a:xfrm xmlns:a="http://schemas.openxmlformats.org/drawingml/2006/main">
            <a:off x="9134475" y="2695575"/>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5E7377"/>
                </a:solidFill>
                <a:latin typeface="Helvetica Neue"/>
                <a:ea typeface="Helvetica Neue"/>
                <a:cs typeface="Helvetica Neue"/>
              </a:defRPr>
            </a:defPPr>
            <a:lvl1pPr algn="l">
              <a:defRPr sz="4425" b="1">
                <a:solidFill>
                  <a:srgbClr val="5E7377"/>
                </a:solidFill>
                <a:latin typeface="Helvetica Neue"/>
                <a:ea typeface="Helvetica Neue"/>
                <a:cs typeface="Helvetica Neue"/>
              </a:defRPr>
            </a:lvl1pPr>
            <a:lvl2pPr algn="l">
              <a:defRPr sz="4425" b="1">
                <a:solidFill>
                  <a:srgbClr val="5E7377"/>
                </a:solidFill>
                <a:latin typeface="Helvetica Neue"/>
                <a:ea typeface="Helvetica Neue"/>
                <a:cs typeface="Helvetica Neue"/>
              </a:defRPr>
            </a:lvl2pPr>
            <a:lvl3pPr algn="l">
              <a:defRPr sz="4425" b="1">
                <a:solidFill>
                  <a:srgbClr val="5E7377"/>
                </a:solidFill>
                <a:latin typeface="Helvetica Neue"/>
                <a:ea typeface="Helvetica Neue"/>
                <a:cs typeface="Helvetica Neue"/>
              </a:defRPr>
            </a:lvl3pPr>
            <a:lvl4pPr algn="l">
              <a:defRPr sz="4425" b="1">
                <a:solidFill>
                  <a:srgbClr val="5E7377"/>
                </a:solidFill>
                <a:latin typeface="Helvetica Neue"/>
                <a:ea typeface="Helvetica Neue"/>
                <a:cs typeface="Helvetica Neue"/>
              </a:defRPr>
            </a:lvl4pPr>
            <a:lvl5pPr algn="l">
              <a:defRPr sz="4425" b="1">
                <a:solidFill>
                  <a:srgbClr val="5E7377"/>
                </a:solidFill>
                <a:latin typeface="Helvetica Neue"/>
                <a:ea typeface="Helvetica Neue"/>
                <a:cs typeface="Helvetica Neue"/>
              </a:defRPr>
            </a:lvl5pPr>
            <a:lvl6pPr algn="l">
              <a:defRPr sz="4425" b="1">
                <a:solidFill>
                  <a:srgbClr val="5E7377"/>
                </a:solidFill>
                <a:latin typeface="Helvetica Neue"/>
                <a:ea typeface="Helvetica Neue"/>
                <a:cs typeface="Helvetica Neue"/>
              </a:defRPr>
            </a:lvl6pPr>
            <a:lvl7pPr algn="l">
              <a:defRPr sz="4425" b="1">
                <a:solidFill>
                  <a:srgbClr val="5E7377"/>
                </a:solidFill>
                <a:latin typeface="Helvetica Neue"/>
                <a:ea typeface="Helvetica Neue"/>
                <a:cs typeface="Helvetica Neue"/>
              </a:defRPr>
            </a:lvl7pPr>
            <a:lvl8pPr algn="l">
              <a:defRPr sz="4425" b="1">
                <a:solidFill>
                  <a:srgbClr val="5E7377"/>
                </a:solidFill>
                <a:latin typeface="Helvetica Neue"/>
                <a:ea typeface="Helvetica Neue"/>
                <a:cs typeface="Helvetica Neue"/>
              </a:defRPr>
            </a:lvl8pPr>
            <a:lvl9pPr algn="l">
              <a:defRPr sz="4425" b="1">
                <a:solidFill>
                  <a:srgbClr val="5E7377"/>
                </a:solidFill>
                <a:latin typeface="Helvetica Neue"/>
                <a:ea typeface="Helvetica Neue"/>
                <a:cs typeface="Helvetica Neue"/>
              </a:defRPr>
            </a:lvl9pPr>
          </a:lstStyle>
          <a:p xmlns:a="http://schemas.openxmlformats.org/drawingml/2006/main">
            <a:pPr algn="l">
              <a:lnSpc>
                <a:spcPct val="112000"/>
              </a:lnSpc>
              <a:buNone/>
              <a:defRPr sz="4425" b="1">
                <a:solidFill>
                  <a:srgbClr val="5E7377"/>
                </a:solidFill>
                <a:latin typeface="Helvetica Neue"/>
                <a:ea typeface="Helvetica Neue"/>
                <a:cs typeface="Helvetica Neue"/>
              </a:defRPr>
            </a:pPr>
            <a:r>
              <a:rPr sz="4425" b="1">
                <a:solidFill>
                  <a:srgbClr val="5E7377"/>
                </a:solidFill>
                <a:latin typeface="Helvetica Neue"/>
                <a:ea typeface="Helvetica Neue"/>
                <a:cs typeface="Helvetica Neue"/>
              </a:rPr>
              <a:t>1.248</a:t>
            </a:r>
          </a:p>
        </p:txBody>
      </p:sp>
      <p:sp>
        <p:nvSpPr>
          <p:cNvPr id="7" name="Text Last-value MAE">
            <a:extLst xmlns:a="http://schemas.openxmlformats.org/drawingml/2006/main">
              <a:ext uri="{FF2B5EF4-FFF2-40B4-BE49-F238E27FC236}">
                <a16:creationId xmlns:a16="http://schemas.microsoft.com/office/drawing/2014/main" id="{1F9F86D7-AB02-4169-A24E-1E360ECAE0C3}"/>
              </a:ext>
            </a:extLst>
          </p:cNvPr>
          <p:cNvSpPr>
            <a:spLocks xmlns:a="http://schemas.openxmlformats.org/drawingml/2006/main" noGrp="1"/>
          </p:cNvSpPr>
          <p:nvPr/>
        </p:nvSpPr>
        <p:spPr>
          <a:xfrm xmlns:a="http://schemas.openxmlformats.org/drawingml/2006/main">
            <a:off x="9172575" y="3543300"/>
            <a:ext cx="2362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323A"/>
                </a:solidFill>
                <a:latin typeface="Helvetica Neue"/>
                <a:ea typeface="Helvetica Neue"/>
                <a:cs typeface="Helvetica Neue"/>
              </a:defRPr>
            </a:defPPr>
            <a:lvl1pPr algn="l">
              <a:defRPr sz="1875" b="0">
                <a:solidFill>
                  <a:srgbClr val="12323A"/>
                </a:solidFill>
                <a:latin typeface="Helvetica Neue"/>
                <a:ea typeface="Helvetica Neue"/>
                <a:cs typeface="Helvetica Neue"/>
              </a:defRPr>
            </a:lvl1pPr>
            <a:lvl2pPr algn="l">
              <a:defRPr sz="1875" b="0">
                <a:solidFill>
                  <a:srgbClr val="12323A"/>
                </a:solidFill>
                <a:latin typeface="Helvetica Neue"/>
                <a:ea typeface="Helvetica Neue"/>
                <a:cs typeface="Helvetica Neue"/>
              </a:defRPr>
            </a:lvl2pPr>
            <a:lvl3pPr algn="l">
              <a:defRPr sz="1875" b="0">
                <a:solidFill>
                  <a:srgbClr val="12323A"/>
                </a:solidFill>
                <a:latin typeface="Helvetica Neue"/>
                <a:ea typeface="Helvetica Neue"/>
                <a:cs typeface="Helvetica Neue"/>
              </a:defRPr>
            </a:lvl3pPr>
            <a:lvl4pPr algn="l">
              <a:defRPr sz="1875" b="0">
                <a:solidFill>
                  <a:srgbClr val="12323A"/>
                </a:solidFill>
                <a:latin typeface="Helvetica Neue"/>
                <a:ea typeface="Helvetica Neue"/>
                <a:cs typeface="Helvetica Neue"/>
              </a:defRPr>
            </a:lvl4pPr>
            <a:lvl5pPr algn="l">
              <a:defRPr sz="1875" b="0">
                <a:solidFill>
                  <a:srgbClr val="12323A"/>
                </a:solidFill>
                <a:latin typeface="Helvetica Neue"/>
                <a:ea typeface="Helvetica Neue"/>
                <a:cs typeface="Helvetica Neue"/>
              </a:defRPr>
            </a:lvl5pPr>
            <a:lvl6pPr algn="l">
              <a:defRPr sz="1875" b="0">
                <a:solidFill>
                  <a:srgbClr val="12323A"/>
                </a:solidFill>
                <a:latin typeface="Helvetica Neue"/>
                <a:ea typeface="Helvetica Neue"/>
                <a:cs typeface="Helvetica Neue"/>
              </a:defRPr>
            </a:lvl6pPr>
            <a:lvl7pPr algn="l">
              <a:defRPr sz="1875" b="0">
                <a:solidFill>
                  <a:srgbClr val="12323A"/>
                </a:solidFill>
                <a:latin typeface="Helvetica Neue"/>
                <a:ea typeface="Helvetica Neue"/>
                <a:cs typeface="Helvetica Neue"/>
              </a:defRPr>
            </a:lvl7pPr>
            <a:lvl8pPr algn="l">
              <a:defRPr sz="1875" b="0">
                <a:solidFill>
                  <a:srgbClr val="12323A"/>
                </a:solidFill>
                <a:latin typeface="Helvetica Neue"/>
                <a:ea typeface="Helvetica Neue"/>
                <a:cs typeface="Helvetica Neue"/>
              </a:defRPr>
            </a:lvl8pPr>
            <a:lvl9pPr algn="l">
              <a:defRPr sz="1875" b="0">
                <a:solidFill>
                  <a:srgbClr val="12323A"/>
                </a:solidFill>
                <a:latin typeface="Helvetica Neue"/>
                <a:ea typeface="Helvetica Neue"/>
                <a:cs typeface="Helvetica Neue"/>
              </a:defRPr>
            </a:lvl9pPr>
          </a:lstStyle>
          <a:p xmlns:a="http://schemas.openxmlformats.org/drawingml/2006/main">
            <a:pPr algn="l">
              <a:lnSpc>
                <a:spcPct val="112000"/>
              </a:lnSpc>
              <a:buNone/>
              <a:defRPr sz="1875" b="0">
                <a:solidFill>
                  <a:srgbClr val="12323A"/>
                </a:solidFill>
                <a:latin typeface="Helvetica Neue"/>
                <a:ea typeface="Helvetica Neue"/>
                <a:cs typeface="Helvetica Neue"/>
              </a:defRPr>
            </a:pPr>
            <a:r>
              <a:rPr sz="1875" b="0">
                <a:solidFill>
                  <a:srgbClr val="12323A"/>
                </a:solidFill>
                <a:latin typeface="Helvetica Neue"/>
                <a:ea typeface="Helvetica Neue"/>
                <a:cs typeface="Helvetica Neue"/>
              </a:rPr>
              <a:t>Last-value MAE</a:t>
            </a:r>
          </a:p>
        </p:txBody>
      </p:sp>
      <p:sp>
        <p:nvSpPr>
          <p:cNvPr id="8" name="Text 1.187">
            <a:extLst xmlns:a="http://schemas.openxmlformats.org/drawingml/2006/main">
              <a:ext uri="{FF2B5EF4-FFF2-40B4-BE49-F238E27FC236}">
                <a16:creationId xmlns:a16="http://schemas.microsoft.com/office/drawing/2014/main" id="{4933FEBD-F1FD-440F-99F8-0C4544E41250}"/>
              </a:ext>
            </a:extLst>
          </p:cNvPr>
          <p:cNvSpPr>
            <a:spLocks xmlns:a="http://schemas.openxmlformats.org/drawingml/2006/main" noGrp="1"/>
          </p:cNvSpPr>
          <p:nvPr/>
        </p:nvSpPr>
        <p:spPr>
          <a:xfrm xmlns:a="http://schemas.openxmlformats.org/drawingml/2006/main">
            <a:off x="9134475" y="4333875"/>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5B82A0"/>
                </a:solidFill>
                <a:latin typeface="Helvetica Neue"/>
                <a:ea typeface="Helvetica Neue"/>
                <a:cs typeface="Helvetica Neue"/>
              </a:defRPr>
            </a:defPPr>
            <a:lvl1pPr algn="l">
              <a:defRPr sz="4425" b="1">
                <a:solidFill>
                  <a:srgbClr val="5B82A0"/>
                </a:solidFill>
                <a:latin typeface="Helvetica Neue"/>
                <a:ea typeface="Helvetica Neue"/>
                <a:cs typeface="Helvetica Neue"/>
              </a:defRPr>
            </a:lvl1pPr>
            <a:lvl2pPr algn="l">
              <a:defRPr sz="4425" b="1">
                <a:solidFill>
                  <a:srgbClr val="5B82A0"/>
                </a:solidFill>
                <a:latin typeface="Helvetica Neue"/>
                <a:ea typeface="Helvetica Neue"/>
                <a:cs typeface="Helvetica Neue"/>
              </a:defRPr>
            </a:lvl2pPr>
            <a:lvl3pPr algn="l">
              <a:defRPr sz="4425" b="1">
                <a:solidFill>
                  <a:srgbClr val="5B82A0"/>
                </a:solidFill>
                <a:latin typeface="Helvetica Neue"/>
                <a:ea typeface="Helvetica Neue"/>
                <a:cs typeface="Helvetica Neue"/>
              </a:defRPr>
            </a:lvl3pPr>
            <a:lvl4pPr algn="l">
              <a:defRPr sz="4425" b="1">
                <a:solidFill>
                  <a:srgbClr val="5B82A0"/>
                </a:solidFill>
                <a:latin typeface="Helvetica Neue"/>
                <a:ea typeface="Helvetica Neue"/>
                <a:cs typeface="Helvetica Neue"/>
              </a:defRPr>
            </a:lvl4pPr>
            <a:lvl5pPr algn="l">
              <a:defRPr sz="4425" b="1">
                <a:solidFill>
                  <a:srgbClr val="5B82A0"/>
                </a:solidFill>
                <a:latin typeface="Helvetica Neue"/>
                <a:ea typeface="Helvetica Neue"/>
                <a:cs typeface="Helvetica Neue"/>
              </a:defRPr>
            </a:lvl5pPr>
            <a:lvl6pPr algn="l">
              <a:defRPr sz="4425" b="1">
                <a:solidFill>
                  <a:srgbClr val="5B82A0"/>
                </a:solidFill>
                <a:latin typeface="Helvetica Neue"/>
                <a:ea typeface="Helvetica Neue"/>
                <a:cs typeface="Helvetica Neue"/>
              </a:defRPr>
            </a:lvl6pPr>
            <a:lvl7pPr algn="l">
              <a:defRPr sz="4425" b="1">
                <a:solidFill>
                  <a:srgbClr val="5B82A0"/>
                </a:solidFill>
                <a:latin typeface="Helvetica Neue"/>
                <a:ea typeface="Helvetica Neue"/>
                <a:cs typeface="Helvetica Neue"/>
              </a:defRPr>
            </a:lvl7pPr>
            <a:lvl8pPr algn="l">
              <a:defRPr sz="4425" b="1">
                <a:solidFill>
                  <a:srgbClr val="5B82A0"/>
                </a:solidFill>
                <a:latin typeface="Helvetica Neue"/>
                <a:ea typeface="Helvetica Neue"/>
                <a:cs typeface="Helvetica Neue"/>
              </a:defRPr>
            </a:lvl8pPr>
            <a:lvl9pPr algn="l">
              <a:defRPr sz="4425" b="1">
                <a:solidFill>
                  <a:srgbClr val="5B82A0"/>
                </a:solidFill>
                <a:latin typeface="Helvetica Neue"/>
                <a:ea typeface="Helvetica Neue"/>
                <a:cs typeface="Helvetica Neue"/>
              </a:defRPr>
            </a:lvl9pPr>
          </a:lstStyle>
          <a:p xmlns:a="http://schemas.openxmlformats.org/drawingml/2006/main">
            <a:pPr algn="l">
              <a:lnSpc>
                <a:spcPct val="112000"/>
              </a:lnSpc>
              <a:buNone/>
              <a:defRPr sz="4425" b="1">
                <a:solidFill>
                  <a:srgbClr val="5B82A0"/>
                </a:solidFill>
                <a:latin typeface="Helvetica Neue"/>
                <a:ea typeface="Helvetica Neue"/>
                <a:cs typeface="Helvetica Neue"/>
              </a:defRPr>
            </a:pPr>
            <a:r>
              <a:rPr sz="4425" b="1">
                <a:solidFill>
                  <a:srgbClr val="5B82A0"/>
                </a:solidFill>
                <a:latin typeface="Helvetica Neue"/>
                <a:ea typeface="Helvetica Neue"/>
                <a:cs typeface="Helvetica Neue"/>
              </a:rPr>
              <a:t>1.187</a:t>
            </a:r>
          </a:p>
        </p:txBody>
      </p:sp>
      <p:sp>
        <p:nvSpPr>
          <p:cNvPr id="9" name="Text Weekly-naive MAE">
            <a:extLst xmlns:a="http://schemas.openxmlformats.org/drawingml/2006/main">
              <a:ext uri="{FF2B5EF4-FFF2-40B4-BE49-F238E27FC236}">
                <a16:creationId xmlns:a16="http://schemas.microsoft.com/office/drawing/2014/main" id="{893043B9-4515-4692-9BDD-A5E62B5F52D2}"/>
              </a:ext>
            </a:extLst>
          </p:cNvPr>
          <p:cNvSpPr>
            <a:spLocks xmlns:a="http://schemas.openxmlformats.org/drawingml/2006/main" noGrp="1"/>
          </p:cNvSpPr>
          <p:nvPr/>
        </p:nvSpPr>
        <p:spPr>
          <a:xfrm xmlns:a="http://schemas.openxmlformats.org/drawingml/2006/main">
            <a:off x="9172575" y="5172075"/>
            <a:ext cx="2362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323A"/>
                </a:solidFill>
                <a:latin typeface="Helvetica Neue"/>
                <a:ea typeface="Helvetica Neue"/>
                <a:cs typeface="Helvetica Neue"/>
              </a:defRPr>
            </a:defPPr>
            <a:lvl1pPr algn="l">
              <a:defRPr sz="1875" b="0">
                <a:solidFill>
                  <a:srgbClr val="12323A"/>
                </a:solidFill>
                <a:latin typeface="Helvetica Neue"/>
                <a:ea typeface="Helvetica Neue"/>
                <a:cs typeface="Helvetica Neue"/>
              </a:defRPr>
            </a:lvl1pPr>
            <a:lvl2pPr algn="l">
              <a:defRPr sz="1875" b="0">
                <a:solidFill>
                  <a:srgbClr val="12323A"/>
                </a:solidFill>
                <a:latin typeface="Helvetica Neue"/>
                <a:ea typeface="Helvetica Neue"/>
                <a:cs typeface="Helvetica Neue"/>
              </a:defRPr>
            </a:lvl2pPr>
            <a:lvl3pPr algn="l">
              <a:defRPr sz="1875" b="0">
                <a:solidFill>
                  <a:srgbClr val="12323A"/>
                </a:solidFill>
                <a:latin typeface="Helvetica Neue"/>
                <a:ea typeface="Helvetica Neue"/>
                <a:cs typeface="Helvetica Neue"/>
              </a:defRPr>
            </a:lvl3pPr>
            <a:lvl4pPr algn="l">
              <a:defRPr sz="1875" b="0">
                <a:solidFill>
                  <a:srgbClr val="12323A"/>
                </a:solidFill>
                <a:latin typeface="Helvetica Neue"/>
                <a:ea typeface="Helvetica Neue"/>
                <a:cs typeface="Helvetica Neue"/>
              </a:defRPr>
            </a:lvl4pPr>
            <a:lvl5pPr algn="l">
              <a:defRPr sz="1875" b="0">
                <a:solidFill>
                  <a:srgbClr val="12323A"/>
                </a:solidFill>
                <a:latin typeface="Helvetica Neue"/>
                <a:ea typeface="Helvetica Neue"/>
                <a:cs typeface="Helvetica Neue"/>
              </a:defRPr>
            </a:lvl5pPr>
            <a:lvl6pPr algn="l">
              <a:defRPr sz="1875" b="0">
                <a:solidFill>
                  <a:srgbClr val="12323A"/>
                </a:solidFill>
                <a:latin typeface="Helvetica Neue"/>
                <a:ea typeface="Helvetica Neue"/>
                <a:cs typeface="Helvetica Neue"/>
              </a:defRPr>
            </a:lvl6pPr>
            <a:lvl7pPr algn="l">
              <a:defRPr sz="1875" b="0">
                <a:solidFill>
                  <a:srgbClr val="12323A"/>
                </a:solidFill>
                <a:latin typeface="Helvetica Neue"/>
                <a:ea typeface="Helvetica Neue"/>
                <a:cs typeface="Helvetica Neue"/>
              </a:defRPr>
            </a:lvl7pPr>
            <a:lvl8pPr algn="l">
              <a:defRPr sz="1875" b="0">
                <a:solidFill>
                  <a:srgbClr val="12323A"/>
                </a:solidFill>
                <a:latin typeface="Helvetica Neue"/>
                <a:ea typeface="Helvetica Neue"/>
                <a:cs typeface="Helvetica Neue"/>
              </a:defRPr>
            </a:lvl8pPr>
            <a:lvl9pPr algn="l">
              <a:defRPr sz="1875" b="0">
                <a:solidFill>
                  <a:srgbClr val="12323A"/>
                </a:solidFill>
                <a:latin typeface="Helvetica Neue"/>
                <a:ea typeface="Helvetica Neue"/>
                <a:cs typeface="Helvetica Neue"/>
              </a:defRPr>
            </a:lvl9pPr>
          </a:lstStyle>
          <a:p xmlns:a="http://schemas.openxmlformats.org/drawingml/2006/main">
            <a:pPr algn="l">
              <a:lnSpc>
                <a:spcPct val="112000"/>
              </a:lnSpc>
              <a:buNone/>
              <a:defRPr sz="1875" b="0">
                <a:solidFill>
                  <a:srgbClr val="12323A"/>
                </a:solidFill>
                <a:latin typeface="Helvetica Neue"/>
                <a:ea typeface="Helvetica Neue"/>
                <a:cs typeface="Helvetica Neue"/>
              </a:defRPr>
            </a:pPr>
            <a:r>
              <a:rPr sz="1875" b="0">
                <a:solidFill>
                  <a:srgbClr val="12323A"/>
                </a:solidFill>
                <a:latin typeface="Helvetica Neue"/>
                <a:ea typeface="Helvetica Neue"/>
                <a:cs typeface="Helvetica Neue"/>
              </a:rPr>
              <a:t>Weekly-naive MAE</a:t>
            </a:r>
          </a:p>
        </p:txBody>
      </p:sp>
      <p:sp>
        <p:nvSpPr>
          <p:cNvPr id="10" name="Text Example: FOODS_3_194__WI_2, origin d_1801. MAE poo">
            <a:extLst xmlns:a="http://schemas.openxmlformats.org/drawingml/2006/main">
              <a:ext uri="{FF2B5EF4-FFF2-40B4-BE49-F238E27FC236}">
                <a16:creationId xmlns:a16="http://schemas.microsoft.com/office/drawing/2014/main" id="{43EE1BF4-360E-4662-A1CB-3E544459DAE5}"/>
              </a:ext>
            </a:extLst>
          </p:cNvPr>
          <p:cNvSpPr>
            <a:spLocks xmlns:a="http://schemas.openxmlformats.org/drawingml/2006/main" noGrp="1"/>
          </p:cNvSpPr>
          <p:nvPr/>
        </p:nvSpPr>
        <p:spPr>
          <a:xfrm xmlns:a="http://schemas.openxmlformats.org/drawingml/2006/main">
            <a:off x="628650" y="60483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E7377"/>
                </a:solidFill>
                <a:latin typeface="Helvetica Neue"/>
                <a:ea typeface="Helvetica Neue"/>
                <a:cs typeface="Helvetica Neue"/>
              </a:defRPr>
            </a:defPPr>
            <a:lvl1pPr algn="l">
              <a:defRPr sz="1425" b="0">
                <a:solidFill>
                  <a:srgbClr val="5E7377"/>
                </a:solidFill>
                <a:latin typeface="Helvetica Neue"/>
                <a:ea typeface="Helvetica Neue"/>
                <a:cs typeface="Helvetica Neue"/>
              </a:defRPr>
            </a:lvl1pPr>
            <a:lvl2pPr algn="l">
              <a:defRPr sz="1425" b="0">
                <a:solidFill>
                  <a:srgbClr val="5E7377"/>
                </a:solidFill>
                <a:latin typeface="Helvetica Neue"/>
                <a:ea typeface="Helvetica Neue"/>
                <a:cs typeface="Helvetica Neue"/>
              </a:defRPr>
            </a:lvl2pPr>
            <a:lvl3pPr algn="l">
              <a:defRPr sz="1425" b="0">
                <a:solidFill>
                  <a:srgbClr val="5E7377"/>
                </a:solidFill>
                <a:latin typeface="Helvetica Neue"/>
                <a:ea typeface="Helvetica Neue"/>
                <a:cs typeface="Helvetica Neue"/>
              </a:defRPr>
            </a:lvl3pPr>
            <a:lvl4pPr algn="l">
              <a:defRPr sz="1425" b="0">
                <a:solidFill>
                  <a:srgbClr val="5E7377"/>
                </a:solidFill>
                <a:latin typeface="Helvetica Neue"/>
                <a:ea typeface="Helvetica Neue"/>
                <a:cs typeface="Helvetica Neue"/>
              </a:defRPr>
            </a:lvl4pPr>
            <a:lvl5pPr algn="l">
              <a:defRPr sz="1425" b="0">
                <a:solidFill>
                  <a:srgbClr val="5E7377"/>
                </a:solidFill>
                <a:latin typeface="Helvetica Neue"/>
                <a:ea typeface="Helvetica Neue"/>
                <a:cs typeface="Helvetica Neue"/>
              </a:defRPr>
            </a:lvl5pPr>
            <a:lvl6pPr algn="l">
              <a:defRPr sz="1425" b="0">
                <a:solidFill>
                  <a:srgbClr val="5E7377"/>
                </a:solidFill>
                <a:latin typeface="Helvetica Neue"/>
                <a:ea typeface="Helvetica Neue"/>
                <a:cs typeface="Helvetica Neue"/>
              </a:defRPr>
            </a:lvl6pPr>
            <a:lvl7pPr algn="l">
              <a:defRPr sz="1425" b="0">
                <a:solidFill>
                  <a:srgbClr val="5E7377"/>
                </a:solidFill>
                <a:latin typeface="Helvetica Neue"/>
                <a:ea typeface="Helvetica Neue"/>
                <a:cs typeface="Helvetica Neue"/>
              </a:defRPr>
            </a:lvl7pPr>
            <a:lvl8pPr algn="l">
              <a:defRPr sz="1425" b="0">
                <a:solidFill>
                  <a:srgbClr val="5E7377"/>
                </a:solidFill>
                <a:latin typeface="Helvetica Neue"/>
                <a:ea typeface="Helvetica Neue"/>
                <a:cs typeface="Helvetica Neue"/>
              </a:defRPr>
            </a:lvl8pPr>
            <a:lvl9pPr algn="l">
              <a:defRPr sz="1425" b="0">
                <a:solidFill>
                  <a:srgbClr val="5E7377"/>
                </a:solidFill>
                <a:latin typeface="Helvetica Neue"/>
                <a:ea typeface="Helvetica Neue"/>
                <a:cs typeface="Helvetica Neue"/>
              </a:defRPr>
            </a:lvl9pPr>
          </a:lstStyle>
          <a:p xmlns:a="http://schemas.openxmlformats.org/drawingml/2006/main">
            <a:pPr algn="l">
              <a:lnSpc>
                <a:spcPct val="112000"/>
              </a:lnSpc>
              <a:buNone/>
              <a:defRPr sz="1425" b="0">
                <a:solidFill>
                  <a:srgbClr val="5E7377"/>
                </a:solidFill>
                <a:latin typeface="Helvetica Neue"/>
                <a:ea typeface="Helvetica Neue"/>
                <a:cs typeface="Helvetica Neue"/>
              </a:defRPr>
            </a:pPr>
            <a:r>
              <a:rPr sz="1425" b="0">
                <a:solidFill>
                  <a:srgbClr val="5E7377"/>
                </a:solidFill>
                <a:latin typeface="Helvetica Neue"/>
                <a:ea typeface="Helvetica Neue"/>
                <a:cs typeface="Helvetica Neue"/>
              </a:rPr>
              <a:t>Example: FOODS_3_194__WI_2, origin d_1801. MAE pools all products and windows.</a:t>
            </a:r>
          </a:p>
        </p:txBody>
      </p:sp>
    </p:spTree>
    <p:extLst>
      <p:ext uri="{BB962C8B-B14F-4D97-AF65-F5344CB8AC3E}">
        <p14:creationId xmlns:p14="http://schemas.microsoft.com/office/powerpoint/2010/main" val="2083593896"/>
      </p:ext>
    </p:extLst>
  </p:cSld>
</p:sld>
</file>

<file path=ppt/slides/slide4.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1" name="Text MILESTONE 6 / ONE-PRODUCT KALMAN">
            <a:extLst xmlns:a="http://schemas.openxmlformats.org/drawingml/2006/main">
              <a:ext uri="{FF2B5EF4-FFF2-40B4-BE49-F238E27FC236}">
                <a16:creationId xmlns:a16="http://schemas.microsoft.com/office/drawing/2014/main" id="{1BD7DEDC-4898-447F-B342-81CCBF0714DF}"/>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MILESTONE 6 / ONE-PRODUCT KALMAN</a:t>
            </a:r>
          </a:p>
        </p:txBody>
      </p:sp>
      <p:sp>
        <p:nvSpPr>
          <p:cNvPr id="2" name="Text Kalman filtering follows a changing sales level">
            <a:extLst xmlns:a="http://schemas.openxmlformats.org/drawingml/2006/main">
              <a:ext uri="{FF2B5EF4-FFF2-40B4-BE49-F238E27FC236}">
                <a16:creationId xmlns:a16="http://schemas.microsoft.com/office/drawing/2014/main" id="{F6A5C8A5-A538-4C7D-A5BC-C8A9EB536699}"/>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Kalman filtering follows a changing sales level</a:t>
            </a:r>
          </a:p>
        </p:txBody>
      </p:sp>
      <p:sp>
        <p:nvSpPr>
          <p:cNvPr id="3" name="Text New sales adjust the level. Further-away days carr">
            <a:extLst xmlns:a="http://schemas.openxmlformats.org/drawingml/2006/main">
              <a:ext uri="{FF2B5EF4-FFF2-40B4-BE49-F238E27FC236}">
                <a16:creationId xmlns:a16="http://schemas.microsoft.com/office/drawing/2014/main" id="{19761EAF-C76C-4C6A-8851-3DDCFFA2607A}"/>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New sales adjust the level. Further-away days carry more uncertainty</a:t>
            </a:r>
          </a:p>
        </p:txBody>
      </p:sp>
      <p:sp>
        <p:nvSpPr>
          <p:cNvPr id="4" name="Text 04">
            <a:extLst xmlns:a="http://schemas.openxmlformats.org/drawingml/2006/main">
              <a:ext uri="{FF2B5EF4-FFF2-40B4-BE49-F238E27FC236}">
                <a16:creationId xmlns:a16="http://schemas.microsoft.com/office/drawing/2014/main" id="{C903EA49-0D38-4096-B9AD-502BB678D958}"/>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04</a:t>
            </a:r>
          </a:p>
        </p:txBody>
      </p:sp>
      <p:sp>
        <p:nvSpPr>
          <p:cNvPr id="5" name="Text History through 03 Jan 2016">
            <a:extLst xmlns:a="http://schemas.openxmlformats.org/drawingml/2006/main">
              <a:ext uri="{FF2B5EF4-FFF2-40B4-BE49-F238E27FC236}">
                <a16:creationId xmlns:a16="http://schemas.microsoft.com/office/drawing/2014/main" id="{89F3AA6C-3F4D-4A4D-BD9F-0D7375F47F5F}"/>
              </a:ext>
            </a:extLst>
          </p:cNvPr>
          <p:cNvSpPr>
            <a:spLocks xmlns:a="http://schemas.openxmlformats.org/drawingml/2006/main" noGrp="1"/>
          </p:cNvSpPr>
          <p:nvPr/>
        </p:nvSpPr>
        <p:spPr>
          <a:xfrm xmlns:a="http://schemas.openxmlformats.org/drawingml/2006/main">
            <a:off x="685800" y="239077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07D79"/>
                </a:solidFill>
                <a:latin typeface="Helvetica Neue"/>
                <a:ea typeface="Helvetica Neue"/>
                <a:cs typeface="Helvetica Neue"/>
              </a:defRPr>
            </a:defPPr>
            <a:lvl1pPr algn="l">
              <a:defRPr sz="1875" b="1">
                <a:solidFill>
                  <a:srgbClr val="107D79"/>
                </a:solidFill>
                <a:latin typeface="Helvetica Neue"/>
                <a:ea typeface="Helvetica Neue"/>
                <a:cs typeface="Helvetica Neue"/>
              </a:defRPr>
            </a:lvl1pPr>
            <a:lvl2pPr algn="l">
              <a:defRPr sz="1875" b="1">
                <a:solidFill>
                  <a:srgbClr val="107D79"/>
                </a:solidFill>
                <a:latin typeface="Helvetica Neue"/>
                <a:ea typeface="Helvetica Neue"/>
                <a:cs typeface="Helvetica Neue"/>
              </a:defRPr>
            </a:lvl2pPr>
            <a:lvl3pPr algn="l">
              <a:defRPr sz="1875" b="1">
                <a:solidFill>
                  <a:srgbClr val="107D79"/>
                </a:solidFill>
                <a:latin typeface="Helvetica Neue"/>
                <a:ea typeface="Helvetica Neue"/>
                <a:cs typeface="Helvetica Neue"/>
              </a:defRPr>
            </a:lvl3pPr>
            <a:lvl4pPr algn="l">
              <a:defRPr sz="1875" b="1">
                <a:solidFill>
                  <a:srgbClr val="107D79"/>
                </a:solidFill>
                <a:latin typeface="Helvetica Neue"/>
                <a:ea typeface="Helvetica Neue"/>
                <a:cs typeface="Helvetica Neue"/>
              </a:defRPr>
            </a:lvl4pPr>
            <a:lvl5pPr algn="l">
              <a:defRPr sz="1875" b="1">
                <a:solidFill>
                  <a:srgbClr val="107D79"/>
                </a:solidFill>
                <a:latin typeface="Helvetica Neue"/>
                <a:ea typeface="Helvetica Neue"/>
                <a:cs typeface="Helvetica Neue"/>
              </a:defRPr>
            </a:lvl5pPr>
            <a:lvl6pPr algn="l">
              <a:defRPr sz="1875" b="1">
                <a:solidFill>
                  <a:srgbClr val="107D79"/>
                </a:solidFill>
                <a:latin typeface="Helvetica Neue"/>
                <a:ea typeface="Helvetica Neue"/>
                <a:cs typeface="Helvetica Neue"/>
              </a:defRPr>
            </a:lvl6pPr>
            <a:lvl7pPr algn="l">
              <a:defRPr sz="1875" b="1">
                <a:solidFill>
                  <a:srgbClr val="107D79"/>
                </a:solidFill>
                <a:latin typeface="Helvetica Neue"/>
                <a:ea typeface="Helvetica Neue"/>
                <a:cs typeface="Helvetica Neue"/>
              </a:defRPr>
            </a:lvl7pPr>
            <a:lvl8pPr algn="l">
              <a:defRPr sz="1875" b="1">
                <a:solidFill>
                  <a:srgbClr val="107D79"/>
                </a:solidFill>
                <a:latin typeface="Helvetica Neue"/>
                <a:ea typeface="Helvetica Neue"/>
                <a:cs typeface="Helvetica Neue"/>
              </a:defRPr>
            </a:lvl8pPr>
            <a:lvl9pPr algn="l">
              <a:defRPr sz="1875" b="1">
                <a:solidFill>
                  <a:srgbClr val="107D79"/>
                </a:solidFill>
                <a:latin typeface="Helvetica Neue"/>
                <a:ea typeface="Helvetica Neue"/>
                <a:cs typeface="Helvetica Neue"/>
              </a:defRPr>
            </a:lvl9pPr>
          </a:lstStyle>
          <a:p xmlns:a="http://schemas.openxmlformats.org/drawingml/2006/main">
            <a:pPr algn="l">
              <a:lnSpc>
                <a:spcPct val="112000"/>
              </a:lnSpc>
              <a:buNone/>
              <a:defRPr sz="1875" b="1">
                <a:solidFill>
                  <a:srgbClr val="107D79"/>
                </a:solidFill>
                <a:latin typeface="Helvetica Neue"/>
                <a:ea typeface="Helvetica Neue"/>
                <a:cs typeface="Helvetica Neue"/>
              </a:defRPr>
            </a:pPr>
            <a:r>
              <a:rPr sz="1875" b="1">
                <a:solidFill>
                  <a:srgbClr val="107D79"/>
                </a:solidFill>
                <a:latin typeface="Helvetica Neue"/>
                <a:ea typeface="Helvetica Neue"/>
                <a:cs typeface="Helvetica Neue"/>
              </a:rPr>
              <a:t>History through 03 Jan 2016</a:t>
            </a:r>
          </a:p>
        </p:txBody>
      </p:sp>
      <p:sp>
        <p:nvSpPr>
          <p:cNvPr id="6" name="Text Next 28 days">
            <a:extLst xmlns:a="http://schemas.openxmlformats.org/drawingml/2006/main">
              <a:ext uri="{FF2B5EF4-FFF2-40B4-BE49-F238E27FC236}">
                <a16:creationId xmlns:a16="http://schemas.microsoft.com/office/drawing/2014/main" id="{E8CB104F-E19C-4A70-8C58-7463704FC4F2}"/>
              </a:ext>
            </a:extLst>
          </p:cNvPr>
          <p:cNvSpPr>
            <a:spLocks xmlns:a="http://schemas.openxmlformats.org/drawingml/2006/main" noGrp="1"/>
          </p:cNvSpPr>
          <p:nvPr/>
        </p:nvSpPr>
        <p:spPr>
          <a:xfrm xmlns:a="http://schemas.openxmlformats.org/drawingml/2006/main">
            <a:off x="8134350" y="23907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CC713F"/>
                </a:solidFill>
                <a:latin typeface="Helvetica Neue"/>
                <a:ea typeface="Helvetica Neue"/>
                <a:cs typeface="Helvetica Neue"/>
              </a:defRPr>
            </a:defPPr>
            <a:lvl1pPr algn="l">
              <a:defRPr sz="1875" b="1">
                <a:solidFill>
                  <a:srgbClr val="CC713F"/>
                </a:solidFill>
                <a:latin typeface="Helvetica Neue"/>
                <a:ea typeface="Helvetica Neue"/>
                <a:cs typeface="Helvetica Neue"/>
              </a:defRPr>
            </a:lvl1pPr>
            <a:lvl2pPr algn="l">
              <a:defRPr sz="1875" b="1">
                <a:solidFill>
                  <a:srgbClr val="CC713F"/>
                </a:solidFill>
                <a:latin typeface="Helvetica Neue"/>
                <a:ea typeface="Helvetica Neue"/>
                <a:cs typeface="Helvetica Neue"/>
              </a:defRPr>
            </a:lvl2pPr>
            <a:lvl3pPr algn="l">
              <a:defRPr sz="1875" b="1">
                <a:solidFill>
                  <a:srgbClr val="CC713F"/>
                </a:solidFill>
                <a:latin typeface="Helvetica Neue"/>
                <a:ea typeface="Helvetica Neue"/>
                <a:cs typeface="Helvetica Neue"/>
              </a:defRPr>
            </a:lvl3pPr>
            <a:lvl4pPr algn="l">
              <a:defRPr sz="1875" b="1">
                <a:solidFill>
                  <a:srgbClr val="CC713F"/>
                </a:solidFill>
                <a:latin typeface="Helvetica Neue"/>
                <a:ea typeface="Helvetica Neue"/>
                <a:cs typeface="Helvetica Neue"/>
              </a:defRPr>
            </a:lvl4pPr>
            <a:lvl5pPr algn="l">
              <a:defRPr sz="1875" b="1">
                <a:solidFill>
                  <a:srgbClr val="CC713F"/>
                </a:solidFill>
                <a:latin typeface="Helvetica Neue"/>
                <a:ea typeface="Helvetica Neue"/>
                <a:cs typeface="Helvetica Neue"/>
              </a:defRPr>
            </a:lvl5pPr>
            <a:lvl6pPr algn="l">
              <a:defRPr sz="1875" b="1">
                <a:solidFill>
                  <a:srgbClr val="CC713F"/>
                </a:solidFill>
                <a:latin typeface="Helvetica Neue"/>
                <a:ea typeface="Helvetica Neue"/>
                <a:cs typeface="Helvetica Neue"/>
              </a:defRPr>
            </a:lvl6pPr>
            <a:lvl7pPr algn="l">
              <a:defRPr sz="1875" b="1">
                <a:solidFill>
                  <a:srgbClr val="CC713F"/>
                </a:solidFill>
                <a:latin typeface="Helvetica Neue"/>
                <a:ea typeface="Helvetica Neue"/>
                <a:cs typeface="Helvetica Neue"/>
              </a:defRPr>
            </a:lvl7pPr>
            <a:lvl8pPr algn="l">
              <a:defRPr sz="1875" b="1">
                <a:solidFill>
                  <a:srgbClr val="CC713F"/>
                </a:solidFill>
                <a:latin typeface="Helvetica Neue"/>
                <a:ea typeface="Helvetica Neue"/>
                <a:cs typeface="Helvetica Neue"/>
              </a:defRPr>
            </a:lvl8pPr>
            <a:lvl9pPr algn="l">
              <a:defRPr sz="1875" b="1">
                <a:solidFill>
                  <a:srgbClr val="CC713F"/>
                </a:solidFill>
                <a:latin typeface="Helvetica Neue"/>
                <a:ea typeface="Helvetica Neue"/>
                <a:cs typeface="Helvetica Neue"/>
              </a:defRPr>
            </a:lvl9pPr>
          </a:lstStyle>
          <a:p xmlns:a="http://schemas.openxmlformats.org/drawingml/2006/main">
            <a:pPr algn="l">
              <a:lnSpc>
                <a:spcPct val="112000"/>
              </a:lnSpc>
              <a:buNone/>
              <a:defRPr sz="1875" b="1">
                <a:solidFill>
                  <a:srgbClr val="CC713F"/>
                </a:solidFill>
                <a:latin typeface="Helvetica Neue"/>
                <a:ea typeface="Helvetica Neue"/>
                <a:cs typeface="Helvetica Neue"/>
              </a:defRPr>
            </a:pPr>
            <a:r>
              <a:rPr sz="1875" b="1">
                <a:solidFill>
                  <a:srgbClr val="CC713F"/>
                </a:solidFill>
                <a:latin typeface="Helvetica Neue"/>
                <a:ea typeface="Helvetica Neue"/>
                <a:cs typeface="Helvetica Neue"/>
              </a:rPr>
              <a:t>Next 28 days</a:t>
            </a:r>
          </a:p>
        </p:txBody>
      </p:sp>
      <p:graphicFrame>
        <p:nvGraphicFramePr>
          <p:cNvPr id="7" name="Chart">
            <a:extLst xmlns:a="http://schemas.openxmlformats.org/drawingml/2006/main">
              <a:ext uri="{FF2B5EF4-FFF2-40B4-BE49-F238E27FC236}">
                <a16:creationId xmlns:a16="http://schemas.microsoft.com/office/drawing/2014/main" id="{EF7ECADD-E672-4341-9BB2-5BA757F7677F}"/>
              </a:ext>
            </a:extLst>
          </p:cNvPr>
          <p:cNvGraphicFramePr/>
          <p:nvPr/>
        </p:nvGraphicFramePr>
        <p:xfrm>
          <a:off xmlns:a="http://schemas.openxmlformats.org/drawingml/2006/main" x="628650" y="2876550"/>
          <a:ext xmlns:a="http://schemas.openxmlformats.org/drawingml/2006/main" cx="6953250" cy="2790825"/>
        </p:xfrm>
        <a:graphic xmlns:a="http://schemas.openxmlformats.org/drawingml/2006/main">
          <a:graphicData uri="http://schemas.openxmlformats.org/drawingml/2006/chart">
            <c:chart xmlns:r="http://schemas.openxmlformats.org/officeDocument/2006/relationships" xmlns:c="http://schemas.openxmlformats.org/drawingml/2006/chart" r:id="Rdd06f5f84bdf47db"/>
          </a:graphicData>
        </a:graphic>
      </p:graphicFrame>
      <p:graphicFrame>
        <p:nvGraphicFramePr>
          <p:cNvPr id="8" name="Chart">
            <a:extLst xmlns:a="http://schemas.openxmlformats.org/drawingml/2006/main">
              <a:ext uri="{FF2B5EF4-FFF2-40B4-BE49-F238E27FC236}">
                <a16:creationId xmlns:a16="http://schemas.microsoft.com/office/drawing/2014/main" id="{286123F4-6CF8-499B-B7E0-DC041F44B501}"/>
              </a:ext>
            </a:extLst>
          </p:cNvPr>
          <p:cNvGraphicFramePr/>
          <p:nvPr/>
        </p:nvGraphicFramePr>
        <p:xfrm>
          <a:off xmlns:a="http://schemas.openxmlformats.org/drawingml/2006/main" x="7896225" y="2876550"/>
          <a:ext xmlns:a="http://schemas.openxmlformats.org/drawingml/2006/main" cx="3667125" cy="2790825"/>
        </p:xfrm>
        <a:graphic xmlns:a="http://schemas.openxmlformats.org/drawingml/2006/main">
          <a:graphicData uri="http://schemas.openxmlformats.org/drawingml/2006/chart">
            <c:chart xmlns:r="http://schemas.openxmlformats.org/officeDocument/2006/relationships" xmlns:c="http://schemas.openxmlformats.org/drawingml/2006/chart" r:id="R361b4442cac34d8c"/>
          </a:graphicData>
        </a:graphic>
      </p:graphicFrame>
      <p:sp>
        <p:nvSpPr>
          <p:cNvPr id="9" name="Text New estimate = old estimate + gain × today’s surpr">
            <a:extLst xmlns:a="http://schemas.openxmlformats.org/drawingml/2006/main">
              <a:ext uri="{FF2B5EF4-FFF2-40B4-BE49-F238E27FC236}">
                <a16:creationId xmlns:a16="http://schemas.microsoft.com/office/drawing/2014/main" id="{200630B4-5055-4FF8-BB28-39A87D3CE3C0}"/>
              </a:ext>
            </a:extLst>
          </p:cNvPr>
          <p:cNvSpPr>
            <a:spLocks xmlns:a="http://schemas.openxmlformats.org/drawingml/2006/main" noGrp="1"/>
          </p:cNvSpPr>
          <p:nvPr/>
        </p:nvSpPr>
        <p:spPr>
          <a:xfrm xmlns:a="http://schemas.openxmlformats.org/drawingml/2006/main">
            <a:off x="666750" y="5819775"/>
            <a:ext cx="10839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07D79"/>
                </a:solidFill>
                <a:latin typeface="Helvetica Neue"/>
                <a:ea typeface="Helvetica Neue"/>
                <a:cs typeface="Helvetica Neue"/>
              </a:defRPr>
            </a:defPPr>
            <a:lvl1pPr algn="l">
              <a:defRPr sz="1875" b="0">
                <a:solidFill>
                  <a:srgbClr val="107D79"/>
                </a:solidFill>
                <a:latin typeface="Helvetica Neue"/>
                <a:ea typeface="Helvetica Neue"/>
                <a:cs typeface="Helvetica Neue"/>
              </a:defRPr>
            </a:lvl1pPr>
            <a:lvl2pPr algn="l">
              <a:defRPr sz="1875" b="0">
                <a:solidFill>
                  <a:srgbClr val="107D79"/>
                </a:solidFill>
                <a:latin typeface="Helvetica Neue"/>
                <a:ea typeface="Helvetica Neue"/>
                <a:cs typeface="Helvetica Neue"/>
              </a:defRPr>
            </a:lvl2pPr>
            <a:lvl3pPr algn="l">
              <a:defRPr sz="1875" b="0">
                <a:solidFill>
                  <a:srgbClr val="107D79"/>
                </a:solidFill>
                <a:latin typeface="Helvetica Neue"/>
                <a:ea typeface="Helvetica Neue"/>
                <a:cs typeface="Helvetica Neue"/>
              </a:defRPr>
            </a:lvl3pPr>
            <a:lvl4pPr algn="l">
              <a:defRPr sz="1875" b="0">
                <a:solidFill>
                  <a:srgbClr val="107D79"/>
                </a:solidFill>
                <a:latin typeface="Helvetica Neue"/>
                <a:ea typeface="Helvetica Neue"/>
                <a:cs typeface="Helvetica Neue"/>
              </a:defRPr>
            </a:lvl4pPr>
            <a:lvl5pPr algn="l">
              <a:defRPr sz="1875" b="0">
                <a:solidFill>
                  <a:srgbClr val="107D79"/>
                </a:solidFill>
                <a:latin typeface="Helvetica Neue"/>
                <a:ea typeface="Helvetica Neue"/>
                <a:cs typeface="Helvetica Neue"/>
              </a:defRPr>
            </a:lvl5pPr>
            <a:lvl6pPr algn="l">
              <a:defRPr sz="1875" b="0">
                <a:solidFill>
                  <a:srgbClr val="107D79"/>
                </a:solidFill>
                <a:latin typeface="Helvetica Neue"/>
                <a:ea typeface="Helvetica Neue"/>
                <a:cs typeface="Helvetica Neue"/>
              </a:defRPr>
            </a:lvl6pPr>
            <a:lvl7pPr algn="l">
              <a:defRPr sz="1875" b="0">
                <a:solidFill>
                  <a:srgbClr val="107D79"/>
                </a:solidFill>
                <a:latin typeface="Helvetica Neue"/>
                <a:ea typeface="Helvetica Neue"/>
                <a:cs typeface="Helvetica Neue"/>
              </a:defRPr>
            </a:lvl7pPr>
            <a:lvl8pPr algn="l">
              <a:defRPr sz="1875" b="0">
                <a:solidFill>
                  <a:srgbClr val="107D79"/>
                </a:solidFill>
                <a:latin typeface="Helvetica Neue"/>
                <a:ea typeface="Helvetica Neue"/>
                <a:cs typeface="Helvetica Neue"/>
              </a:defRPr>
            </a:lvl8pPr>
            <a:lvl9pPr algn="l">
              <a:defRPr sz="1875" b="0">
                <a:solidFill>
                  <a:srgbClr val="107D79"/>
                </a:solidFill>
                <a:latin typeface="Helvetica Neue"/>
                <a:ea typeface="Helvetica Neue"/>
                <a:cs typeface="Helvetica Neue"/>
              </a:defRPr>
            </a:lvl9pPr>
          </a:lstStyle>
          <a:p xmlns:a="http://schemas.openxmlformats.org/drawingml/2006/main">
            <a:pPr>
              <a:defRPr sz="1725">
                <a:solidFill>
                  <a:srgbClr val="107D79"/>
                </a:solidFill>
                <a:latin typeface="Helvetica Neue"/>
              </a:defRPr>
            </a:pPr>
            <a:r>
              <a:t>New estimate = old estimate + gain × today’s surprise  ·  Parameters (Q, R) fitted via MLE</a:t>
            </a:r>
          </a:p>
        </p:txBody>
      </p:sp>
      <p:sp>
        <p:nvSpPr>
          <p:cNvPr id="10" name="Text Missing observations skip the update. The local-le">
            <a:extLst xmlns:a="http://schemas.openxmlformats.org/drawingml/2006/main">
              <a:ext uri="{FF2B5EF4-FFF2-40B4-BE49-F238E27FC236}">
                <a16:creationId xmlns:a16="http://schemas.microsoft.com/office/drawing/2014/main" id="{4367C0AA-3846-4DCF-86BD-9003C7590854}"/>
              </a:ext>
            </a:extLst>
          </p:cNvPr>
          <p:cNvSpPr>
            <a:spLocks xmlns:a="http://schemas.openxmlformats.org/drawingml/2006/main" noGrp="1"/>
          </p:cNvSpPr>
          <p:nvPr/>
        </p:nvSpPr>
        <p:spPr>
          <a:xfrm xmlns:a="http://schemas.openxmlformats.org/drawingml/2006/main">
            <a:off x="628650" y="62484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E7377"/>
                </a:solidFill>
                <a:latin typeface="Helvetica Neue"/>
                <a:ea typeface="Helvetica Neue"/>
                <a:cs typeface="Helvetica Neue"/>
              </a:defRPr>
            </a:defPPr>
            <a:lvl1pPr algn="l">
              <a:defRPr sz="1425" b="0">
                <a:solidFill>
                  <a:srgbClr val="5E7377"/>
                </a:solidFill>
                <a:latin typeface="Helvetica Neue"/>
                <a:ea typeface="Helvetica Neue"/>
                <a:cs typeface="Helvetica Neue"/>
              </a:defRPr>
            </a:lvl1pPr>
            <a:lvl2pPr algn="l">
              <a:defRPr sz="1425" b="0">
                <a:solidFill>
                  <a:srgbClr val="5E7377"/>
                </a:solidFill>
                <a:latin typeface="Helvetica Neue"/>
                <a:ea typeface="Helvetica Neue"/>
                <a:cs typeface="Helvetica Neue"/>
              </a:defRPr>
            </a:lvl2pPr>
            <a:lvl3pPr algn="l">
              <a:defRPr sz="1425" b="0">
                <a:solidFill>
                  <a:srgbClr val="5E7377"/>
                </a:solidFill>
                <a:latin typeface="Helvetica Neue"/>
                <a:ea typeface="Helvetica Neue"/>
                <a:cs typeface="Helvetica Neue"/>
              </a:defRPr>
            </a:lvl3pPr>
            <a:lvl4pPr algn="l">
              <a:defRPr sz="1425" b="0">
                <a:solidFill>
                  <a:srgbClr val="5E7377"/>
                </a:solidFill>
                <a:latin typeface="Helvetica Neue"/>
                <a:ea typeface="Helvetica Neue"/>
                <a:cs typeface="Helvetica Neue"/>
              </a:defRPr>
            </a:lvl4pPr>
            <a:lvl5pPr algn="l">
              <a:defRPr sz="1425" b="0">
                <a:solidFill>
                  <a:srgbClr val="5E7377"/>
                </a:solidFill>
                <a:latin typeface="Helvetica Neue"/>
                <a:ea typeface="Helvetica Neue"/>
                <a:cs typeface="Helvetica Neue"/>
              </a:defRPr>
            </a:lvl5pPr>
            <a:lvl6pPr algn="l">
              <a:defRPr sz="1425" b="0">
                <a:solidFill>
                  <a:srgbClr val="5E7377"/>
                </a:solidFill>
                <a:latin typeface="Helvetica Neue"/>
                <a:ea typeface="Helvetica Neue"/>
                <a:cs typeface="Helvetica Neue"/>
              </a:defRPr>
            </a:lvl6pPr>
            <a:lvl7pPr algn="l">
              <a:defRPr sz="1425" b="0">
                <a:solidFill>
                  <a:srgbClr val="5E7377"/>
                </a:solidFill>
                <a:latin typeface="Helvetica Neue"/>
                <a:ea typeface="Helvetica Neue"/>
                <a:cs typeface="Helvetica Neue"/>
              </a:defRPr>
            </a:lvl7pPr>
            <a:lvl8pPr algn="l">
              <a:defRPr sz="1425" b="0">
                <a:solidFill>
                  <a:srgbClr val="5E7377"/>
                </a:solidFill>
                <a:latin typeface="Helvetica Neue"/>
                <a:ea typeface="Helvetica Neue"/>
                <a:cs typeface="Helvetica Neue"/>
              </a:defRPr>
            </a:lvl8pPr>
            <a:lvl9pPr algn="l">
              <a:defRPr sz="1425" b="0">
                <a:solidFill>
                  <a:srgbClr val="5E7377"/>
                </a:solidFill>
                <a:latin typeface="Helvetica Neue"/>
                <a:ea typeface="Helvetica Neue"/>
                <a:cs typeface="Helvetica Neue"/>
              </a:defRPr>
            </a:lvl9pPr>
          </a:lstStyle>
          <a:p xmlns:a="http://schemas.openxmlformats.org/drawingml/2006/main">
            <a:pPr>
              <a:defRPr sz="1425">
                <a:solidFill>
                  <a:srgbClr val="5E7377"/>
                </a:solidFill>
                <a:latin typeface="Helvetica Neue"/>
              </a:defRPr>
            </a:pPr>
            <a:r>
              <a:t>Model: y_t = μ_t + ε_t (obs noise R),  μ_t = μ_{t-1} + η_t (process noise Q)  ·  81.1% coverage of 80% range</a:t>
            </a:r>
          </a:p>
        </p:txBody>
      </p:sp>
    </p:spTree>
    <p:extLst>
      <p:ext uri="{BB962C8B-B14F-4D97-AF65-F5344CB8AC3E}">
        <p14:creationId xmlns:p14="http://schemas.microsoft.com/office/powerpoint/2010/main" val="615243680"/>
      </p:ext>
    </p:extLst>
  </p:cSld>
</p:sld>
</file>

<file path=ppt/slides/slide5.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1" name="Text MILESTONE 7 / ALL SELECTED SERIES">
            <a:extLst xmlns:a="http://schemas.openxmlformats.org/drawingml/2006/main">
              <a:ext uri="{FF2B5EF4-FFF2-40B4-BE49-F238E27FC236}">
                <a16:creationId xmlns:a16="http://schemas.microsoft.com/office/drawing/2014/main" id="{0551F0F8-86DD-4230-876D-2AD4C70E139F}"/>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MILESTONE 7 / ALL SELECTED SERIES</a:t>
            </a:r>
          </a:p>
        </p:txBody>
      </p:sp>
      <p:sp>
        <p:nvSpPr>
          <p:cNvPr id="2" name="Text Weekly states help independent Kalman models">
            <a:extLst xmlns:a="http://schemas.openxmlformats.org/drawingml/2006/main">
              <a:ext uri="{FF2B5EF4-FFF2-40B4-BE49-F238E27FC236}">
                <a16:creationId xmlns:a16="http://schemas.microsoft.com/office/drawing/2014/main" id="{BF4D6DB8-4EF6-4660-B68E-A3272E3B9AF0}"/>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Weekly states help independent Kalman models</a:t>
            </a:r>
          </a:p>
        </p:txBody>
      </p:sp>
      <p:sp>
        <p:nvSpPr>
          <p:cNvPr id="3" name="Text Each product learns its own parameters. Extra tren">
            <a:extLst xmlns:a="http://schemas.openxmlformats.org/drawingml/2006/main">
              <a:ext uri="{FF2B5EF4-FFF2-40B4-BE49-F238E27FC236}">
                <a16:creationId xmlns:a16="http://schemas.microsoft.com/office/drawing/2014/main" id="{7A2B12E0-2EF2-4D55-91B2-D1BA5A9E6844}"/>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Each product learns its own parameters. Extra trend complexity does not win</a:t>
            </a:r>
          </a:p>
        </p:txBody>
      </p:sp>
      <p:sp>
        <p:nvSpPr>
          <p:cNvPr id="4" name="Text 05">
            <a:extLst xmlns:a="http://schemas.openxmlformats.org/drawingml/2006/main">
              <a:ext uri="{FF2B5EF4-FFF2-40B4-BE49-F238E27FC236}">
                <a16:creationId xmlns:a16="http://schemas.microsoft.com/office/drawing/2014/main" id="{F0271AE7-559D-4D53-B275-0203718C6523}"/>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05</a:t>
            </a:r>
          </a:p>
        </p:txBody>
      </p:sp>
      <p:graphicFrame>
        <p:nvGraphicFramePr>
          <p:cNvPr id="5" name="Chart">
            <a:extLst xmlns:a="http://schemas.openxmlformats.org/drawingml/2006/main">
              <a:ext uri="{FF2B5EF4-FFF2-40B4-BE49-F238E27FC236}">
                <a16:creationId xmlns:a16="http://schemas.microsoft.com/office/drawing/2014/main" id="{81874939-DC16-4A97-BFC6-B4EC46E19455}"/>
              </a:ext>
            </a:extLst>
          </p:cNvPr>
          <p:cNvGraphicFramePr/>
          <p:nvPr/>
        </p:nvGraphicFramePr>
        <p:xfrm>
          <a:off xmlns:a="http://schemas.openxmlformats.org/drawingml/2006/main" x="628650" y="2571750"/>
          <a:ext xmlns:a="http://schemas.openxmlformats.org/drawingml/2006/main" cx="7524750" cy="3209925"/>
        </p:xfrm>
        <a:graphic xmlns:a="http://schemas.openxmlformats.org/drawingml/2006/main">
          <a:graphicData uri="http://schemas.openxmlformats.org/drawingml/2006/chart">
            <c:chart xmlns:r="http://schemas.openxmlformats.org/officeDocument/2006/relationships" xmlns:c="http://schemas.openxmlformats.org/drawingml/2006/chart" r:id="Rcd86ebd7e4f44540"/>
          </a:graphicData>
        </a:graphic>
      </p:graphicFrame>
      <p:sp>
        <p:nvSpPr>
          <p:cNvPr id="6" name="Text 82.86%">
            <a:extLst xmlns:a="http://schemas.openxmlformats.org/drawingml/2006/main">
              <a:ext uri="{FF2B5EF4-FFF2-40B4-BE49-F238E27FC236}">
                <a16:creationId xmlns:a16="http://schemas.microsoft.com/office/drawing/2014/main" id="{97D5117B-5AAD-436E-A937-53FAEC1DA147}"/>
              </a:ext>
            </a:extLst>
          </p:cNvPr>
          <p:cNvSpPr>
            <a:spLocks xmlns:a="http://schemas.openxmlformats.org/drawingml/2006/main" noGrp="1"/>
          </p:cNvSpPr>
          <p:nvPr/>
        </p:nvSpPr>
        <p:spPr>
          <a:xfrm xmlns:a="http://schemas.openxmlformats.org/drawingml/2006/main">
            <a:off x="8753475" y="2667000"/>
            <a:ext cx="27813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07D79"/>
                </a:solidFill>
                <a:latin typeface="Helvetica Neue"/>
                <a:ea typeface="Helvetica Neue"/>
                <a:cs typeface="Helvetica Neue"/>
              </a:defRPr>
            </a:defPPr>
            <a:lvl1pPr algn="l">
              <a:defRPr sz="4650" b="1">
                <a:solidFill>
                  <a:srgbClr val="107D79"/>
                </a:solidFill>
                <a:latin typeface="Helvetica Neue"/>
                <a:ea typeface="Helvetica Neue"/>
                <a:cs typeface="Helvetica Neue"/>
              </a:defRPr>
            </a:lvl1pPr>
            <a:lvl2pPr algn="l">
              <a:defRPr sz="4650" b="1">
                <a:solidFill>
                  <a:srgbClr val="107D79"/>
                </a:solidFill>
                <a:latin typeface="Helvetica Neue"/>
                <a:ea typeface="Helvetica Neue"/>
                <a:cs typeface="Helvetica Neue"/>
              </a:defRPr>
            </a:lvl2pPr>
            <a:lvl3pPr algn="l">
              <a:defRPr sz="4650" b="1">
                <a:solidFill>
                  <a:srgbClr val="107D79"/>
                </a:solidFill>
                <a:latin typeface="Helvetica Neue"/>
                <a:ea typeface="Helvetica Neue"/>
                <a:cs typeface="Helvetica Neue"/>
              </a:defRPr>
            </a:lvl3pPr>
            <a:lvl4pPr algn="l">
              <a:defRPr sz="4650" b="1">
                <a:solidFill>
                  <a:srgbClr val="107D79"/>
                </a:solidFill>
                <a:latin typeface="Helvetica Neue"/>
                <a:ea typeface="Helvetica Neue"/>
                <a:cs typeface="Helvetica Neue"/>
              </a:defRPr>
            </a:lvl4pPr>
            <a:lvl5pPr algn="l">
              <a:defRPr sz="4650" b="1">
                <a:solidFill>
                  <a:srgbClr val="107D79"/>
                </a:solidFill>
                <a:latin typeface="Helvetica Neue"/>
                <a:ea typeface="Helvetica Neue"/>
                <a:cs typeface="Helvetica Neue"/>
              </a:defRPr>
            </a:lvl5pPr>
            <a:lvl6pPr algn="l">
              <a:defRPr sz="4650" b="1">
                <a:solidFill>
                  <a:srgbClr val="107D79"/>
                </a:solidFill>
                <a:latin typeface="Helvetica Neue"/>
                <a:ea typeface="Helvetica Neue"/>
                <a:cs typeface="Helvetica Neue"/>
              </a:defRPr>
            </a:lvl6pPr>
            <a:lvl7pPr algn="l">
              <a:defRPr sz="4650" b="1">
                <a:solidFill>
                  <a:srgbClr val="107D79"/>
                </a:solidFill>
                <a:latin typeface="Helvetica Neue"/>
                <a:ea typeface="Helvetica Neue"/>
                <a:cs typeface="Helvetica Neue"/>
              </a:defRPr>
            </a:lvl7pPr>
            <a:lvl8pPr algn="l">
              <a:defRPr sz="4650" b="1">
                <a:solidFill>
                  <a:srgbClr val="107D79"/>
                </a:solidFill>
                <a:latin typeface="Helvetica Neue"/>
                <a:ea typeface="Helvetica Neue"/>
                <a:cs typeface="Helvetica Neue"/>
              </a:defRPr>
            </a:lvl8pPr>
            <a:lvl9pPr algn="l">
              <a:defRPr sz="4650" b="1">
                <a:solidFill>
                  <a:srgbClr val="107D79"/>
                </a:solidFill>
                <a:latin typeface="Helvetica Neue"/>
                <a:ea typeface="Helvetica Neue"/>
                <a:cs typeface="Helvetica Neue"/>
              </a:defRPr>
            </a:lvl9pPr>
          </a:lstStyle>
          <a:p xmlns:a="http://schemas.openxmlformats.org/drawingml/2006/main">
            <a:pPr algn="l">
              <a:lnSpc>
                <a:spcPct val="112000"/>
              </a:lnSpc>
              <a:buNone/>
              <a:defRPr sz="4650" b="1">
                <a:solidFill>
                  <a:srgbClr val="107D79"/>
                </a:solidFill>
                <a:latin typeface="Helvetica Neue"/>
                <a:ea typeface="Helvetica Neue"/>
                <a:cs typeface="Helvetica Neue"/>
              </a:defRPr>
            </a:pPr>
            <a:r>
              <a:rPr sz="4650" b="1">
                <a:solidFill>
                  <a:srgbClr val="107D79"/>
                </a:solidFill>
                <a:latin typeface="Helvetica Neue"/>
                <a:ea typeface="Helvetica Neue"/>
                <a:cs typeface="Helvetica Neue"/>
              </a:rPr>
              <a:t>82.86%</a:t>
            </a:r>
          </a:p>
        </p:txBody>
      </p:sp>
      <p:sp>
        <p:nvSpPr>
          <p:cNvPr id="7" name="Text Best Kalman WAPE&#10;Level + weekly states">
            <a:extLst xmlns:a="http://schemas.openxmlformats.org/drawingml/2006/main">
              <a:ext uri="{FF2B5EF4-FFF2-40B4-BE49-F238E27FC236}">
                <a16:creationId xmlns:a16="http://schemas.microsoft.com/office/drawing/2014/main" id="{C7E8E35B-280A-4397-8535-533F42C13913}"/>
              </a:ext>
            </a:extLst>
          </p:cNvPr>
          <p:cNvSpPr>
            <a:spLocks xmlns:a="http://schemas.openxmlformats.org/drawingml/2006/main" noGrp="1"/>
          </p:cNvSpPr>
          <p:nvPr/>
        </p:nvSpPr>
        <p:spPr>
          <a:xfrm xmlns:a="http://schemas.openxmlformats.org/drawingml/2006/main">
            <a:off x="8782050" y="3543300"/>
            <a:ext cx="2743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323A"/>
                </a:solidFill>
                <a:latin typeface="Helvetica Neue"/>
                <a:ea typeface="Helvetica Neue"/>
                <a:cs typeface="Helvetica Neue"/>
              </a:defRPr>
            </a:defPPr>
            <a:lvl1pPr algn="l">
              <a:defRPr sz="1950" b="0">
                <a:solidFill>
                  <a:srgbClr val="12323A"/>
                </a:solidFill>
                <a:latin typeface="Helvetica Neue"/>
                <a:ea typeface="Helvetica Neue"/>
                <a:cs typeface="Helvetica Neue"/>
              </a:defRPr>
            </a:lvl1pPr>
            <a:lvl2pPr algn="l">
              <a:defRPr sz="1950" b="0">
                <a:solidFill>
                  <a:srgbClr val="12323A"/>
                </a:solidFill>
                <a:latin typeface="Helvetica Neue"/>
                <a:ea typeface="Helvetica Neue"/>
                <a:cs typeface="Helvetica Neue"/>
              </a:defRPr>
            </a:lvl2pPr>
            <a:lvl3pPr algn="l">
              <a:defRPr sz="1950" b="0">
                <a:solidFill>
                  <a:srgbClr val="12323A"/>
                </a:solidFill>
                <a:latin typeface="Helvetica Neue"/>
                <a:ea typeface="Helvetica Neue"/>
                <a:cs typeface="Helvetica Neue"/>
              </a:defRPr>
            </a:lvl3pPr>
            <a:lvl4pPr algn="l">
              <a:defRPr sz="1950" b="0">
                <a:solidFill>
                  <a:srgbClr val="12323A"/>
                </a:solidFill>
                <a:latin typeface="Helvetica Neue"/>
                <a:ea typeface="Helvetica Neue"/>
                <a:cs typeface="Helvetica Neue"/>
              </a:defRPr>
            </a:lvl4pPr>
            <a:lvl5pPr algn="l">
              <a:defRPr sz="1950" b="0">
                <a:solidFill>
                  <a:srgbClr val="12323A"/>
                </a:solidFill>
                <a:latin typeface="Helvetica Neue"/>
                <a:ea typeface="Helvetica Neue"/>
                <a:cs typeface="Helvetica Neue"/>
              </a:defRPr>
            </a:lvl5pPr>
            <a:lvl6pPr algn="l">
              <a:defRPr sz="1950" b="0">
                <a:solidFill>
                  <a:srgbClr val="12323A"/>
                </a:solidFill>
                <a:latin typeface="Helvetica Neue"/>
                <a:ea typeface="Helvetica Neue"/>
                <a:cs typeface="Helvetica Neue"/>
              </a:defRPr>
            </a:lvl6pPr>
            <a:lvl7pPr algn="l">
              <a:defRPr sz="1950" b="0">
                <a:solidFill>
                  <a:srgbClr val="12323A"/>
                </a:solidFill>
                <a:latin typeface="Helvetica Neue"/>
                <a:ea typeface="Helvetica Neue"/>
                <a:cs typeface="Helvetica Neue"/>
              </a:defRPr>
            </a:lvl7pPr>
            <a:lvl8pPr algn="l">
              <a:defRPr sz="1950" b="0">
                <a:solidFill>
                  <a:srgbClr val="12323A"/>
                </a:solidFill>
                <a:latin typeface="Helvetica Neue"/>
                <a:ea typeface="Helvetica Neue"/>
                <a:cs typeface="Helvetica Neue"/>
              </a:defRPr>
            </a:lvl8pPr>
            <a:lvl9pPr algn="l">
              <a:defRPr sz="1950" b="0">
                <a:solidFill>
                  <a:srgbClr val="12323A"/>
                </a:solidFill>
                <a:latin typeface="Helvetica Neue"/>
                <a:ea typeface="Helvetica Neue"/>
                <a:cs typeface="Helvetica Neue"/>
              </a:defRPr>
            </a:lvl9pPr>
          </a:lstStyle>
          <a:p xmlns:a="http://schemas.openxmlformats.org/drawingml/2006/main">
            <a:pPr algn="l">
              <a:lnSpc>
                <a:spcPct val="112000"/>
              </a:lnSpc>
              <a:buNone/>
              <a:defRPr sz="1950" b="0">
                <a:solidFill>
                  <a:srgbClr val="12323A"/>
                </a:solidFill>
                <a:latin typeface="Helvetica Neue"/>
                <a:ea typeface="Helvetica Neue"/>
                <a:cs typeface="Helvetica Neue"/>
              </a:defRPr>
            </a:pPr>
            <a:r>
              <a:rPr sz="1950" b="0">
                <a:solidFill>
                  <a:srgbClr val="12323A"/>
                </a:solidFill>
                <a:latin typeface="Helvetica Neue"/>
                <a:ea typeface="Helvetica Neue"/>
                <a:cs typeface="Helvetica Neue"/>
              </a:rPr>
              <a:t>Best Kalman WAPE</a:t>
            </a:r>
          </a:p>
          <a:p xmlns:a="http://schemas.openxmlformats.org/drawingml/2006/main">
            <a:pPr algn="l">
              <a:lnSpc>
                <a:spcPct val="112000"/>
              </a:lnSpc>
              <a:buNone/>
              <a:defRPr sz="1950" b="0">
                <a:solidFill>
                  <a:srgbClr val="12323A"/>
                </a:solidFill>
                <a:latin typeface="Helvetica Neue"/>
                <a:ea typeface="Helvetica Neue"/>
                <a:cs typeface="Helvetica Neue"/>
              </a:defRPr>
            </a:pPr>
            <a:r>
              <a:rPr sz="1950" b="0">
                <a:solidFill>
                  <a:srgbClr val="12323A"/>
                </a:solidFill>
                <a:latin typeface="Helvetica Neue"/>
                <a:ea typeface="Helvetica Neue"/>
                <a:cs typeface="Helvetica Neue"/>
              </a:rPr>
              <a:t>Level + weekly states</a:t>
            </a:r>
          </a:p>
        </p:txBody>
      </p:sp>
      <p:sp>
        <p:nvSpPr>
          <p:cNvPr id="8" name="Text 85.7%">
            <a:extLst xmlns:a="http://schemas.openxmlformats.org/drawingml/2006/main">
              <a:ext uri="{FF2B5EF4-FFF2-40B4-BE49-F238E27FC236}">
                <a16:creationId xmlns:a16="http://schemas.microsoft.com/office/drawing/2014/main" id="{2C7ED7A7-B2A6-4E12-AD44-152F390FDE78}"/>
              </a:ext>
            </a:extLst>
          </p:cNvPr>
          <p:cNvSpPr>
            <a:spLocks xmlns:a="http://schemas.openxmlformats.org/drawingml/2006/main" noGrp="1"/>
          </p:cNvSpPr>
          <p:nvPr/>
        </p:nvSpPr>
        <p:spPr>
          <a:xfrm xmlns:a="http://schemas.openxmlformats.org/drawingml/2006/main">
            <a:off x="8753475" y="4629150"/>
            <a:ext cx="2781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CC713F"/>
                </a:solidFill>
                <a:latin typeface="Helvetica Neue"/>
                <a:ea typeface="Helvetica Neue"/>
                <a:cs typeface="Helvetica Neue"/>
              </a:defRPr>
            </a:defPPr>
            <a:lvl1pPr algn="l">
              <a:defRPr sz="4125" b="1">
                <a:solidFill>
                  <a:srgbClr val="CC713F"/>
                </a:solidFill>
                <a:latin typeface="Helvetica Neue"/>
                <a:ea typeface="Helvetica Neue"/>
                <a:cs typeface="Helvetica Neue"/>
              </a:defRPr>
            </a:lvl1pPr>
            <a:lvl2pPr algn="l">
              <a:defRPr sz="4125" b="1">
                <a:solidFill>
                  <a:srgbClr val="CC713F"/>
                </a:solidFill>
                <a:latin typeface="Helvetica Neue"/>
                <a:ea typeface="Helvetica Neue"/>
                <a:cs typeface="Helvetica Neue"/>
              </a:defRPr>
            </a:lvl2pPr>
            <a:lvl3pPr algn="l">
              <a:defRPr sz="4125" b="1">
                <a:solidFill>
                  <a:srgbClr val="CC713F"/>
                </a:solidFill>
                <a:latin typeface="Helvetica Neue"/>
                <a:ea typeface="Helvetica Neue"/>
                <a:cs typeface="Helvetica Neue"/>
              </a:defRPr>
            </a:lvl3pPr>
            <a:lvl4pPr algn="l">
              <a:defRPr sz="4125" b="1">
                <a:solidFill>
                  <a:srgbClr val="CC713F"/>
                </a:solidFill>
                <a:latin typeface="Helvetica Neue"/>
                <a:ea typeface="Helvetica Neue"/>
                <a:cs typeface="Helvetica Neue"/>
              </a:defRPr>
            </a:lvl4pPr>
            <a:lvl5pPr algn="l">
              <a:defRPr sz="4125" b="1">
                <a:solidFill>
                  <a:srgbClr val="CC713F"/>
                </a:solidFill>
                <a:latin typeface="Helvetica Neue"/>
                <a:ea typeface="Helvetica Neue"/>
                <a:cs typeface="Helvetica Neue"/>
              </a:defRPr>
            </a:lvl5pPr>
            <a:lvl6pPr algn="l">
              <a:defRPr sz="4125" b="1">
                <a:solidFill>
                  <a:srgbClr val="CC713F"/>
                </a:solidFill>
                <a:latin typeface="Helvetica Neue"/>
                <a:ea typeface="Helvetica Neue"/>
                <a:cs typeface="Helvetica Neue"/>
              </a:defRPr>
            </a:lvl6pPr>
            <a:lvl7pPr algn="l">
              <a:defRPr sz="4125" b="1">
                <a:solidFill>
                  <a:srgbClr val="CC713F"/>
                </a:solidFill>
                <a:latin typeface="Helvetica Neue"/>
                <a:ea typeface="Helvetica Neue"/>
                <a:cs typeface="Helvetica Neue"/>
              </a:defRPr>
            </a:lvl7pPr>
            <a:lvl8pPr algn="l">
              <a:defRPr sz="4125" b="1">
                <a:solidFill>
                  <a:srgbClr val="CC713F"/>
                </a:solidFill>
                <a:latin typeface="Helvetica Neue"/>
                <a:ea typeface="Helvetica Neue"/>
                <a:cs typeface="Helvetica Neue"/>
              </a:defRPr>
            </a:lvl8pPr>
            <a:lvl9pPr algn="l">
              <a:defRPr sz="4125" b="1">
                <a:solidFill>
                  <a:srgbClr val="CC713F"/>
                </a:solidFill>
                <a:latin typeface="Helvetica Neue"/>
                <a:ea typeface="Helvetica Neue"/>
                <a:cs typeface="Helvetica Neue"/>
              </a:defRPr>
            </a:lvl9pPr>
          </a:lstStyle>
          <a:p xmlns:a="http://schemas.openxmlformats.org/drawingml/2006/main">
            <a:pPr algn="l">
              <a:lnSpc>
                <a:spcPct val="112000"/>
              </a:lnSpc>
              <a:buNone/>
              <a:defRPr sz="4125" b="1">
                <a:solidFill>
                  <a:srgbClr val="CC713F"/>
                </a:solidFill>
                <a:latin typeface="Helvetica Neue"/>
                <a:ea typeface="Helvetica Neue"/>
                <a:cs typeface="Helvetica Neue"/>
              </a:defRPr>
            </a:pPr>
            <a:r>
              <a:rPr sz="4125" b="1">
                <a:solidFill>
                  <a:srgbClr val="CC713F"/>
                </a:solidFill>
                <a:latin typeface="Helvetica Neue"/>
                <a:ea typeface="Helvetica Neue"/>
                <a:cs typeface="Helvetica Neue"/>
              </a:rPr>
              <a:t>85.7%</a:t>
            </a:r>
          </a:p>
        </p:txBody>
      </p:sp>
      <p:sp>
        <p:nvSpPr>
          <p:cNvPr id="9" name="Text Coverage of its&#10;nominal 80% range">
            <a:extLst xmlns:a="http://schemas.openxmlformats.org/drawingml/2006/main">
              <a:ext uri="{FF2B5EF4-FFF2-40B4-BE49-F238E27FC236}">
                <a16:creationId xmlns:a16="http://schemas.microsoft.com/office/drawing/2014/main" id="{83E98F25-E5E1-4633-9221-201F638A517E}"/>
              </a:ext>
            </a:extLst>
          </p:cNvPr>
          <p:cNvSpPr>
            <a:spLocks xmlns:a="http://schemas.openxmlformats.org/drawingml/2006/main" noGrp="1"/>
          </p:cNvSpPr>
          <p:nvPr/>
        </p:nvSpPr>
        <p:spPr>
          <a:xfrm xmlns:a="http://schemas.openxmlformats.org/drawingml/2006/main">
            <a:off x="8782050" y="5419725"/>
            <a:ext cx="2743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323A"/>
                </a:solidFill>
                <a:latin typeface="Helvetica Neue"/>
                <a:ea typeface="Helvetica Neue"/>
                <a:cs typeface="Helvetica Neue"/>
              </a:defRPr>
            </a:defPPr>
            <a:lvl1pPr algn="l">
              <a:defRPr sz="1800" b="0">
                <a:solidFill>
                  <a:srgbClr val="12323A"/>
                </a:solidFill>
                <a:latin typeface="Helvetica Neue"/>
                <a:ea typeface="Helvetica Neue"/>
                <a:cs typeface="Helvetica Neue"/>
              </a:defRPr>
            </a:lvl1pPr>
            <a:lvl2pPr algn="l">
              <a:defRPr sz="1800" b="0">
                <a:solidFill>
                  <a:srgbClr val="12323A"/>
                </a:solidFill>
                <a:latin typeface="Helvetica Neue"/>
                <a:ea typeface="Helvetica Neue"/>
                <a:cs typeface="Helvetica Neue"/>
              </a:defRPr>
            </a:lvl2pPr>
            <a:lvl3pPr algn="l">
              <a:defRPr sz="1800" b="0">
                <a:solidFill>
                  <a:srgbClr val="12323A"/>
                </a:solidFill>
                <a:latin typeface="Helvetica Neue"/>
                <a:ea typeface="Helvetica Neue"/>
                <a:cs typeface="Helvetica Neue"/>
              </a:defRPr>
            </a:lvl3pPr>
            <a:lvl4pPr algn="l">
              <a:defRPr sz="1800" b="0">
                <a:solidFill>
                  <a:srgbClr val="12323A"/>
                </a:solidFill>
                <a:latin typeface="Helvetica Neue"/>
                <a:ea typeface="Helvetica Neue"/>
                <a:cs typeface="Helvetica Neue"/>
              </a:defRPr>
            </a:lvl4pPr>
            <a:lvl5pPr algn="l">
              <a:defRPr sz="1800" b="0">
                <a:solidFill>
                  <a:srgbClr val="12323A"/>
                </a:solidFill>
                <a:latin typeface="Helvetica Neue"/>
                <a:ea typeface="Helvetica Neue"/>
                <a:cs typeface="Helvetica Neue"/>
              </a:defRPr>
            </a:lvl5pPr>
            <a:lvl6pPr algn="l">
              <a:defRPr sz="1800" b="0">
                <a:solidFill>
                  <a:srgbClr val="12323A"/>
                </a:solidFill>
                <a:latin typeface="Helvetica Neue"/>
                <a:ea typeface="Helvetica Neue"/>
                <a:cs typeface="Helvetica Neue"/>
              </a:defRPr>
            </a:lvl6pPr>
            <a:lvl7pPr algn="l">
              <a:defRPr sz="1800" b="0">
                <a:solidFill>
                  <a:srgbClr val="12323A"/>
                </a:solidFill>
                <a:latin typeface="Helvetica Neue"/>
                <a:ea typeface="Helvetica Neue"/>
                <a:cs typeface="Helvetica Neue"/>
              </a:defRPr>
            </a:lvl7pPr>
            <a:lvl8pPr algn="l">
              <a:defRPr sz="1800" b="0">
                <a:solidFill>
                  <a:srgbClr val="12323A"/>
                </a:solidFill>
                <a:latin typeface="Helvetica Neue"/>
                <a:ea typeface="Helvetica Neue"/>
                <a:cs typeface="Helvetica Neue"/>
              </a:defRPr>
            </a:lvl8pPr>
            <a:lvl9pPr algn="l">
              <a:defRPr sz="1800" b="0">
                <a:solidFill>
                  <a:srgbClr val="12323A"/>
                </a:solidFill>
                <a:latin typeface="Helvetica Neue"/>
                <a:ea typeface="Helvetica Neue"/>
                <a:cs typeface="Helvetica Neue"/>
              </a:defRPr>
            </a:lvl9pPr>
          </a:lstStyle>
          <a:p xmlns:a="http://schemas.openxmlformats.org/drawingml/2006/main">
            <a:pPr algn="l">
              <a:lnSpc>
                <a:spcPct val="112000"/>
              </a:lnSpc>
              <a:buNone/>
              <a:defRPr sz="1800" b="0">
                <a:solidFill>
                  <a:srgbClr val="12323A"/>
                </a:solidFill>
                <a:latin typeface="Helvetica Neue"/>
                <a:ea typeface="Helvetica Neue"/>
                <a:cs typeface="Helvetica Neue"/>
              </a:defRPr>
            </a:pPr>
            <a:r>
              <a:rPr sz="1800" b="0">
                <a:solidFill>
                  <a:srgbClr val="12323A"/>
                </a:solidFill>
                <a:latin typeface="Helvetica Neue"/>
                <a:ea typeface="Helvetica Neue"/>
                <a:cs typeface="Helvetica Neue"/>
              </a:rPr>
              <a:t>Coverage of its</a:t>
            </a:r>
          </a:p>
          <a:p xmlns:a="http://schemas.openxmlformats.org/drawingml/2006/main">
            <a:pPr algn="l">
              <a:lnSpc>
                <a:spcPct val="112000"/>
              </a:lnSpc>
              <a:buNone/>
              <a:defRPr sz="1800" b="0">
                <a:solidFill>
                  <a:srgbClr val="12323A"/>
                </a:solidFill>
                <a:latin typeface="Helvetica Neue"/>
                <a:ea typeface="Helvetica Neue"/>
                <a:cs typeface="Helvetica Neue"/>
              </a:defRPr>
            </a:pPr>
            <a:r>
              <a:rPr sz="1800" b="0">
                <a:solidFill>
                  <a:srgbClr val="12323A"/>
                </a:solidFill>
                <a:latin typeface="Helvetica Neue"/>
                <a:ea typeface="Helvetica Neue"/>
                <a:cs typeface="Helvetica Neue"/>
              </a:rPr>
              <a:t>nominal 80% range</a:t>
            </a:r>
          </a:p>
        </p:txBody>
      </p:sp>
      <p:sp>
        <p:nvSpPr>
          <p:cNvPr id="10" name="Text Trailing 364-day fits. The intervals are conservat">
            <a:extLst xmlns:a="http://schemas.openxmlformats.org/drawingml/2006/main">
              <a:ext uri="{FF2B5EF4-FFF2-40B4-BE49-F238E27FC236}">
                <a16:creationId xmlns:a16="http://schemas.microsoft.com/office/drawing/2014/main" id="{BD56F565-EBE4-4F51-8CC3-C7504B08CBAC}"/>
              </a:ext>
            </a:extLst>
          </p:cNvPr>
          <p:cNvSpPr>
            <a:spLocks xmlns:a="http://schemas.openxmlformats.org/drawingml/2006/main" noGrp="1"/>
          </p:cNvSpPr>
          <p:nvPr/>
        </p:nvSpPr>
        <p:spPr>
          <a:xfrm xmlns:a="http://schemas.openxmlformats.org/drawingml/2006/main">
            <a:off x="628650" y="60483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E7377"/>
                </a:solidFill>
                <a:latin typeface="Helvetica Neue"/>
                <a:ea typeface="Helvetica Neue"/>
                <a:cs typeface="Helvetica Neue"/>
              </a:defRPr>
            </a:defPPr>
            <a:lvl1pPr algn="l">
              <a:defRPr sz="1425" b="0">
                <a:solidFill>
                  <a:srgbClr val="5E7377"/>
                </a:solidFill>
                <a:latin typeface="Helvetica Neue"/>
                <a:ea typeface="Helvetica Neue"/>
                <a:cs typeface="Helvetica Neue"/>
              </a:defRPr>
            </a:lvl1pPr>
            <a:lvl2pPr algn="l">
              <a:defRPr sz="1425" b="0">
                <a:solidFill>
                  <a:srgbClr val="5E7377"/>
                </a:solidFill>
                <a:latin typeface="Helvetica Neue"/>
                <a:ea typeface="Helvetica Neue"/>
                <a:cs typeface="Helvetica Neue"/>
              </a:defRPr>
            </a:lvl2pPr>
            <a:lvl3pPr algn="l">
              <a:defRPr sz="1425" b="0">
                <a:solidFill>
                  <a:srgbClr val="5E7377"/>
                </a:solidFill>
                <a:latin typeface="Helvetica Neue"/>
                <a:ea typeface="Helvetica Neue"/>
                <a:cs typeface="Helvetica Neue"/>
              </a:defRPr>
            </a:lvl3pPr>
            <a:lvl4pPr algn="l">
              <a:defRPr sz="1425" b="0">
                <a:solidFill>
                  <a:srgbClr val="5E7377"/>
                </a:solidFill>
                <a:latin typeface="Helvetica Neue"/>
                <a:ea typeface="Helvetica Neue"/>
                <a:cs typeface="Helvetica Neue"/>
              </a:defRPr>
            </a:lvl4pPr>
            <a:lvl5pPr algn="l">
              <a:defRPr sz="1425" b="0">
                <a:solidFill>
                  <a:srgbClr val="5E7377"/>
                </a:solidFill>
                <a:latin typeface="Helvetica Neue"/>
                <a:ea typeface="Helvetica Neue"/>
                <a:cs typeface="Helvetica Neue"/>
              </a:defRPr>
            </a:lvl5pPr>
            <a:lvl6pPr algn="l">
              <a:defRPr sz="1425" b="0">
                <a:solidFill>
                  <a:srgbClr val="5E7377"/>
                </a:solidFill>
                <a:latin typeface="Helvetica Neue"/>
                <a:ea typeface="Helvetica Neue"/>
                <a:cs typeface="Helvetica Neue"/>
              </a:defRPr>
            </a:lvl6pPr>
            <a:lvl7pPr algn="l">
              <a:defRPr sz="1425" b="0">
                <a:solidFill>
                  <a:srgbClr val="5E7377"/>
                </a:solidFill>
                <a:latin typeface="Helvetica Neue"/>
                <a:ea typeface="Helvetica Neue"/>
                <a:cs typeface="Helvetica Neue"/>
              </a:defRPr>
            </a:lvl7pPr>
            <a:lvl8pPr algn="l">
              <a:defRPr sz="1425" b="0">
                <a:solidFill>
                  <a:srgbClr val="5E7377"/>
                </a:solidFill>
                <a:latin typeface="Helvetica Neue"/>
                <a:ea typeface="Helvetica Neue"/>
                <a:cs typeface="Helvetica Neue"/>
              </a:defRPr>
            </a:lvl8pPr>
            <a:lvl9pPr algn="l">
              <a:defRPr sz="1425" b="0">
                <a:solidFill>
                  <a:srgbClr val="5E7377"/>
                </a:solidFill>
                <a:latin typeface="Helvetica Neue"/>
                <a:ea typeface="Helvetica Neue"/>
                <a:cs typeface="Helvetica Neue"/>
              </a:defRPr>
            </a:lvl9pPr>
          </a:lstStyle>
          <a:p xmlns:a="http://schemas.openxmlformats.org/drawingml/2006/main">
            <a:pPr algn="l">
              <a:lnSpc>
                <a:spcPct val="112000"/>
              </a:lnSpc>
              <a:buNone/>
              <a:defRPr sz="1425" b="0">
                <a:solidFill>
                  <a:srgbClr val="5E7377"/>
                </a:solidFill>
                <a:latin typeface="Helvetica Neue"/>
                <a:ea typeface="Helvetica Neue"/>
                <a:cs typeface="Helvetica Neue"/>
              </a:defRPr>
            </a:pPr>
            <a:r>
              <a:rPr sz="1425" b="0">
                <a:solidFill>
                  <a:srgbClr val="5E7377"/>
                </a:solidFill>
                <a:latin typeface="Helvetica Neue"/>
                <a:ea typeface="Helvetica Neue"/>
                <a:cs typeface="Helvetica Neue"/>
              </a:rPr>
              <a:t>Trailing 364-day fits. The intervals are conservative on these development targets.</a:t>
            </a:r>
          </a:p>
        </p:txBody>
      </p:sp>
    </p:spTree>
    <p:extLst>
      <p:ext uri="{BB962C8B-B14F-4D97-AF65-F5344CB8AC3E}">
        <p14:creationId xmlns:p14="http://schemas.microsoft.com/office/powerpoint/2010/main" val="1948763992"/>
      </p:ext>
    </p:extLst>
  </p:cSld>
</p:sld>
</file>

<file path=ppt/slides/slide6.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0" name="Text MILESTONE 8 / FEATURE ENGINEERING">
            <a:extLst xmlns:a="http://schemas.openxmlformats.org/drawingml/2006/main">
              <a:ext uri="{FF2B5EF4-FFF2-40B4-BE49-F238E27FC236}">
                <a16:creationId xmlns:a16="http://schemas.microsoft.com/office/drawing/2014/main" id="{426C1323-3904-430D-A70E-036C34C4F598}"/>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MILESTONE 8 / FEATURE ENGINEERING</a:t>
            </a:r>
          </a:p>
        </p:txBody>
      </p:sp>
      <p:sp>
        <p:nvSpPr>
          <p:cNvPr id="2" name="Text Every feature respects the stopping day">
            <a:extLst xmlns:a="http://schemas.openxmlformats.org/drawingml/2006/main">
              <a:ext uri="{FF2B5EF4-FFF2-40B4-BE49-F238E27FC236}">
                <a16:creationId xmlns:a16="http://schemas.microsoft.com/office/drawing/2014/main" id="{CD2F4ED4-00BB-45C3-844A-2397082EB78F}"/>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Every feature respects the stopping day</a:t>
            </a:r>
          </a:p>
        </p:txBody>
      </p:sp>
      <p:sp>
        <p:nvSpPr>
          <p:cNvPr id="3" name="Text 27 predictors combine historical clues, identities">
            <a:extLst xmlns:a="http://schemas.openxmlformats.org/drawingml/2006/main">
              <a:ext uri="{FF2B5EF4-FFF2-40B4-BE49-F238E27FC236}">
                <a16:creationId xmlns:a16="http://schemas.microsoft.com/office/drawing/2014/main" id="{755C9B39-066F-410C-B93F-DC17AE1B86EC}"/>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27 predictors combine historical clues, identities, calendar and days ahead</a:t>
            </a:r>
          </a:p>
        </p:txBody>
      </p:sp>
      <p:sp>
        <p:nvSpPr>
          <p:cNvPr id="4" name="Text 06">
            <a:extLst xmlns:a="http://schemas.openxmlformats.org/drawingml/2006/main">
              <a:ext uri="{FF2B5EF4-FFF2-40B4-BE49-F238E27FC236}">
                <a16:creationId xmlns:a16="http://schemas.microsoft.com/office/drawing/2014/main" id="{4FA108D7-E604-4CA8-B5C2-4D17D9CA0A11}"/>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06</a:t>
            </a:r>
          </a:p>
        </p:txBody>
      </p:sp>
      <p:graphicFrame>
        <p:nvGraphicFramePr>
          <p:cNvPr id="5" name="">
            <a:extLst xmlns:a="http://schemas.openxmlformats.org/drawingml/2006/main">
              <a:ext uri="{FF2B5EF4-FFF2-40B4-BE49-F238E27FC236}">
                <a16:creationId xmlns:a16="http://schemas.microsoft.com/office/drawing/2014/main" id="{27669213-EDE9-4A62-B79C-E44D494CA577}"/>
              </a:ext>
            </a:extLst>
          </p:cNvPr>
          <p:cNvGraphicFramePr/>
          <p:nvPr/>
        </p:nvGraphicFramePr>
        <p:xfrm>
          <a:off xmlns:a="http://schemas.openxmlformats.org/drawingml/2006/main" x="628650" y="2590800"/>
          <a:ext xmlns:a="http://schemas.openxmlformats.org/drawingml/2006/main" cx="10934700" cy="2390775"/>
        </p:xfrm>
        <a:graphic xmlns:a="http://schemas.openxmlformats.org/drawingml/2006/main">
          <a:graphicData uri="http://schemas.openxmlformats.org/drawingml/2006/table">
            <a:tbl>
              <a:tblPr/>
              <a:tblGrid>
                <a:gridCol w="2114550"/>
                <a:gridCol w="1581150"/>
                <a:gridCol w="1581150"/>
                <a:gridCol w="1581150"/>
                <a:gridCol w="1581150"/>
                <a:gridCol w="2495550"/>
              </a:tblGrid>
              <a:tr h="478155">
                <a:tc>
                  <a:txBody>
                    <a:bodyPr wrap="square"/>
                    <a:lstStyle/>
                    <a:p>
                      <a:r>
                        <a:rPr sz="1800" b="1">
                          <a:solidFill>
                            <a:srgbClr val="FFFFFF"/>
                          </a:solidFill>
                          <a:latin typeface="Helvetica Neue"/>
                          <a:ea typeface="Helvetica Neue"/>
                          <a:cs typeface="Helvetica Neue"/>
                        </a:rPr>
                        <a:t>Days ahead</a:t>
                      </a:r>
                    </a:p>
                  </a:txBody>
                  <a:tcPr marL="114300" marR="95250" marT="47625" marB="38100" anchor="ctr">
                    <a:lnL w="6668">
                      <a:solidFill>
                        <a:srgbClr val="D9E1DC"/>
                      </a:solidFill>
                      <a:prstDash val="solid"/>
                    </a:lnL>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800" b="1">
                          <a:solidFill>
                            <a:srgbClr val="FFFFFF"/>
                          </a:solidFill>
                          <a:latin typeface="Helvetica Neue"/>
                          <a:ea typeface="Helvetica Neue"/>
                          <a:cs typeface="Helvetica Neue"/>
                        </a:rPr>
                        <a:t>lag 1</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800" b="1">
                          <a:solidFill>
                            <a:srgbClr val="FFFFFF"/>
                          </a:solidFill>
                          <a:latin typeface="Helvetica Neue"/>
                          <a:ea typeface="Helvetica Neue"/>
                          <a:cs typeface="Helvetica Neue"/>
                        </a:rPr>
                        <a:t>lag 7</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800" b="1">
                          <a:solidFill>
                            <a:srgbClr val="FFFFFF"/>
                          </a:solidFill>
                          <a:latin typeface="Helvetica Neue"/>
                          <a:ea typeface="Helvetica Neue"/>
                          <a:cs typeface="Helvetica Neue"/>
                        </a:rPr>
                        <a:t>lag 14</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800" b="1">
                          <a:solidFill>
                            <a:srgbClr val="FFFFFF"/>
                          </a:solidFill>
                          <a:latin typeface="Helvetica Neue"/>
                          <a:ea typeface="Helvetica Neue"/>
                          <a:cs typeface="Helvetica Neue"/>
                        </a:rPr>
                        <a:t>lag 28</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800" b="1">
                          <a:solidFill>
                            <a:srgbClr val="FFFFFF"/>
                          </a:solidFill>
                          <a:latin typeface="Helvetica Neue"/>
                          <a:ea typeface="Helvetica Neue"/>
                          <a:cs typeface="Helvetica Neue"/>
                        </a:rPr>
                        <a:t>28-day mean</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r>
              <a:tr h="478155">
                <a:tc>
                  <a:txBody>
                    <a:bodyPr wrap="square"/>
                    <a:lstStyle/>
                    <a:p>
                      <a:r>
                        <a:rPr sz="1800" b="0">
                          <a:solidFill>
                            <a:srgbClr val="12323A"/>
                          </a:solidFill>
                          <a:latin typeface="Helvetica Neue"/>
                          <a:ea typeface="Helvetica Neue"/>
                          <a:cs typeface="Helvetica Neue"/>
                        </a:rPr>
                        <a:t>1</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1</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0</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0</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5</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2.71</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478155">
                <a:tc>
                  <a:txBody>
                    <a:bodyPr wrap="square"/>
                    <a:lstStyle/>
                    <a:p>
                      <a:r>
                        <a:rPr sz="1800" b="0">
                          <a:solidFill>
                            <a:srgbClr val="12323A"/>
                          </a:solidFill>
                          <a:latin typeface="Helvetica Neue"/>
                          <a:ea typeface="Helvetica Neue"/>
                          <a:cs typeface="Helvetica Neue"/>
                        </a:rPr>
                        <a:t>7</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Unknown</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0</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0</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2.71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r h="478155">
                <a:tc>
                  <a:txBody>
                    <a:bodyPr wrap="square"/>
                    <a:lstStyle/>
                    <a:p>
                      <a:r>
                        <a:rPr sz="1800" b="0">
                          <a:solidFill>
                            <a:srgbClr val="12323A"/>
                          </a:solidFill>
                          <a:latin typeface="Helvetica Neue"/>
                          <a:ea typeface="Helvetica Neue"/>
                          <a:cs typeface="Helvetica Neue"/>
                        </a:rPr>
                        <a:t>14</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Unknown</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Unknown</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1</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4</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800" b="0">
                          <a:solidFill>
                            <a:srgbClr val="12323A"/>
                          </a:solidFill>
                          <a:latin typeface="Helvetica Neue"/>
                          <a:ea typeface="Helvetica Neue"/>
                          <a:cs typeface="Helvetica Neue"/>
                        </a:rPr>
                        <a:t>2.71</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478155">
                <a:tc>
                  <a:txBody>
                    <a:bodyPr wrap="square"/>
                    <a:lstStyle/>
                    <a:p>
                      <a:r>
                        <a:rPr sz="1800" b="0">
                          <a:solidFill>
                            <a:srgbClr val="12323A"/>
                          </a:solidFill>
                          <a:latin typeface="Helvetica Neue"/>
                          <a:ea typeface="Helvetica Neue"/>
                          <a:cs typeface="Helvetica Neue"/>
                        </a:rPr>
                        <a:t>28</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Unknown</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Unknown</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Unknown</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800" b="0">
                          <a:solidFill>
                            <a:srgbClr val="12323A"/>
                          </a:solidFill>
                          <a:latin typeface="Helvetica Neue"/>
                          <a:ea typeface="Helvetica Neue"/>
                          <a:cs typeface="Helvetica Neue"/>
                        </a:rPr>
                        <a:t>2.71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bl>
          </a:graphicData>
        </a:graphic>
      </p:graphicFrame>
      <p:sp>
        <p:nvSpPr>
          <p:cNvPr id="6" name="Text Known ahead">
            <a:extLst xmlns:a="http://schemas.openxmlformats.org/drawingml/2006/main">
              <a:ext uri="{FF2B5EF4-FFF2-40B4-BE49-F238E27FC236}">
                <a16:creationId xmlns:a16="http://schemas.microsoft.com/office/drawing/2014/main" id="{23E3DBB7-E1C4-4F4B-9C6C-D5E351A2981B}"/>
              </a:ext>
            </a:extLst>
          </p:cNvPr>
          <p:cNvSpPr>
            <a:spLocks xmlns:a="http://schemas.openxmlformats.org/drawingml/2006/main" noGrp="1"/>
          </p:cNvSpPr>
          <p:nvPr/>
        </p:nvSpPr>
        <p:spPr>
          <a:xfrm xmlns:a="http://schemas.openxmlformats.org/drawingml/2006/main">
            <a:off x="685800" y="52959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7D79"/>
                </a:solidFill>
                <a:latin typeface="Helvetica Neue"/>
                <a:ea typeface="Helvetica Neue"/>
                <a:cs typeface="Helvetica Neue"/>
              </a:defRPr>
            </a:defPPr>
            <a:lvl1pPr algn="l">
              <a:defRPr sz="2250" b="1">
                <a:solidFill>
                  <a:srgbClr val="107D79"/>
                </a:solidFill>
                <a:latin typeface="Helvetica Neue"/>
                <a:ea typeface="Helvetica Neue"/>
                <a:cs typeface="Helvetica Neue"/>
              </a:defRPr>
            </a:lvl1pPr>
            <a:lvl2pPr algn="l">
              <a:defRPr sz="2250" b="1">
                <a:solidFill>
                  <a:srgbClr val="107D79"/>
                </a:solidFill>
                <a:latin typeface="Helvetica Neue"/>
                <a:ea typeface="Helvetica Neue"/>
                <a:cs typeface="Helvetica Neue"/>
              </a:defRPr>
            </a:lvl2pPr>
            <a:lvl3pPr algn="l">
              <a:defRPr sz="2250" b="1">
                <a:solidFill>
                  <a:srgbClr val="107D79"/>
                </a:solidFill>
                <a:latin typeface="Helvetica Neue"/>
                <a:ea typeface="Helvetica Neue"/>
                <a:cs typeface="Helvetica Neue"/>
              </a:defRPr>
            </a:lvl3pPr>
            <a:lvl4pPr algn="l">
              <a:defRPr sz="2250" b="1">
                <a:solidFill>
                  <a:srgbClr val="107D79"/>
                </a:solidFill>
                <a:latin typeface="Helvetica Neue"/>
                <a:ea typeface="Helvetica Neue"/>
                <a:cs typeface="Helvetica Neue"/>
              </a:defRPr>
            </a:lvl4pPr>
            <a:lvl5pPr algn="l">
              <a:defRPr sz="2250" b="1">
                <a:solidFill>
                  <a:srgbClr val="107D79"/>
                </a:solidFill>
                <a:latin typeface="Helvetica Neue"/>
                <a:ea typeface="Helvetica Neue"/>
                <a:cs typeface="Helvetica Neue"/>
              </a:defRPr>
            </a:lvl5pPr>
            <a:lvl6pPr algn="l">
              <a:defRPr sz="2250" b="1">
                <a:solidFill>
                  <a:srgbClr val="107D79"/>
                </a:solidFill>
                <a:latin typeface="Helvetica Neue"/>
                <a:ea typeface="Helvetica Neue"/>
                <a:cs typeface="Helvetica Neue"/>
              </a:defRPr>
            </a:lvl6pPr>
            <a:lvl7pPr algn="l">
              <a:defRPr sz="2250" b="1">
                <a:solidFill>
                  <a:srgbClr val="107D79"/>
                </a:solidFill>
                <a:latin typeface="Helvetica Neue"/>
                <a:ea typeface="Helvetica Neue"/>
                <a:cs typeface="Helvetica Neue"/>
              </a:defRPr>
            </a:lvl7pPr>
            <a:lvl8pPr algn="l">
              <a:defRPr sz="2250" b="1">
                <a:solidFill>
                  <a:srgbClr val="107D79"/>
                </a:solidFill>
                <a:latin typeface="Helvetica Neue"/>
                <a:ea typeface="Helvetica Neue"/>
                <a:cs typeface="Helvetica Neue"/>
              </a:defRPr>
            </a:lvl8pPr>
            <a:lvl9pPr algn="l">
              <a:defRPr sz="2250" b="1">
                <a:solidFill>
                  <a:srgbClr val="107D79"/>
                </a:solidFill>
                <a:latin typeface="Helvetica Neue"/>
                <a:ea typeface="Helvetica Neue"/>
                <a:cs typeface="Helvetica Neue"/>
              </a:defRPr>
            </a:lvl9pPr>
          </a:lstStyle>
          <a:p xmlns:a="http://schemas.openxmlformats.org/drawingml/2006/main">
            <a:pPr algn="l">
              <a:lnSpc>
                <a:spcPct val="112000"/>
              </a:lnSpc>
              <a:buNone/>
              <a:defRPr sz="2250" b="1">
                <a:solidFill>
                  <a:srgbClr val="107D79"/>
                </a:solidFill>
                <a:latin typeface="Helvetica Neue"/>
                <a:ea typeface="Helvetica Neue"/>
                <a:cs typeface="Helvetica Neue"/>
              </a:defRPr>
            </a:pPr>
            <a:r>
              <a:rPr sz="2250" b="1">
                <a:solidFill>
                  <a:srgbClr val="107D79"/>
                </a:solidFill>
                <a:latin typeface="Helvetica Neue"/>
                <a:ea typeface="Helvetica Neue"/>
                <a:cs typeface="Helvetica Neue"/>
              </a:rPr>
              <a:t>Known ahead</a:t>
            </a:r>
          </a:p>
        </p:txBody>
      </p:sp>
      <p:sp>
        <p:nvSpPr>
          <p:cNvPr id="7" name="Text Dates and calendar events">
            <a:extLst xmlns:a="http://schemas.openxmlformats.org/drawingml/2006/main">
              <a:ext uri="{FF2B5EF4-FFF2-40B4-BE49-F238E27FC236}">
                <a16:creationId xmlns:a16="http://schemas.microsoft.com/office/drawing/2014/main" id="{A20E85CF-4FDE-4003-8804-E65B45ACE05B}"/>
              </a:ext>
            </a:extLst>
          </p:cNvPr>
          <p:cNvSpPr>
            <a:spLocks xmlns:a="http://schemas.openxmlformats.org/drawingml/2006/main" noGrp="1"/>
          </p:cNvSpPr>
          <p:nvPr/>
        </p:nvSpPr>
        <p:spPr>
          <a:xfrm xmlns:a="http://schemas.openxmlformats.org/drawingml/2006/main">
            <a:off x="685800" y="574357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323A"/>
                </a:solidFill>
                <a:latin typeface="Helvetica Neue"/>
                <a:ea typeface="Helvetica Neue"/>
                <a:cs typeface="Helvetica Neue"/>
              </a:defRPr>
            </a:defPPr>
            <a:lvl1pPr algn="l">
              <a:defRPr sz="1875" b="0">
                <a:solidFill>
                  <a:srgbClr val="12323A"/>
                </a:solidFill>
                <a:latin typeface="Helvetica Neue"/>
                <a:ea typeface="Helvetica Neue"/>
                <a:cs typeface="Helvetica Neue"/>
              </a:defRPr>
            </a:lvl1pPr>
            <a:lvl2pPr algn="l">
              <a:defRPr sz="1875" b="0">
                <a:solidFill>
                  <a:srgbClr val="12323A"/>
                </a:solidFill>
                <a:latin typeface="Helvetica Neue"/>
                <a:ea typeface="Helvetica Neue"/>
                <a:cs typeface="Helvetica Neue"/>
              </a:defRPr>
            </a:lvl2pPr>
            <a:lvl3pPr algn="l">
              <a:defRPr sz="1875" b="0">
                <a:solidFill>
                  <a:srgbClr val="12323A"/>
                </a:solidFill>
                <a:latin typeface="Helvetica Neue"/>
                <a:ea typeface="Helvetica Neue"/>
                <a:cs typeface="Helvetica Neue"/>
              </a:defRPr>
            </a:lvl3pPr>
            <a:lvl4pPr algn="l">
              <a:defRPr sz="1875" b="0">
                <a:solidFill>
                  <a:srgbClr val="12323A"/>
                </a:solidFill>
                <a:latin typeface="Helvetica Neue"/>
                <a:ea typeface="Helvetica Neue"/>
                <a:cs typeface="Helvetica Neue"/>
              </a:defRPr>
            </a:lvl4pPr>
            <a:lvl5pPr algn="l">
              <a:defRPr sz="1875" b="0">
                <a:solidFill>
                  <a:srgbClr val="12323A"/>
                </a:solidFill>
                <a:latin typeface="Helvetica Neue"/>
                <a:ea typeface="Helvetica Neue"/>
                <a:cs typeface="Helvetica Neue"/>
              </a:defRPr>
            </a:lvl5pPr>
            <a:lvl6pPr algn="l">
              <a:defRPr sz="1875" b="0">
                <a:solidFill>
                  <a:srgbClr val="12323A"/>
                </a:solidFill>
                <a:latin typeface="Helvetica Neue"/>
                <a:ea typeface="Helvetica Neue"/>
                <a:cs typeface="Helvetica Neue"/>
              </a:defRPr>
            </a:lvl6pPr>
            <a:lvl7pPr algn="l">
              <a:defRPr sz="1875" b="0">
                <a:solidFill>
                  <a:srgbClr val="12323A"/>
                </a:solidFill>
                <a:latin typeface="Helvetica Neue"/>
                <a:ea typeface="Helvetica Neue"/>
                <a:cs typeface="Helvetica Neue"/>
              </a:defRPr>
            </a:lvl7pPr>
            <a:lvl8pPr algn="l">
              <a:defRPr sz="1875" b="0">
                <a:solidFill>
                  <a:srgbClr val="12323A"/>
                </a:solidFill>
                <a:latin typeface="Helvetica Neue"/>
                <a:ea typeface="Helvetica Neue"/>
                <a:cs typeface="Helvetica Neue"/>
              </a:defRPr>
            </a:lvl8pPr>
            <a:lvl9pPr algn="l">
              <a:defRPr sz="1875" b="0">
                <a:solidFill>
                  <a:srgbClr val="12323A"/>
                </a:solidFill>
                <a:latin typeface="Helvetica Neue"/>
                <a:ea typeface="Helvetica Neue"/>
                <a:cs typeface="Helvetica Neue"/>
              </a:defRPr>
            </a:lvl9pPr>
          </a:lstStyle>
          <a:p xmlns:a="http://schemas.openxmlformats.org/drawingml/2006/main">
            <a:pPr algn="l">
              <a:lnSpc>
                <a:spcPct val="112000"/>
              </a:lnSpc>
              <a:buNone/>
              <a:defRPr sz="1875" b="0">
                <a:solidFill>
                  <a:srgbClr val="12323A"/>
                </a:solidFill>
                <a:latin typeface="Helvetica Neue"/>
                <a:ea typeface="Helvetica Neue"/>
                <a:cs typeface="Helvetica Neue"/>
              </a:defRPr>
            </a:pPr>
            <a:r>
              <a:rPr sz="1875" b="0">
                <a:solidFill>
                  <a:srgbClr val="12323A"/>
                </a:solidFill>
                <a:latin typeface="Helvetica Neue"/>
                <a:ea typeface="Helvetica Neue"/>
                <a:cs typeface="Helvetica Neue"/>
              </a:rPr>
              <a:t>Dates and calendar events</a:t>
            </a:r>
          </a:p>
        </p:txBody>
      </p:sp>
      <p:sp>
        <p:nvSpPr>
          <p:cNvPr id="8" name="Text Frozen at the origin">
            <a:extLst xmlns:a="http://schemas.openxmlformats.org/drawingml/2006/main">
              <a:ext uri="{FF2B5EF4-FFF2-40B4-BE49-F238E27FC236}">
                <a16:creationId xmlns:a16="http://schemas.microsoft.com/office/drawing/2014/main" id="{B69B37B7-D8D7-4F1C-B0E6-6B05E939FEE5}"/>
              </a:ext>
            </a:extLst>
          </p:cNvPr>
          <p:cNvSpPr>
            <a:spLocks xmlns:a="http://schemas.openxmlformats.org/drawingml/2006/main" noGrp="1"/>
          </p:cNvSpPr>
          <p:nvPr/>
        </p:nvSpPr>
        <p:spPr>
          <a:xfrm xmlns:a="http://schemas.openxmlformats.org/drawingml/2006/main">
            <a:off x="6753225" y="529590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C713F"/>
                </a:solidFill>
                <a:latin typeface="Helvetica Neue"/>
                <a:ea typeface="Helvetica Neue"/>
                <a:cs typeface="Helvetica Neue"/>
              </a:defRPr>
            </a:defPPr>
            <a:lvl1pPr algn="l">
              <a:defRPr sz="2250" b="1">
                <a:solidFill>
                  <a:srgbClr val="CC713F"/>
                </a:solidFill>
                <a:latin typeface="Helvetica Neue"/>
                <a:ea typeface="Helvetica Neue"/>
                <a:cs typeface="Helvetica Neue"/>
              </a:defRPr>
            </a:lvl1pPr>
            <a:lvl2pPr algn="l">
              <a:defRPr sz="2250" b="1">
                <a:solidFill>
                  <a:srgbClr val="CC713F"/>
                </a:solidFill>
                <a:latin typeface="Helvetica Neue"/>
                <a:ea typeface="Helvetica Neue"/>
                <a:cs typeface="Helvetica Neue"/>
              </a:defRPr>
            </a:lvl2pPr>
            <a:lvl3pPr algn="l">
              <a:defRPr sz="2250" b="1">
                <a:solidFill>
                  <a:srgbClr val="CC713F"/>
                </a:solidFill>
                <a:latin typeface="Helvetica Neue"/>
                <a:ea typeface="Helvetica Neue"/>
                <a:cs typeface="Helvetica Neue"/>
              </a:defRPr>
            </a:lvl3pPr>
            <a:lvl4pPr algn="l">
              <a:defRPr sz="2250" b="1">
                <a:solidFill>
                  <a:srgbClr val="CC713F"/>
                </a:solidFill>
                <a:latin typeface="Helvetica Neue"/>
                <a:ea typeface="Helvetica Neue"/>
                <a:cs typeface="Helvetica Neue"/>
              </a:defRPr>
            </a:lvl4pPr>
            <a:lvl5pPr algn="l">
              <a:defRPr sz="2250" b="1">
                <a:solidFill>
                  <a:srgbClr val="CC713F"/>
                </a:solidFill>
                <a:latin typeface="Helvetica Neue"/>
                <a:ea typeface="Helvetica Neue"/>
                <a:cs typeface="Helvetica Neue"/>
              </a:defRPr>
            </a:lvl5pPr>
            <a:lvl6pPr algn="l">
              <a:defRPr sz="2250" b="1">
                <a:solidFill>
                  <a:srgbClr val="CC713F"/>
                </a:solidFill>
                <a:latin typeface="Helvetica Neue"/>
                <a:ea typeface="Helvetica Neue"/>
                <a:cs typeface="Helvetica Neue"/>
              </a:defRPr>
            </a:lvl6pPr>
            <a:lvl7pPr algn="l">
              <a:defRPr sz="2250" b="1">
                <a:solidFill>
                  <a:srgbClr val="CC713F"/>
                </a:solidFill>
                <a:latin typeface="Helvetica Neue"/>
                <a:ea typeface="Helvetica Neue"/>
                <a:cs typeface="Helvetica Neue"/>
              </a:defRPr>
            </a:lvl7pPr>
            <a:lvl8pPr algn="l">
              <a:defRPr sz="2250" b="1">
                <a:solidFill>
                  <a:srgbClr val="CC713F"/>
                </a:solidFill>
                <a:latin typeface="Helvetica Neue"/>
                <a:ea typeface="Helvetica Neue"/>
                <a:cs typeface="Helvetica Neue"/>
              </a:defRPr>
            </a:lvl8pPr>
            <a:lvl9pPr algn="l">
              <a:defRPr sz="2250" b="1">
                <a:solidFill>
                  <a:srgbClr val="CC713F"/>
                </a:solidFill>
                <a:latin typeface="Helvetica Neue"/>
                <a:ea typeface="Helvetica Neue"/>
                <a:cs typeface="Helvetica Neue"/>
              </a:defRPr>
            </a:lvl9pPr>
          </a:lstStyle>
          <a:p xmlns:a="http://schemas.openxmlformats.org/drawingml/2006/main">
            <a:pPr algn="l">
              <a:lnSpc>
                <a:spcPct val="112000"/>
              </a:lnSpc>
              <a:buNone/>
              <a:defRPr sz="2250" b="1">
                <a:solidFill>
                  <a:srgbClr val="CC713F"/>
                </a:solidFill>
                <a:latin typeface="Helvetica Neue"/>
                <a:ea typeface="Helvetica Neue"/>
                <a:cs typeface="Helvetica Neue"/>
              </a:defRPr>
            </a:pPr>
            <a:r>
              <a:rPr sz="2250" b="1">
                <a:solidFill>
                  <a:srgbClr val="CC713F"/>
                </a:solidFill>
                <a:latin typeface="Helvetica Neue"/>
                <a:ea typeface="Helvetica Neue"/>
                <a:cs typeface="Helvetica Neue"/>
              </a:rPr>
              <a:t>Frozen at the origin</a:t>
            </a:r>
          </a:p>
        </p:txBody>
      </p:sp>
      <p:sp>
        <p:nvSpPr>
          <p:cNvPr id="9" name="Text Rolling sales, price and historical SNAP">
            <a:extLst xmlns:a="http://schemas.openxmlformats.org/drawingml/2006/main">
              <a:ext uri="{FF2B5EF4-FFF2-40B4-BE49-F238E27FC236}">
                <a16:creationId xmlns:a16="http://schemas.microsoft.com/office/drawing/2014/main" id="{92BFEE59-64A3-437C-B3B0-40D15BC56D52}"/>
              </a:ext>
            </a:extLst>
          </p:cNvPr>
          <p:cNvSpPr>
            <a:spLocks xmlns:a="http://schemas.openxmlformats.org/drawingml/2006/main" noGrp="1"/>
          </p:cNvSpPr>
          <p:nvPr/>
        </p:nvSpPr>
        <p:spPr>
          <a:xfrm xmlns:a="http://schemas.openxmlformats.org/drawingml/2006/main">
            <a:off x="6753225" y="574357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323A"/>
                </a:solidFill>
                <a:latin typeface="Helvetica Neue"/>
                <a:ea typeface="Helvetica Neue"/>
                <a:cs typeface="Helvetica Neue"/>
              </a:defRPr>
            </a:defPPr>
            <a:lvl1pPr algn="l">
              <a:defRPr sz="1875" b="0">
                <a:solidFill>
                  <a:srgbClr val="12323A"/>
                </a:solidFill>
                <a:latin typeface="Helvetica Neue"/>
                <a:ea typeface="Helvetica Neue"/>
                <a:cs typeface="Helvetica Neue"/>
              </a:defRPr>
            </a:lvl1pPr>
            <a:lvl2pPr algn="l">
              <a:defRPr sz="1875" b="0">
                <a:solidFill>
                  <a:srgbClr val="12323A"/>
                </a:solidFill>
                <a:latin typeface="Helvetica Neue"/>
                <a:ea typeface="Helvetica Neue"/>
                <a:cs typeface="Helvetica Neue"/>
              </a:defRPr>
            </a:lvl2pPr>
            <a:lvl3pPr algn="l">
              <a:defRPr sz="1875" b="0">
                <a:solidFill>
                  <a:srgbClr val="12323A"/>
                </a:solidFill>
                <a:latin typeface="Helvetica Neue"/>
                <a:ea typeface="Helvetica Neue"/>
                <a:cs typeface="Helvetica Neue"/>
              </a:defRPr>
            </a:lvl3pPr>
            <a:lvl4pPr algn="l">
              <a:defRPr sz="1875" b="0">
                <a:solidFill>
                  <a:srgbClr val="12323A"/>
                </a:solidFill>
                <a:latin typeface="Helvetica Neue"/>
                <a:ea typeface="Helvetica Neue"/>
                <a:cs typeface="Helvetica Neue"/>
              </a:defRPr>
            </a:lvl4pPr>
            <a:lvl5pPr algn="l">
              <a:defRPr sz="1875" b="0">
                <a:solidFill>
                  <a:srgbClr val="12323A"/>
                </a:solidFill>
                <a:latin typeface="Helvetica Neue"/>
                <a:ea typeface="Helvetica Neue"/>
                <a:cs typeface="Helvetica Neue"/>
              </a:defRPr>
            </a:lvl5pPr>
            <a:lvl6pPr algn="l">
              <a:defRPr sz="1875" b="0">
                <a:solidFill>
                  <a:srgbClr val="12323A"/>
                </a:solidFill>
                <a:latin typeface="Helvetica Neue"/>
                <a:ea typeface="Helvetica Neue"/>
                <a:cs typeface="Helvetica Neue"/>
              </a:defRPr>
            </a:lvl6pPr>
            <a:lvl7pPr algn="l">
              <a:defRPr sz="1875" b="0">
                <a:solidFill>
                  <a:srgbClr val="12323A"/>
                </a:solidFill>
                <a:latin typeface="Helvetica Neue"/>
                <a:ea typeface="Helvetica Neue"/>
                <a:cs typeface="Helvetica Neue"/>
              </a:defRPr>
            </a:lvl7pPr>
            <a:lvl8pPr algn="l">
              <a:defRPr sz="1875" b="0">
                <a:solidFill>
                  <a:srgbClr val="12323A"/>
                </a:solidFill>
                <a:latin typeface="Helvetica Neue"/>
                <a:ea typeface="Helvetica Neue"/>
                <a:cs typeface="Helvetica Neue"/>
              </a:defRPr>
            </a:lvl8pPr>
            <a:lvl9pPr algn="l">
              <a:defRPr sz="1875" b="0">
                <a:solidFill>
                  <a:srgbClr val="12323A"/>
                </a:solidFill>
                <a:latin typeface="Helvetica Neue"/>
                <a:ea typeface="Helvetica Neue"/>
                <a:cs typeface="Helvetica Neue"/>
              </a:defRPr>
            </a:lvl9pPr>
          </a:lstStyle>
          <a:p xmlns:a="http://schemas.openxmlformats.org/drawingml/2006/main">
            <a:pPr algn="l">
              <a:lnSpc>
                <a:spcPct val="112000"/>
              </a:lnSpc>
              <a:buNone/>
              <a:defRPr sz="1875" b="0">
                <a:solidFill>
                  <a:srgbClr val="12323A"/>
                </a:solidFill>
                <a:latin typeface="Helvetica Neue"/>
                <a:ea typeface="Helvetica Neue"/>
                <a:cs typeface="Helvetica Neue"/>
              </a:defRPr>
            </a:pPr>
            <a:r>
              <a:rPr sz="1875" b="0">
                <a:solidFill>
                  <a:srgbClr val="12323A"/>
                </a:solidFill>
                <a:latin typeface="Helvetica Neue"/>
                <a:ea typeface="Helvetica Neue"/>
                <a:cs typeface="Helvetica Neue"/>
              </a:rPr>
              <a:t>Rolling sales, price and historical SNAP</a:t>
            </a:r>
          </a:p>
        </p:txBody>
      </p:sp>
    </p:spTree>
    <p:extLst>
      <p:ext uri="{BB962C8B-B14F-4D97-AF65-F5344CB8AC3E}">
        <p14:creationId xmlns:p14="http://schemas.microsoft.com/office/powerpoint/2010/main" val="888135624"/>
      </p:ext>
    </p:extLst>
  </p:cSld>
</p:sld>
</file>

<file path=ppt/slides/slide7.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3" name="Text MILESTONE 9 / DIRECT LIGHTGBM">
            <a:extLst xmlns:a="http://schemas.openxmlformats.org/drawingml/2006/main">
              <a:ext uri="{FF2B5EF4-FFF2-40B4-BE49-F238E27FC236}">
                <a16:creationId xmlns:a16="http://schemas.microsoft.com/office/drawing/2014/main" id="{4C96FFB3-203D-4203-B0F2-D98C410C4246}"/>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MILESTONE 9 / DIRECT LIGHTGBM</a:t>
            </a:r>
          </a:p>
        </p:txBody>
      </p:sp>
      <p:sp>
        <p:nvSpPr>
          <p:cNvPr id="2" name="Text One global model learns from all products">
            <a:extLst xmlns:a="http://schemas.openxmlformats.org/drawingml/2006/main">
              <a:ext uri="{FF2B5EF4-FFF2-40B4-BE49-F238E27FC236}">
                <a16:creationId xmlns:a16="http://schemas.microsoft.com/office/drawing/2014/main" id="{2BCEA9DA-CAC5-4263-AC63-F0A51FF972E7}"/>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One global model learns from all products</a:t>
            </a:r>
          </a:p>
        </p:txBody>
      </p:sp>
      <p:sp>
        <p:nvSpPr>
          <p:cNvPr id="3" name="Text Small decision trees combine corrections across 24">
            <a:extLst xmlns:a="http://schemas.openxmlformats.org/drawingml/2006/main">
              <a:ext uri="{FF2B5EF4-FFF2-40B4-BE49-F238E27FC236}">
                <a16:creationId xmlns:a16="http://schemas.microsoft.com/office/drawing/2014/main" id="{A43CFF97-78CA-43BC-8387-A5BBF3FB6E58}"/>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Small decision trees combine corrections across 240 series and 28 horizons</a:t>
            </a:r>
          </a:p>
        </p:txBody>
      </p:sp>
      <p:sp>
        <p:nvSpPr>
          <p:cNvPr id="4" name="Text 07">
            <a:extLst xmlns:a="http://schemas.openxmlformats.org/drawingml/2006/main">
              <a:ext uri="{FF2B5EF4-FFF2-40B4-BE49-F238E27FC236}">
                <a16:creationId xmlns:a16="http://schemas.microsoft.com/office/drawing/2014/main" id="{49E5BDD9-A2A5-4298-A4C1-7DBBE6DAFADC}"/>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07</a:t>
            </a:r>
          </a:p>
        </p:txBody>
      </p:sp>
      <p:sp>
        <p:nvSpPr>
          <p:cNvPr id="5" name="Text Largest split gains">
            <a:extLst xmlns:a="http://schemas.openxmlformats.org/drawingml/2006/main">
              <a:ext uri="{FF2B5EF4-FFF2-40B4-BE49-F238E27FC236}">
                <a16:creationId xmlns:a16="http://schemas.microsoft.com/office/drawing/2014/main" id="{696B61DE-AB5F-478D-92A2-D1B66D604EB0}"/>
              </a:ext>
            </a:extLst>
          </p:cNvPr>
          <p:cNvSpPr>
            <a:spLocks xmlns:a="http://schemas.openxmlformats.org/drawingml/2006/main" noGrp="1"/>
          </p:cNvSpPr>
          <p:nvPr/>
        </p:nvSpPr>
        <p:spPr>
          <a:xfrm xmlns:a="http://schemas.openxmlformats.org/drawingml/2006/main">
            <a:off x="676275" y="235267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7D79"/>
                </a:solidFill>
                <a:latin typeface="Helvetica Neue"/>
                <a:ea typeface="Helvetica Neue"/>
                <a:cs typeface="Helvetica Neue"/>
              </a:defRPr>
            </a:defPPr>
            <a:lvl1pPr algn="l">
              <a:defRPr sz="2100" b="1">
                <a:solidFill>
                  <a:srgbClr val="107D79"/>
                </a:solidFill>
                <a:latin typeface="Helvetica Neue"/>
                <a:ea typeface="Helvetica Neue"/>
                <a:cs typeface="Helvetica Neue"/>
              </a:defRPr>
            </a:lvl1pPr>
            <a:lvl2pPr algn="l">
              <a:defRPr sz="2100" b="1">
                <a:solidFill>
                  <a:srgbClr val="107D79"/>
                </a:solidFill>
                <a:latin typeface="Helvetica Neue"/>
                <a:ea typeface="Helvetica Neue"/>
                <a:cs typeface="Helvetica Neue"/>
              </a:defRPr>
            </a:lvl2pPr>
            <a:lvl3pPr algn="l">
              <a:defRPr sz="2100" b="1">
                <a:solidFill>
                  <a:srgbClr val="107D79"/>
                </a:solidFill>
                <a:latin typeface="Helvetica Neue"/>
                <a:ea typeface="Helvetica Neue"/>
                <a:cs typeface="Helvetica Neue"/>
              </a:defRPr>
            </a:lvl3pPr>
            <a:lvl4pPr algn="l">
              <a:defRPr sz="2100" b="1">
                <a:solidFill>
                  <a:srgbClr val="107D79"/>
                </a:solidFill>
                <a:latin typeface="Helvetica Neue"/>
                <a:ea typeface="Helvetica Neue"/>
                <a:cs typeface="Helvetica Neue"/>
              </a:defRPr>
            </a:lvl4pPr>
            <a:lvl5pPr algn="l">
              <a:defRPr sz="2100" b="1">
                <a:solidFill>
                  <a:srgbClr val="107D79"/>
                </a:solidFill>
                <a:latin typeface="Helvetica Neue"/>
                <a:ea typeface="Helvetica Neue"/>
                <a:cs typeface="Helvetica Neue"/>
              </a:defRPr>
            </a:lvl5pPr>
            <a:lvl6pPr algn="l">
              <a:defRPr sz="2100" b="1">
                <a:solidFill>
                  <a:srgbClr val="107D79"/>
                </a:solidFill>
                <a:latin typeface="Helvetica Neue"/>
                <a:ea typeface="Helvetica Neue"/>
                <a:cs typeface="Helvetica Neue"/>
              </a:defRPr>
            </a:lvl6pPr>
            <a:lvl7pPr algn="l">
              <a:defRPr sz="2100" b="1">
                <a:solidFill>
                  <a:srgbClr val="107D79"/>
                </a:solidFill>
                <a:latin typeface="Helvetica Neue"/>
                <a:ea typeface="Helvetica Neue"/>
                <a:cs typeface="Helvetica Neue"/>
              </a:defRPr>
            </a:lvl7pPr>
            <a:lvl8pPr algn="l">
              <a:defRPr sz="2100" b="1">
                <a:solidFill>
                  <a:srgbClr val="107D79"/>
                </a:solidFill>
                <a:latin typeface="Helvetica Neue"/>
                <a:ea typeface="Helvetica Neue"/>
                <a:cs typeface="Helvetica Neue"/>
              </a:defRPr>
            </a:lvl8pPr>
            <a:lvl9pPr algn="l">
              <a:defRPr sz="2100" b="1">
                <a:solidFill>
                  <a:srgbClr val="107D79"/>
                </a:solidFill>
                <a:latin typeface="Helvetica Neue"/>
                <a:ea typeface="Helvetica Neue"/>
                <a:cs typeface="Helvetica Neue"/>
              </a:defRPr>
            </a:lvl9pPr>
          </a:lstStyle>
          <a:p xmlns:a="http://schemas.openxmlformats.org/drawingml/2006/main">
            <a:pPr algn="l">
              <a:lnSpc>
                <a:spcPct val="112000"/>
              </a:lnSpc>
              <a:buNone/>
              <a:defRPr sz="2100" b="1">
                <a:solidFill>
                  <a:srgbClr val="107D79"/>
                </a:solidFill>
                <a:latin typeface="Helvetica Neue"/>
                <a:ea typeface="Helvetica Neue"/>
                <a:cs typeface="Helvetica Neue"/>
              </a:defRPr>
            </a:pPr>
            <a:r>
              <a:rPr sz="2100" b="1">
                <a:solidFill>
                  <a:srgbClr val="107D79"/>
                </a:solidFill>
                <a:latin typeface="Helvetica Neue"/>
                <a:ea typeface="Helvetica Neue"/>
                <a:cs typeface="Helvetica Neue"/>
              </a:rPr>
              <a:t>Largest split gains</a:t>
            </a:r>
          </a:p>
        </p:txBody>
      </p:sp>
      <p:graphicFrame>
        <p:nvGraphicFramePr>
          <p:cNvPr id="6" name="Chart">
            <a:extLst xmlns:a="http://schemas.openxmlformats.org/drawingml/2006/main">
              <a:ext uri="{FF2B5EF4-FFF2-40B4-BE49-F238E27FC236}">
                <a16:creationId xmlns:a16="http://schemas.microsoft.com/office/drawing/2014/main" id="{0AD62DF5-8D2E-419A-B24C-B3CB51EE6E6A}"/>
              </a:ext>
            </a:extLst>
          </p:cNvPr>
          <p:cNvGraphicFramePr/>
          <p:nvPr/>
        </p:nvGraphicFramePr>
        <p:xfrm>
          <a:off xmlns:a="http://schemas.openxmlformats.org/drawingml/2006/main" x="628650" y="2876550"/>
          <a:ext xmlns:a="http://schemas.openxmlformats.org/drawingml/2006/main" cx="7477125" cy="2686050"/>
        </p:xfrm>
        <a:graphic xmlns:a="http://schemas.openxmlformats.org/drawingml/2006/main">
          <a:graphicData uri="http://schemas.openxmlformats.org/drawingml/2006/chart">
            <c:chart xmlns:r="http://schemas.openxmlformats.org/officeDocument/2006/relationships" xmlns:c="http://schemas.openxmlformats.org/drawingml/2006/chart" r:id="R101f6b8226e64724"/>
          </a:graphicData>
        </a:graphic>
      </p:graphicFrame>
      <p:sp>
        <p:nvSpPr>
          <p:cNvPr id="7" name="Text 0.923">
            <a:extLst xmlns:a="http://schemas.openxmlformats.org/drawingml/2006/main">
              <a:ext uri="{FF2B5EF4-FFF2-40B4-BE49-F238E27FC236}">
                <a16:creationId xmlns:a16="http://schemas.microsoft.com/office/drawing/2014/main" id="{CA9ADD13-3E6A-46B3-A713-5098BE11FA22}"/>
              </a:ext>
            </a:extLst>
          </p:cNvPr>
          <p:cNvSpPr>
            <a:spLocks xmlns:a="http://schemas.openxmlformats.org/drawingml/2006/main" noGrp="1"/>
          </p:cNvSpPr>
          <p:nvPr/>
        </p:nvSpPr>
        <p:spPr>
          <a:xfrm xmlns:a="http://schemas.openxmlformats.org/drawingml/2006/main">
            <a:off x="8791575" y="2667000"/>
            <a:ext cx="271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CC713F"/>
                </a:solidFill>
                <a:latin typeface="Helvetica Neue"/>
                <a:ea typeface="Helvetica Neue"/>
                <a:cs typeface="Helvetica Neue"/>
              </a:defRPr>
            </a:defPPr>
            <a:lvl1pPr algn="l">
              <a:defRPr sz="4875" b="1">
                <a:solidFill>
                  <a:srgbClr val="CC713F"/>
                </a:solidFill>
                <a:latin typeface="Helvetica Neue"/>
                <a:ea typeface="Helvetica Neue"/>
                <a:cs typeface="Helvetica Neue"/>
              </a:defRPr>
            </a:lvl1pPr>
            <a:lvl2pPr algn="l">
              <a:defRPr sz="4875" b="1">
                <a:solidFill>
                  <a:srgbClr val="CC713F"/>
                </a:solidFill>
                <a:latin typeface="Helvetica Neue"/>
                <a:ea typeface="Helvetica Neue"/>
                <a:cs typeface="Helvetica Neue"/>
              </a:defRPr>
            </a:lvl2pPr>
            <a:lvl3pPr algn="l">
              <a:defRPr sz="4875" b="1">
                <a:solidFill>
                  <a:srgbClr val="CC713F"/>
                </a:solidFill>
                <a:latin typeface="Helvetica Neue"/>
                <a:ea typeface="Helvetica Neue"/>
                <a:cs typeface="Helvetica Neue"/>
              </a:defRPr>
            </a:lvl3pPr>
            <a:lvl4pPr algn="l">
              <a:defRPr sz="4875" b="1">
                <a:solidFill>
                  <a:srgbClr val="CC713F"/>
                </a:solidFill>
                <a:latin typeface="Helvetica Neue"/>
                <a:ea typeface="Helvetica Neue"/>
                <a:cs typeface="Helvetica Neue"/>
              </a:defRPr>
            </a:lvl4pPr>
            <a:lvl5pPr algn="l">
              <a:defRPr sz="4875" b="1">
                <a:solidFill>
                  <a:srgbClr val="CC713F"/>
                </a:solidFill>
                <a:latin typeface="Helvetica Neue"/>
                <a:ea typeface="Helvetica Neue"/>
                <a:cs typeface="Helvetica Neue"/>
              </a:defRPr>
            </a:lvl5pPr>
            <a:lvl6pPr algn="l">
              <a:defRPr sz="4875" b="1">
                <a:solidFill>
                  <a:srgbClr val="CC713F"/>
                </a:solidFill>
                <a:latin typeface="Helvetica Neue"/>
                <a:ea typeface="Helvetica Neue"/>
                <a:cs typeface="Helvetica Neue"/>
              </a:defRPr>
            </a:lvl6pPr>
            <a:lvl7pPr algn="l">
              <a:defRPr sz="4875" b="1">
                <a:solidFill>
                  <a:srgbClr val="CC713F"/>
                </a:solidFill>
                <a:latin typeface="Helvetica Neue"/>
                <a:ea typeface="Helvetica Neue"/>
                <a:cs typeface="Helvetica Neue"/>
              </a:defRPr>
            </a:lvl7pPr>
            <a:lvl8pPr algn="l">
              <a:defRPr sz="4875" b="1">
                <a:solidFill>
                  <a:srgbClr val="CC713F"/>
                </a:solidFill>
                <a:latin typeface="Helvetica Neue"/>
                <a:ea typeface="Helvetica Neue"/>
                <a:cs typeface="Helvetica Neue"/>
              </a:defRPr>
            </a:lvl8pPr>
            <a:lvl9pPr algn="l">
              <a:defRPr sz="4875" b="1">
                <a:solidFill>
                  <a:srgbClr val="CC713F"/>
                </a:solidFill>
                <a:latin typeface="Helvetica Neue"/>
                <a:ea typeface="Helvetica Neue"/>
                <a:cs typeface="Helvetica Neue"/>
              </a:defRPr>
            </a:lvl9pPr>
          </a:lstStyle>
          <a:p xmlns:a="http://schemas.openxmlformats.org/drawingml/2006/main">
            <a:pPr algn="l">
              <a:lnSpc>
                <a:spcPct val="112000"/>
              </a:lnSpc>
              <a:buNone/>
              <a:defRPr sz="4875" b="1">
                <a:solidFill>
                  <a:srgbClr val="CC713F"/>
                </a:solidFill>
                <a:latin typeface="Helvetica Neue"/>
                <a:ea typeface="Helvetica Neue"/>
                <a:cs typeface="Helvetica Neue"/>
              </a:defRPr>
            </a:pPr>
            <a:r>
              <a:rPr sz="4875" b="1">
                <a:solidFill>
                  <a:srgbClr val="CC713F"/>
                </a:solidFill>
                <a:latin typeface="Helvetica Neue"/>
                <a:ea typeface="Helvetica Neue"/>
                <a:cs typeface="Helvetica Neue"/>
              </a:rPr>
              <a:t>0.923</a:t>
            </a:r>
          </a:p>
        </p:txBody>
      </p:sp>
      <p:sp>
        <p:nvSpPr>
          <p:cNvPr id="8" name="Text pooled MAE">
            <a:extLst xmlns:a="http://schemas.openxmlformats.org/drawingml/2006/main">
              <a:ext uri="{FF2B5EF4-FFF2-40B4-BE49-F238E27FC236}">
                <a16:creationId xmlns:a16="http://schemas.microsoft.com/office/drawing/2014/main" id="{EB728A1F-1B1D-4759-A499-762E0B23F1BA}"/>
              </a:ext>
            </a:extLst>
          </p:cNvPr>
          <p:cNvSpPr>
            <a:spLocks xmlns:a="http://schemas.openxmlformats.org/drawingml/2006/main" noGrp="1"/>
          </p:cNvSpPr>
          <p:nvPr/>
        </p:nvSpPr>
        <p:spPr>
          <a:xfrm xmlns:a="http://schemas.openxmlformats.org/drawingml/2006/main">
            <a:off x="8839200" y="3543300"/>
            <a:ext cx="2638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323A"/>
                </a:solidFill>
                <a:latin typeface="Helvetica Neue"/>
                <a:ea typeface="Helvetica Neue"/>
                <a:cs typeface="Helvetica Neue"/>
              </a:defRPr>
            </a:defPPr>
            <a:lvl1pPr algn="l">
              <a:defRPr sz="2025" b="0">
                <a:solidFill>
                  <a:srgbClr val="12323A"/>
                </a:solidFill>
                <a:latin typeface="Helvetica Neue"/>
                <a:ea typeface="Helvetica Neue"/>
                <a:cs typeface="Helvetica Neue"/>
              </a:defRPr>
            </a:lvl1pPr>
            <a:lvl2pPr algn="l">
              <a:defRPr sz="2025" b="0">
                <a:solidFill>
                  <a:srgbClr val="12323A"/>
                </a:solidFill>
                <a:latin typeface="Helvetica Neue"/>
                <a:ea typeface="Helvetica Neue"/>
                <a:cs typeface="Helvetica Neue"/>
              </a:defRPr>
            </a:lvl2pPr>
            <a:lvl3pPr algn="l">
              <a:defRPr sz="2025" b="0">
                <a:solidFill>
                  <a:srgbClr val="12323A"/>
                </a:solidFill>
                <a:latin typeface="Helvetica Neue"/>
                <a:ea typeface="Helvetica Neue"/>
                <a:cs typeface="Helvetica Neue"/>
              </a:defRPr>
            </a:lvl3pPr>
            <a:lvl4pPr algn="l">
              <a:defRPr sz="2025" b="0">
                <a:solidFill>
                  <a:srgbClr val="12323A"/>
                </a:solidFill>
                <a:latin typeface="Helvetica Neue"/>
                <a:ea typeface="Helvetica Neue"/>
                <a:cs typeface="Helvetica Neue"/>
              </a:defRPr>
            </a:lvl4pPr>
            <a:lvl5pPr algn="l">
              <a:defRPr sz="2025" b="0">
                <a:solidFill>
                  <a:srgbClr val="12323A"/>
                </a:solidFill>
                <a:latin typeface="Helvetica Neue"/>
                <a:ea typeface="Helvetica Neue"/>
                <a:cs typeface="Helvetica Neue"/>
              </a:defRPr>
            </a:lvl5pPr>
            <a:lvl6pPr algn="l">
              <a:defRPr sz="2025" b="0">
                <a:solidFill>
                  <a:srgbClr val="12323A"/>
                </a:solidFill>
                <a:latin typeface="Helvetica Neue"/>
                <a:ea typeface="Helvetica Neue"/>
                <a:cs typeface="Helvetica Neue"/>
              </a:defRPr>
            </a:lvl6pPr>
            <a:lvl7pPr algn="l">
              <a:defRPr sz="2025" b="0">
                <a:solidFill>
                  <a:srgbClr val="12323A"/>
                </a:solidFill>
                <a:latin typeface="Helvetica Neue"/>
                <a:ea typeface="Helvetica Neue"/>
                <a:cs typeface="Helvetica Neue"/>
              </a:defRPr>
            </a:lvl7pPr>
            <a:lvl8pPr algn="l">
              <a:defRPr sz="2025" b="0">
                <a:solidFill>
                  <a:srgbClr val="12323A"/>
                </a:solidFill>
                <a:latin typeface="Helvetica Neue"/>
                <a:ea typeface="Helvetica Neue"/>
                <a:cs typeface="Helvetica Neue"/>
              </a:defRPr>
            </a:lvl8pPr>
            <a:lvl9pPr algn="l">
              <a:defRPr sz="2025" b="0">
                <a:solidFill>
                  <a:srgbClr val="12323A"/>
                </a:solidFill>
                <a:latin typeface="Helvetica Neue"/>
                <a:ea typeface="Helvetica Neue"/>
                <a:cs typeface="Helvetica Neue"/>
              </a:defRPr>
            </a:lvl9pPr>
          </a:lstStyle>
          <a:p xmlns:a="http://schemas.openxmlformats.org/drawingml/2006/main">
            <a:pPr algn="l">
              <a:lnSpc>
                <a:spcPct val="112000"/>
              </a:lnSpc>
              <a:buNone/>
              <a:defRPr sz="2025" b="0">
                <a:solidFill>
                  <a:srgbClr val="12323A"/>
                </a:solidFill>
                <a:latin typeface="Helvetica Neue"/>
                <a:ea typeface="Helvetica Neue"/>
                <a:cs typeface="Helvetica Neue"/>
              </a:defRPr>
            </a:pPr>
            <a:r>
              <a:rPr sz="2025" b="0">
                <a:solidFill>
                  <a:srgbClr val="12323A"/>
                </a:solidFill>
                <a:latin typeface="Helvetica Neue"/>
                <a:ea typeface="Helvetica Neue"/>
                <a:cs typeface="Helvetica Neue"/>
              </a:rPr>
              <a:t>pooled MAE</a:t>
            </a:r>
          </a:p>
        </p:txBody>
      </p:sp>
      <p:sp>
        <p:nvSpPr>
          <p:cNvPr id="9" name="Text 31 leaves&#10;500 trees">
            <a:extLst xmlns:a="http://schemas.openxmlformats.org/drawingml/2006/main">
              <a:ext uri="{FF2B5EF4-FFF2-40B4-BE49-F238E27FC236}">
                <a16:creationId xmlns:a16="http://schemas.microsoft.com/office/drawing/2014/main" id="{679BC8CC-26D0-4C96-8318-CED0C7CBF715}"/>
              </a:ext>
            </a:extLst>
          </p:cNvPr>
          <p:cNvSpPr>
            <a:spLocks xmlns:a="http://schemas.openxmlformats.org/drawingml/2006/main" noGrp="1"/>
          </p:cNvSpPr>
          <p:nvPr/>
        </p:nvSpPr>
        <p:spPr>
          <a:xfrm xmlns:a="http://schemas.openxmlformats.org/drawingml/2006/main">
            <a:off x="8839200" y="4305300"/>
            <a:ext cx="263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7D79"/>
                </a:solidFill>
                <a:latin typeface="Helvetica Neue"/>
                <a:ea typeface="Helvetica Neue"/>
                <a:cs typeface="Helvetica Neue"/>
              </a:defRPr>
            </a:defPPr>
            <a:lvl1pPr algn="l">
              <a:defRPr sz="2325" b="1">
                <a:solidFill>
                  <a:srgbClr val="107D79"/>
                </a:solidFill>
                <a:latin typeface="Helvetica Neue"/>
                <a:ea typeface="Helvetica Neue"/>
                <a:cs typeface="Helvetica Neue"/>
              </a:defRPr>
            </a:lvl1pPr>
            <a:lvl2pPr algn="l">
              <a:defRPr sz="2325" b="1">
                <a:solidFill>
                  <a:srgbClr val="107D79"/>
                </a:solidFill>
                <a:latin typeface="Helvetica Neue"/>
                <a:ea typeface="Helvetica Neue"/>
                <a:cs typeface="Helvetica Neue"/>
              </a:defRPr>
            </a:lvl2pPr>
            <a:lvl3pPr algn="l">
              <a:defRPr sz="2325" b="1">
                <a:solidFill>
                  <a:srgbClr val="107D79"/>
                </a:solidFill>
                <a:latin typeface="Helvetica Neue"/>
                <a:ea typeface="Helvetica Neue"/>
                <a:cs typeface="Helvetica Neue"/>
              </a:defRPr>
            </a:lvl3pPr>
            <a:lvl4pPr algn="l">
              <a:defRPr sz="2325" b="1">
                <a:solidFill>
                  <a:srgbClr val="107D79"/>
                </a:solidFill>
                <a:latin typeface="Helvetica Neue"/>
                <a:ea typeface="Helvetica Neue"/>
                <a:cs typeface="Helvetica Neue"/>
              </a:defRPr>
            </a:lvl4pPr>
            <a:lvl5pPr algn="l">
              <a:defRPr sz="2325" b="1">
                <a:solidFill>
                  <a:srgbClr val="107D79"/>
                </a:solidFill>
                <a:latin typeface="Helvetica Neue"/>
                <a:ea typeface="Helvetica Neue"/>
                <a:cs typeface="Helvetica Neue"/>
              </a:defRPr>
            </a:lvl5pPr>
            <a:lvl6pPr algn="l">
              <a:defRPr sz="2325" b="1">
                <a:solidFill>
                  <a:srgbClr val="107D79"/>
                </a:solidFill>
                <a:latin typeface="Helvetica Neue"/>
                <a:ea typeface="Helvetica Neue"/>
                <a:cs typeface="Helvetica Neue"/>
              </a:defRPr>
            </a:lvl6pPr>
            <a:lvl7pPr algn="l">
              <a:defRPr sz="2325" b="1">
                <a:solidFill>
                  <a:srgbClr val="107D79"/>
                </a:solidFill>
                <a:latin typeface="Helvetica Neue"/>
                <a:ea typeface="Helvetica Neue"/>
                <a:cs typeface="Helvetica Neue"/>
              </a:defRPr>
            </a:lvl7pPr>
            <a:lvl8pPr algn="l">
              <a:defRPr sz="2325" b="1">
                <a:solidFill>
                  <a:srgbClr val="107D79"/>
                </a:solidFill>
                <a:latin typeface="Helvetica Neue"/>
                <a:ea typeface="Helvetica Neue"/>
                <a:cs typeface="Helvetica Neue"/>
              </a:defRPr>
            </a:lvl8pPr>
            <a:lvl9pPr algn="l">
              <a:defRPr sz="2325" b="1">
                <a:solidFill>
                  <a:srgbClr val="107D79"/>
                </a:solidFill>
                <a:latin typeface="Helvetica Neue"/>
                <a:ea typeface="Helvetica Neue"/>
                <a:cs typeface="Helvetica Neue"/>
              </a:defRPr>
            </a:lvl9pPr>
          </a:lstStyle>
          <a:p xmlns:a="http://schemas.openxmlformats.org/drawingml/2006/main">
            <a:pPr algn="l">
              <a:lnSpc>
                <a:spcPct val="112000"/>
              </a:lnSpc>
              <a:buNone/>
              <a:defRPr sz="2325" b="1">
                <a:solidFill>
                  <a:srgbClr val="107D79"/>
                </a:solidFill>
                <a:latin typeface="Helvetica Neue"/>
                <a:ea typeface="Helvetica Neue"/>
                <a:cs typeface="Helvetica Neue"/>
              </a:defRPr>
            </a:pPr>
            <a:r>
              <a:rPr sz="2325" b="1">
                <a:solidFill>
                  <a:srgbClr val="107D79"/>
                </a:solidFill>
                <a:latin typeface="Helvetica Neue"/>
                <a:ea typeface="Helvetica Neue"/>
                <a:cs typeface="Helvetica Neue"/>
              </a:rPr>
              <a:t>31 leaves</a:t>
            </a:r>
          </a:p>
          <a:p xmlns:a="http://schemas.openxmlformats.org/drawingml/2006/main">
            <a:pPr algn="l">
              <a:lnSpc>
                <a:spcPct val="112000"/>
              </a:lnSpc>
              <a:buNone/>
              <a:defRPr sz="2325" b="1">
                <a:solidFill>
                  <a:srgbClr val="107D79"/>
                </a:solidFill>
                <a:latin typeface="Helvetica Neue"/>
                <a:ea typeface="Helvetica Neue"/>
                <a:cs typeface="Helvetica Neue"/>
              </a:defRPr>
            </a:pPr>
            <a:r>
              <a:rPr sz="2325" b="1">
                <a:solidFill>
                  <a:srgbClr val="107D79"/>
                </a:solidFill>
                <a:latin typeface="Helvetica Neue"/>
                <a:ea typeface="Helvetica Neue"/>
                <a:cs typeface="Helvetica Neue"/>
              </a:rPr>
              <a:t>500 trees</a:t>
            </a:r>
          </a:p>
        </p:txBody>
      </p:sp>
      <p:sp>
        <p:nvSpPr>
          <p:cNvPr id="10" name="Text 3 tuning candidates">
            <a:extLst xmlns:a="http://schemas.openxmlformats.org/drawingml/2006/main">
              <a:ext uri="{FF2B5EF4-FFF2-40B4-BE49-F238E27FC236}">
                <a16:creationId xmlns:a16="http://schemas.microsoft.com/office/drawing/2014/main" id="{415B3B04-1F89-4B0E-A33F-C3F839BB67E8}"/>
              </a:ext>
            </a:extLst>
          </p:cNvPr>
          <p:cNvSpPr>
            <a:spLocks xmlns:a="http://schemas.openxmlformats.org/drawingml/2006/main" noGrp="1"/>
          </p:cNvSpPr>
          <p:nvPr/>
        </p:nvSpPr>
        <p:spPr>
          <a:xfrm xmlns:a="http://schemas.openxmlformats.org/drawingml/2006/main">
            <a:off x="8839200" y="5343525"/>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323A"/>
                </a:solidFill>
                <a:latin typeface="Helvetica Neue"/>
                <a:ea typeface="Helvetica Neue"/>
                <a:cs typeface="Helvetica Neue"/>
              </a:defRPr>
            </a:defPPr>
            <a:lvl1pPr algn="l">
              <a:defRPr sz="1800" b="0">
                <a:solidFill>
                  <a:srgbClr val="12323A"/>
                </a:solidFill>
                <a:latin typeface="Helvetica Neue"/>
                <a:ea typeface="Helvetica Neue"/>
                <a:cs typeface="Helvetica Neue"/>
              </a:defRPr>
            </a:lvl1pPr>
            <a:lvl2pPr algn="l">
              <a:defRPr sz="1800" b="0">
                <a:solidFill>
                  <a:srgbClr val="12323A"/>
                </a:solidFill>
                <a:latin typeface="Helvetica Neue"/>
                <a:ea typeface="Helvetica Neue"/>
                <a:cs typeface="Helvetica Neue"/>
              </a:defRPr>
            </a:lvl2pPr>
            <a:lvl3pPr algn="l">
              <a:defRPr sz="1800" b="0">
                <a:solidFill>
                  <a:srgbClr val="12323A"/>
                </a:solidFill>
                <a:latin typeface="Helvetica Neue"/>
                <a:ea typeface="Helvetica Neue"/>
                <a:cs typeface="Helvetica Neue"/>
              </a:defRPr>
            </a:lvl3pPr>
            <a:lvl4pPr algn="l">
              <a:defRPr sz="1800" b="0">
                <a:solidFill>
                  <a:srgbClr val="12323A"/>
                </a:solidFill>
                <a:latin typeface="Helvetica Neue"/>
                <a:ea typeface="Helvetica Neue"/>
                <a:cs typeface="Helvetica Neue"/>
              </a:defRPr>
            </a:lvl4pPr>
            <a:lvl5pPr algn="l">
              <a:defRPr sz="1800" b="0">
                <a:solidFill>
                  <a:srgbClr val="12323A"/>
                </a:solidFill>
                <a:latin typeface="Helvetica Neue"/>
                <a:ea typeface="Helvetica Neue"/>
                <a:cs typeface="Helvetica Neue"/>
              </a:defRPr>
            </a:lvl5pPr>
            <a:lvl6pPr algn="l">
              <a:defRPr sz="1800" b="0">
                <a:solidFill>
                  <a:srgbClr val="12323A"/>
                </a:solidFill>
                <a:latin typeface="Helvetica Neue"/>
                <a:ea typeface="Helvetica Neue"/>
                <a:cs typeface="Helvetica Neue"/>
              </a:defRPr>
            </a:lvl6pPr>
            <a:lvl7pPr algn="l">
              <a:defRPr sz="1800" b="0">
                <a:solidFill>
                  <a:srgbClr val="12323A"/>
                </a:solidFill>
                <a:latin typeface="Helvetica Neue"/>
                <a:ea typeface="Helvetica Neue"/>
                <a:cs typeface="Helvetica Neue"/>
              </a:defRPr>
            </a:lvl7pPr>
            <a:lvl8pPr algn="l">
              <a:defRPr sz="1800" b="0">
                <a:solidFill>
                  <a:srgbClr val="12323A"/>
                </a:solidFill>
                <a:latin typeface="Helvetica Neue"/>
                <a:ea typeface="Helvetica Neue"/>
                <a:cs typeface="Helvetica Neue"/>
              </a:defRPr>
            </a:lvl8pPr>
            <a:lvl9pPr algn="l">
              <a:defRPr sz="1800" b="0">
                <a:solidFill>
                  <a:srgbClr val="12323A"/>
                </a:solidFill>
                <a:latin typeface="Helvetica Neue"/>
                <a:ea typeface="Helvetica Neue"/>
                <a:cs typeface="Helvetica Neue"/>
              </a:defRPr>
            </a:lvl9pPr>
          </a:lstStyle>
          <a:p xmlns:a="http://schemas.openxmlformats.org/drawingml/2006/main">
            <a:pPr algn="l">
              <a:lnSpc>
                <a:spcPct val="112000"/>
              </a:lnSpc>
              <a:buNone/>
              <a:defRPr sz="1800" b="0">
                <a:solidFill>
                  <a:srgbClr val="12323A"/>
                </a:solidFill>
                <a:latin typeface="Helvetica Neue"/>
                <a:ea typeface="Helvetica Neue"/>
                <a:cs typeface="Helvetica Neue"/>
              </a:defRPr>
            </a:pPr>
            <a:r>
              <a:rPr sz="1800" b="0">
                <a:solidFill>
                  <a:srgbClr val="12323A"/>
                </a:solidFill>
                <a:latin typeface="Helvetica Neue"/>
                <a:ea typeface="Helvetica Neue"/>
                <a:cs typeface="Helvetica Neue"/>
              </a:rPr>
              <a:t>3 tuning candidates</a:t>
            </a:r>
          </a:p>
        </p:txBody>
      </p:sp>
      <p:sp>
        <p:nvSpPr>
          <p:cNvPr id="11" name="Text Tune on origins 1801 / 1829 / 1857. Keep origin 18">
            <a:extLst xmlns:a="http://schemas.openxmlformats.org/drawingml/2006/main">
              <a:ext uri="{FF2B5EF4-FFF2-40B4-BE49-F238E27FC236}">
                <a16:creationId xmlns:a16="http://schemas.microsoft.com/office/drawing/2014/main" id="{DE562613-687D-424B-A023-17570F3F0903}"/>
              </a:ext>
            </a:extLst>
          </p:cNvPr>
          <p:cNvSpPr>
            <a:spLocks xmlns:a="http://schemas.openxmlformats.org/drawingml/2006/main" noGrp="1"/>
          </p:cNvSpPr>
          <p:nvPr/>
        </p:nvSpPr>
        <p:spPr>
          <a:xfrm xmlns:a="http://schemas.openxmlformats.org/drawingml/2006/main">
            <a:off x="628650" y="58388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E7377"/>
                </a:solidFill>
                <a:latin typeface="Helvetica Neue"/>
                <a:ea typeface="Helvetica Neue"/>
                <a:cs typeface="Helvetica Neue"/>
              </a:defRPr>
            </a:defPPr>
            <a:lvl1pPr algn="l">
              <a:defRPr sz="1425" b="0">
                <a:solidFill>
                  <a:srgbClr val="5E7377"/>
                </a:solidFill>
                <a:latin typeface="Helvetica Neue"/>
                <a:ea typeface="Helvetica Neue"/>
                <a:cs typeface="Helvetica Neue"/>
              </a:defRPr>
            </a:lvl1pPr>
            <a:lvl2pPr algn="l">
              <a:defRPr sz="1425" b="0">
                <a:solidFill>
                  <a:srgbClr val="5E7377"/>
                </a:solidFill>
                <a:latin typeface="Helvetica Neue"/>
                <a:ea typeface="Helvetica Neue"/>
                <a:cs typeface="Helvetica Neue"/>
              </a:defRPr>
            </a:lvl2pPr>
            <a:lvl3pPr algn="l">
              <a:defRPr sz="1425" b="0">
                <a:solidFill>
                  <a:srgbClr val="5E7377"/>
                </a:solidFill>
                <a:latin typeface="Helvetica Neue"/>
                <a:ea typeface="Helvetica Neue"/>
                <a:cs typeface="Helvetica Neue"/>
              </a:defRPr>
            </a:lvl3pPr>
            <a:lvl4pPr algn="l">
              <a:defRPr sz="1425" b="0">
                <a:solidFill>
                  <a:srgbClr val="5E7377"/>
                </a:solidFill>
                <a:latin typeface="Helvetica Neue"/>
                <a:ea typeface="Helvetica Neue"/>
                <a:cs typeface="Helvetica Neue"/>
              </a:defRPr>
            </a:lvl4pPr>
            <a:lvl5pPr algn="l">
              <a:defRPr sz="1425" b="0">
                <a:solidFill>
                  <a:srgbClr val="5E7377"/>
                </a:solidFill>
                <a:latin typeface="Helvetica Neue"/>
                <a:ea typeface="Helvetica Neue"/>
                <a:cs typeface="Helvetica Neue"/>
              </a:defRPr>
            </a:lvl5pPr>
            <a:lvl6pPr algn="l">
              <a:defRPr sz="1425" b="0">
                <a:solidFill>
                  <a:srgbClr val="5E7377"/>
                </a:solidFill>
                <a:latin typeface="Helvetica Neue"/>
                <a:ea typeface="Helvetica Neue"/>
                <a:cs typeface="Helvetica Neue"/>
              </a:defRPr>
            </a:lvl6pPr>
            <a:lvl7pPr algn="l">
              <a:defRPr sz="1425" b="0">
                <a:solidFill>
                  <a:srgbClr val="5E7377"/>
                </a:solidFill>
                <a:latin typeface="Helvetica Neue"/>
                <a:ea typeface="Helvetica Neue"/>
                <a:cs typeface="Helvetica Neue"/>
              </a:defRPr>
            </a:lvl7pPr>
            <a:lvl8pPr algn="l">
              <a:defRPr sz="1425" b="0">
                <a:solidFill>
                  <a:srgbClr val="5E7377"/>
                </a:solidFill>
                <a:latin typeface="Helvetica Neue"/>
                <a:ea typeface="Helvetica Neue"/>
                <a:cs typeface="Helvetica Neue"/>
              </a:defRPr>
            </a:lvl8pPr>
            <a:lvl9pPr algn="l">
              <a:defRPr sz="1425" b="0">
                <a:solidFill>
                  <a:srgbClr val="5E7377"/>
                </a:solidFill>
                <a:latin typeface="Helvetica Neue"/>
                <a:ea typeface="Helvetica Neue"/>
                <a:cs typeface="Helvetica Neue"/>
              </a:defRPr>
            </a:lvl9pPr>
          </a:lstStyle>
          <a:p xmlns:a="http://schemas.openxmlformats.org/drawingml/2006/main">
            <a:pPr algn="l">
              <a:lnSpc>
                <a:spcPct val="112000"/>
              </a:lnSpc>
              <a:buNone/>
              <a:defRPr sz="1425" b="0">
                <a:solidFill>
                  <a:srgbClr val="5E7377"/>
                </a:solidFill>
                <a:latin typeface="Helvetica Neue"/>
                <a:ea typeface="Helvetica Neue"/>
                <a:cs typeface="Helvetica Neue"/>
              </a:defRPr>
            </a:pPr>
            <a:r>
              <a:rPr sz="1425" b="0">
                <a:solidFill>
                  <a:srgbClr val="5E7377"/>
                </a:solidFill>
                <a:latin typeface="Helvetica Neue"/>
                <a:ea typeface="Helvetica Neue"/>
                <a:cs typeface="Helvetica Neue"/>
              </a:rPr>
              <a:t>Tune on origins 1801 / 1829 / 1857. Keep origin 1885 out of parameter selection.</a:t>
            </a:r>
          </a:p>
        </p:txBody>
      </p:sp>
      <p:sp>
        <p:nvSpPr>
          <p:cNvPr id="12" name="Text Gain describes split usage, not causal influence. ">
            <a:extLst xmlns:a="http://schemas.openxmlformats.org/drawingml/2006/main">
              <a:ext uri="{FF2B5EF4-FFF2-40B4-BE49-F238E27FC236}">
                <a16:creationId xmlns:a16="http://schemas.microsoft.com/office/drawing/2014/main" id="{364520F6-4293-4374-A8A3-F02BD3D1E61C}"/>
              </a:ext>
            </a:extLst>
          </p:cNvPr>
          <p:cNvSpPr>
            <a:spLocks xmlns:a="http://schemas.openxmlformats.org/drawingml/2006/main" noGrp="1"/>
          </p:cNvSpPr>
          <p:nvPr/>
        </p:nvSpPr>
        <p:spPr>
          <a:xfrm xmlns:a="http://schemas.openxmlformats.org/drawingml/2006/main">
            <a:off x="628650" y="622935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E7377"/>
                </a:solidFill>
                <a:latin typeface="Helvetica Neue"/>
                <a:ea typeface="Helvetica Neue"/>
                <a:cs typeface="Helvetica Neue"/>
              </a:defRPr>
            </a:defPPr>
            <a:lvl1pPr algn="l">
              <a:defRPr sz="1425" b="0">
                <a:solidFill>
                  <a:srgbClr val="5E7377"/>
                </a:solidFill>
                <a:latin typeface="Helvetica Neue"/>
                <a:ea typeface="Helvetica Neue"/>
                <a:cs typeface="Helvetica Neue"/>
              </a:defRPr>
            </a:lvl1pPr>
            <a:lvl2pPr algn="l">
              <a:defRPr sz="1425" b="0">
                <a:solidFill>
                  <a:srgbClr val="5E7377"/>
                </a:solidFill>
                <a:latin typeface="Helvetica Neue"/>
                <a:ea typeface="Helvetica Neue"/>
                <a:cs typeface="Helvetica Neue"/>
              </a:defRPr>
            </a:lvl2pPr>
            <a:lvl3pPr algn="l">
              <a:defRPr sz="1425" b="0">
                <a:solidFill>
                  <a:srgbClr val="5E7377"/>
                </a:solidFill>
                <a:latin typeface="Helvetica Neue"/>
                <a:ea typeface="Helvetica Neue"/>
                <a:cs typeface="Helvetica Neue"/>
              </a:defRPr>
            </a:lvl3pPr>
            <a:lvl4pPr algn="l">
              <a:defRPr sz="1425" b="0">
                <a:solidFill>
                  <a:srgbClr val="5E7377"/>
                </a:solidFill>
                <a:latin typeface="Helvetica Neue"/>
                <a:ea typeface="Helvetica Neue"/>
                <a:cs typeface="Helvetica Neue"/>
              </a:defRPr>
            </a:lvl4pPr>
            <a:lvl5pPr algn="l">
              <a:defRPr sz="1425" b="0">
                <a:solidFill>
                  <a:srgbClr val="5E7377"/>
                </a:solidFill>
                <a:latin typeface="Helvetica Neue"/>
                <a:ea typeface="Helvetica Neue"/>
                <a:cs typeface="Helvetica Neue"/>
              </a:defRPr>
            </a:lvl5pPr>
            <a:lvl6pPr algn="l">
              <a:defRPr sz="1425" b="0">
                <a:solidFill>
                  <a:srgbClr val="5E7377"/>
                </a:solidFill>
                <a:latin typeface="Helvetica Neue"/>
                <a:ea typeface="Helvetica Neue"/>
                <a:cs typeface="Helvetica Neue"/>
              </a:defRPr>
            </a:lvl6pPr>
            <a:lvl7pPr algn="l">
              <a:defRPr sz="1425" b="0">
                <a:solidFill>
                  <a:srgbClr val="5E7377"/>
                </a:solidFill>
                <a:latin typeface="Helvetica Neue"/>
                <a:ea typeface="Helvetica Neue"/>
                <a:cs typeface="Helvetica Neue"/>
              </a:defRPr>
            </a:lvl7pPr>
            <a:lvl8pPr algn="l">
              <a:defRPr sz="1425" b="0">
                <a:solidFill>
                  <a:srgbClr val="5E7377"/>
                </a:solidFill>
                <a:latin typeface="Helvetica Neue"/>
                <a:ea typeface="Helvetica Neue"/>
                <a:cs typeface="Helvetica Neue"/>
              </a:defRPr>
            </a:lvl8pPr>
            <a:lvl9pPr algn="l">
              <a:defRPr sz="1425" b="0">
                <a:solidFill>
                  <a:srgbClr val="5E7377"/>
                </a:solidFill>
                <a:latin typeface="Helvetica Neue"/>
                <a:ea typeface="Helvetica Neue"/>
                <a:cs typeface="Helvetica Neue"/>
              </a:defRPr>
            </a:lvl9pPr>
          </a:lstStyle>
          <a:p xmlns:a="http://schemas.openxmlformats.org/drawingml/2006/main">
            <a:pPr algn="l">
              <a:lnSpc>
                <a:spcPct val="112000"/>
              </a:lnSpc>
              <a:buNone/>
              <a:defRPr sz="1425" b="0">
                <a:solidFill>
                  <a:srgbClr val="5E7377"/>
                </a:solidFill>
                <a:latin typeface="Helvetica Neue"/>
                <a:ea typeface="Helvetica Neue"/>
                <a:cs typeface="Helvetica Neue"/>
              </a:defRPr>
            </a:pPr>
            <a:r>
              <a:rPr sz="1425" b="0">
                <a:solidFill>
                  <a:srgbClr val="5E7377"/>
                </a:solidFill>
                <a:latin typeface="Helvetica Neue"/>
                <a:ea typeface="Helvetica Neue"/>
                <a:cs typeface="Helvetica Neue"/>
              </a:rPr>
              <a:t>Gain describes split usage, not causal influence. Saved models reload the same forecasts.</a:t>
            </a:r>
          </a:p>
        </p:txBody>
      </p:sp>
    </p:spTree>
    <p:extLst>
      <p:ext uri="{BB962C8B-B14F-4D97-AF65-F5344CB8AC3E}">
        <p14:creationId xmlns:p14="http://schemas.microsoft.com/office/powerpoint/2010/main" val="1815156825"/>
      </p:ext>
    </p:extLst>
  </p:cSld>
</p:sld>
</file>

<file path=ppt/slides/slide8.xml><?xml version="1.0" encoding="utf-8"?>
<p:sld xmlns:p="http://schemas.openxmlformats.org/presentationml/2006/main">
  <p:cSld>
    <p:bg>
      <p:bgPr>
        <a:solidFill xmlns:a="http://schemas.openxmlformats.org/drawingml/2006/main">
          <a:srgbClr val="F7F6EF"/>
        </a:solidFill>
      </p:bgPr>
    </p:bg>
    <p:spTree>
      <p:nvGrpSpPr>
        <p:cNvPr id="1" name=""/>
        <p:cNvGrpSpPr/>
        <p:nvPr/>
      </p:nvGrpSpPr>
      <p:grpSpPr>
        <a:xfrm xmlns:a="http://schemas.openxmlformats.org/drawingml/2006/main"/>
      </p:grpSpPr>
      <p:sp>
        <p:nvSpPr>
          <p:cNvPr id="11" name="Text FINAL EVALUATION / ALL EIGHT MODELS">
            <a:extLst xmlns:a="http://schemas.openxmlformats.org/drawingml/2006/main">
              <a:ext uri="{FF2B5EF4-FFF2-40B4-BE49-F238E27FC236}">
                <a16:creationId xmlns:a16="http://schemas.microsoft.com/office/drawing/2014/main" id="{31CA571C-1428-41B3-A40D-FBC79616C24D}"/>
              </a:ext>
            </a:extLst>
          </p:cNvPr>
          <p:cNvSpPr>
            <a:spLocks xmlns:a="http://schemas.openxmlformats.org/drawingml/2006/main" noGrp="1"/>
          </p:cNvSpPr>
          <p:nvPr/>
        </p:nvSpPr>
        <p:spPr>
          <a:xfrm xmlns:a="http://schemas.openxmlformats.org/drawingml/2006/main">
            <a:off x="628650" y="3048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07D79"/>
                </a:solidFill>
                <a:latin typeface="Helvetica Neue"/>
                <a:ea typeface="Helvetica Neue"/>
                <a:cs typeface="Helvetica Neue"/>
              </a:defRPr>
            </a:defPPr>
            <a:lvl1pPr algn="l">
              <a:defRPr sz="1275" b="1">
                <a:solidFill>
                  <a:srgbClr val="107D79"/>
                </a:solidFill>
                <a:latin typeface="Helvetica Neue"/>
                <a:ea typeface="Helvetica Neue"/>
                <a:cs typeface="Helvetica Neue"/>
              </a:defRPr>
            </a:lvl1pPr>
            <a:lvl2pPr algn="l">
              <a:defRPr sz="1275" b="1">
                <a:solidFill>
                  <a:srgbClr val="107D79"/>
                </a:solidFill>
                <a:latin typeface="Helvetica Neue"/>
                <a:ea typeface="Helvetica Neue"/>
                <a:cs typeface="Helvetica Neue"/>
              </a:defRPr>
            </a:lvl2pPr>
            <a:lvl3pPr algn="l">
              <a:defRPr sz="1275" b="1">
                <a:solidFill>
                  <a:srgbClr val="107D79"/>
                </a:solidFill>
                <a:latin typeface="Helvetica Neue"/>
                <a:ea typeface="Helvetica Neue"/>
                <a:cs typeface="Helvetica Neue"/>
              </a:defRPr>
            </a:lvl3pPr>
            <a:lvl4pPr algn="l">
              <a:defRPr sz="1275" b="1">
                <a:solidFill>
                  <a:srgbClr val="107D79"/>
                </a:solidFill>
                <a:latin typeface="Helvetica Neue"/>
                <a:ea typeface="Helvetica Neue"/>
                <a:cs typeface="Helvetica Neue"/>
              </a:defRPr>
            </a:lvl4pPr>
            <a:lvl5pPr algn="l">
              <a:defRPr sz="1275" b="1">
                <a:solidFill>
                  <a:srgbClr val="107D79"/>
                </a:solidFill>
                <a:latin typeface="Helvetica Neue"/>
                <a:ea typeface="Helvetica Neue"/>
                <a:cs typeface="Helvetica Neue"/>
              </a:defRPr>
            </a:lvl5pPr>
            <a:lvl6pPr algn="l">
              <a:defRPr sz="1275" b="1">
                <a:solidFill>
                  <a:srgbClr val="107D79"/>
                </a:solidFill>
                <a:latin typeface="Helvetica Neue"/>
                <a:ea typeface="Helvetica Neue"/>
                <a:cs typeface="Helvetica Neue"/>
              </a:defRPr>
            </a:lvl6pPr>
            <a:lvl7pPr algn="l">
              <a:defRPr sz="1275" b="1">
                <a:solidFill>
                  <a:srgbClr val="107D79"/>
                </a:solidFill>
                <a:latin typeface="Helvetica Neue"/>
                <a:ea typeface="Helvetica Neue"/>
                <a:cs typeface="Helvetica Neue"/>
              </a:defRPr>
            </a:lvl7pPr>
            <a:lvl8pPr algn="l">
              <a:defRPr sz="1275" b="1">
                <a:solidFill>
                  <a:srgbClr val="107D79"/>
                </a:solidFill>
                <a:latin typeface="Helvetica Neue"/>
                <a:ea typeface="Helvetica Neue"/>
                <a:cs typeface="Helvetica Neue"/>
              </a:defRPr>
            </a:lvl8pPr>
            <a:lvl9pPr algn="l">
              <a:defRPr sz="1275" b="1">
                <a:solidFill>
                  <a:srgbClr val="107D79"/>
                </a:solidFill>
                <a:latin typeface="Helvetica Neue"/>
                <a:ea typeface="Helvetica Neue"/>
                <a:cs typeface="Helvetica Neue"/>
              </a:defRPr>
            </a:lvl9pPr>
          </a:lstStyle>
          <a:p xmlns:a="http://schemas.openxmlformats.org/drawingml/2006/main">
            <a:pPr algn="l">
              <a:lnSpc>
                <a:spcPct val="112000"/>
              </a:lnSpc>
              <a:buNone/>
              <a:defRPr sz="1275" b="1">
                <a:solidFill>
                  <a:srgbClr val="107D79"/>
                </a:solidFill>
                <a:latin typeface="Helvetica Neue"/>
                <a:ea typeface="Helvetica Neue"/>
                <a:cs typeface="Helvetica Neue"/>
              </a:defRPr>
            </a:pPr>
            <a:r>
              <a:rPr sz="1275" b="1">
                <a:solidFill>
                  <a:srgbClr val="107D79"/>
                </a:solidFill>
                <a:latin typeface="Helvetica Neue"/>
                <a:ea typeface="Helvetica Neue"/>
                <a:cs typeface="Helvetica Neue"/>
              </a:rPr>
              <a:t>FINAL EVALUATION / ALL EIGHT MODELS</a:t>
            </a:r>
          </a:p>
        </p:txBody>
      </p:sp>
      <p:sp>
        <p:nvSpPr>
          <p:cNvPr id="2" name="Text LightGBM wins MAE. Weekly Kalman wins RMSE">
            <a:extLst xmlns:a="http://schemas.openxmlformats.org/drawingml/2006/main">
              <a:ext uri="{FF2B5EF4-FFF2-40B4-BE49-F238E27FC236}">
                <a16:creationId xmlns:a16="http://schemas.microsoft.com/office/drawing/2014/main" id="{F153DC0D-A610-4B55-8D8E-09FBD09749E0}"/>
              </a:ext>
            </a:extLst>
          </p:cNvPr>
          <p:cNvSpPr>
            <a:spLocks xmlns:a="http://schemas.openxmlformats.org/drawingml/2006/main" noGrp="1"/>
          </p:cNvSpPr>
          <p:nvPr/>
        </p:nvSpPr>
        <p:spPr>
          <a:xfrm xmlns:a="http://schemas.openxmlformats.org/drawingml/2006/main">
            <a:off x="609600" y="7810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323A"/>
                </a:solidFill>
                <a:latin typeface="Helvetica Neue"/>
                <a:ea typeface="Helvetica Neue"/>
                <a:cs typeface="Helvetica Neue"/>
              </a:defRPr>
            </a:defPPr>
            <a:lvl1pPr algn="l">
              <a:defRPr sz="3300" b="1">
                <a:solidFill>
                  <a:srgbClr val="12323A"/>
                </a:solidFill>
                <a:latin typeface="Helvetica Neue"/>
                <a:ea typeface="Helvetica Neue"/>
                <a:cs typeface="Helvetica Neue"/>
              </a:defRPr>
            </a:lvl1pPr>
            <a:lvl2pPr algn="l">
              <a:defRPr sz="3300" b="1">
                <a:solidFill>
                  <a:srgbClr val="12323A"/>
                </a:solidFill>
                <a:latin typeface="Helvetica Neue"/>
                <a:ea typeface="Helvetica Neue"/>
                <a:cs typeface="Helvetica Neue"/>
              </a:defRPr>
            </a:lvl2pPr>
            <a:lvl3pPr algn="l">
              <a:defRPr sz="3300" b="1">
                <a:solidFill>
                  <a:srgbClr val="12323A"/>
                </a:solidFill>
                <a:latin typeface="Helvetica Neue"/>
                <a:ea typeface="Helvetica Neue"/>
                <a:cs typeface="Helvetica Neue"/>
              </a:defRPr>
            </a:lvl3pPr>
            <a:lvl4pPr algn="l">
              <a:defRPr sz="3300" b="1">
                <a:solidFill>
                  <a:srgbClr val="12323A"/>
                </a:solidFill>
                <a:latin typeface="Helvetica Neue"/>
                <a:ea typeface="Helvetica Neue"/>
                <a:cs typeface="Helvetica Neue"/>
              </a:defRPr>
            </a:lvl4pPr>
            <a:lvl5pPr algn="l">
              <a:defRPr sz="3300" b="1">
                <a:solidFill>
                  <a:srgbClr val="12323A"/>
                </a:solidFill>
                <a:latin typeface="Helvetica Neue"/>
                <a:ea typeface="Helvetica Neue"/>
                <a:cs typeface="Helvetica Neue"/>
              </a:defRPr>
            </a:lvl5pPr>
            <a:lvl6pPr algn="l">
              <a:defRPr sz="3300" b="1">
                <a:solidFill>
                  <a:srgbClr val="12323A"/>
                </a:solidFill>
                <a:latin typeface="Helvetica Neue"/>
                <a:ea typeface="Helvetica Neue"/>
                <a:cs typeface="Helvetica Neue"/>
              </a:defRPr>
            </a:lvl6pPr>
            <a:lvl7pPr algn="l">
              <a:defRPr sz="3300" b="1">
                <a:solidFill>
                  <a:srgbClr val="12323A"/>
                </a:solidFill>
                <a:latin typeface="Helvetica Neue"/>
                <a:ea typeface="Helvetica Neue"/>
                <a:cs typeface="Helvetica Neue"/>
              </a:defRPr>
            </a:lvl7pPr>
            <a:lvl8pPr algn="l">
              <a:defRPr sz="3300" b="1">
                <a:solidFill>
                  <a:srgbClr val="12323A"/>
                </a:solidFill>
                <a:latin typeface="Helvetica Neue"/>
                <a:ea typeface="Helvetica Neue"/>
                <a:cs typeface="Helvetica Neue"/>
              </a:defRPr>
            </a:lvl8pPr>
            <a:lvl9pPr algn="l">
              <a:defRPr sz="3300" b="1">
                <a:solidFill>
                  <a:srgbClr val="12323A"/>
                </a:solidFill>
                <a:latin typeface="Helvetica Neue"/>
                <a:ea typeface="Helvetica Neue"/>
                <a:cs typeface="Helvetica Neue"/>
              </a:defRPr>
            </a:lvl9pPr>
          </a:lstStyle>
          <a:p xmlns:a="http://schemas.openxmlformats.org/drawingml/2006/main">
            <a:pPr algn="l">
              <a:lnSpc>
                <a:spcPct val="112000"/>
              </a:lnSpc>
              <a:buNone/>
              <a:defRPr sz="3300" b="1">
                <a:solidFill>
                  <a:srgbClr val="12323A"/>
                </a:solidFill>
                <a:latin typeface="Helvetica Neue"/>
                <a:ea typeface="Helvetica Neue"/>
                <a:cs typeface="Helvetica Neue"/>
              </a:defRPr>
            </a:pPr>
            <a:r>
              <a:rPr sz="3300" b="1">
                <a:solidFill>
                  <a:srgbClr val="12323A"/>
                </a:solidFill>
                <a:latin typeface="Helvetica Neue"/>
                <a:ea typeface="Helvetica Neue"/>
                <a:cs typeface="Helvetica Neue"/>
              </a:rPr>
              <a:t>LightGBM wins MAE. Weekly Kalman wins RMSE</a:t>
            </a:r>
          </a:p>
        </p:txBody>
      </p:sp>
      <p:sp>
        <p:nvSpPr>
          <p:cNvPr id="3" name="Text Same 26,880 targets across four development window">
            <a:extLst xmlns:a="http://schemas.openxmlformats.org/drawingml/2006/main">
              <a:ext uri="{FF2B5EF4-FFF2-40B4-BE49-F238E27FC236}">
                <a16:creationId xmlns:a16="http://schemas.microsoft.com/office/drawing/2014/main" id="{6F7D9B8D-4B93-4AAD-BAC7-C2534373ADA6}"/>
              </a:ext>
            </a:extLst>
          </p:cNvPr>
          <p:cNvSpPr>
            <a:spLocks xmlns:a="http://schemas.openxmlformats.org/drawingml/2006/main" noGrp="1"/>
          </p:cNvSpPr>
          <p:nvPr/>
        </p:nvSpPr>
        <p:spPr>
          <a:xfrm xmlns:a="http://schemas.openxmlformats.org/drawingml/2006/main">
            <a:off x="628650" y="1657350"/>
            <a:ext cx="10839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7377"/>
                </a:solidFill>
                <a:latin typeface="Helvetica Neue"/>
                <a:ea typeface="Helvetica Neue"/>
                <a:cs typeface="Helvetica Neue"/>
              </a:defRPr>
            </a:defPPr>
            <a:lvl1pPr algn="l">
              <a:defRPr sz="1800" b="0">
                <a:solidFill>
                  <a:srgbClr val="5E7377"/>
                </a:solidFill>
                <a:latin typeface="Helvetica Neue"/>
                <a:ea typeface="Helvetica Neue"/>
                <a:cs typeface="Helvetica Neue"/>
              </a:defRPr>
            </a:lvl1pPr>
            <a:lvl2pPr algn="l">
              <a:defRPr sz="1800" b="0">
                <a:solidFill>
                  <a:srgbClr val="5E7377"/>
                </a:solidFill>
                <a:latin typeface="Helvetica Neue"/>
                <a:ea typeface="Helvetica Neue"/>
                <a:cs typeface="Helvetica Neue"/>
              </a:defRPr>
            </a:lvl2pPr>
            <a:lvl3pPr algn="l">
              <a:defRPr sz="1800" b="0">
                <a:solidFill>
                  <a:srgbClr val="5E7377"/>
                </a:solidFill>
                <a:latin typeface="Helvetica Neue"/>
                <a:ea typeface="Helvetica Neue"/>
                <a:cs typeface="Helvetica Neue"/>
              </a:defRPr>
            </a:lvl3pPr>
            <a:lvl4pPr algn="l">
              <a:defRPr sz="1800" b="0">
                <a:solidFill>
                  <a:srgbClr val="5E7377"/>
                </a:solidFill>
                <a:latin typeface="Helvetica Neue"/>
                <a:ea typeface="Helvetica Neue"/>
                <a:cs typeface="Helvetica Neue"/>
              </a:defRPr>
            </a:lvl4pPr>
            <a:lvl5pPr algn="l">
              <a:defRPr sz="1800" b="0">
                <a:solidFill>
                  <a:srgbClr val="5E7377"/>
                </a:solidFill>
                <a:latin typeface="Helvetica Neue"/>
                <a:ea typeface="Helvetica Neue"/>
                <a:cs typeface="Helvetica Neue"/>
              </a:defRPr>
            </a:lvl5pPr>
            <a:lvl6pPr algn="l">
              <a:defRPr sz="1800" b="0">
                <a:solidFill>
                  <a:srgbClr val="5E7377"/>
                </a:solidFill>
                <a:latin typeface="Helvetica Neue"/>
                <a:ea typeface="Helvetica Neue"/>
                <a:cs typeface="Helvetica Neue"/>
              </a:defRPr>
            </a:lvl6pPr>
            <a:lvl7pPr algn="l">
              <a:defRPr sz="1800" b="0">
                <a:solidFill>
                  <a:srgbClr val="5E7377"/>
                </a:solidFill>
                <a:latin typeface="Helvetica Neue"/>
                <a:ea typeface="Helvetica Neue"/>
                <a:cs typeface="Helvetica Neue"/>
              </a:defRPr>
            </a:lvl7pPr>
            <a:lvl8pPr algn="l">
              <a:defRPr sz="1800" b="0">
                <a:solidFill>
                  <a:srgbClr val="5E7377"/>
                </a:solidFill>
                <a:latin typeface="Helvetica Neue"/>
                <a:ea typeface="Helvetica Neue"/>
                <a:cs typeface="Helvetica Neue"/>
              </a:defRPr>
            </a:lvl8pPr>
            <a:lvl9pPr algn="l">
              <a:defRPr sz="1800" b="0">
                <a:solidFill>
                  <a:srgbClr val="5E7377"/>
                </a:solidFill>
                <a:latin typeface="Helvetica Neue"/>
                <a:ea typeface="Helvetica Neue"/>
                <a:cs typeface="Helvetica Neue"/>
              </a:defRPr>
            </a:lvl9pPr>
          </a:lstStyle>
          <a:p xmlns:a="http://schemas.openxmlformats.org/drawingml/2006/main">
            <a:pPr algn="l">
              <a:lnSpc>
                <a:spcPct val="112000"/>
              </a:lnSpc>
              <a:buNone/>
              <a:defRPr sz="1800" b="0">
                <a:solidFill>
                  <a:srgbClr val="5E7377"/>
                </a:solidFill>
                <a:latin typeface="Helvetica Neue"/>
                <a:ea typeface="Helvetica Neue"/>
                <a:cs typeface="Helvetica Neue"/>
              </a:defRPr>
            </a:pPr>
            <a:r>
              <a:rPr sz="1800" b="0">
                <a:solidFill>
                  <a:srgbClr val="5E7377"/>
                </a:solidFill>
                <a:latin typeface="Helvetica Neue"/>
                <a:ea typeface="Helvetica Neue"/>
                <a:cs typeface="Helvetica Neue"/>
              </a:rPr>
              <a:t>Same 26,880 targets across four development windows. Lower is better</a:t>
            </a:r>
          </a:p>
        </p:txBody>
      </p:sp>
      <p:sp>
        <p:nvSpPr>
          <p:cNvPr id="4" name="Text 08">
            <a:extLst xmlns:a="http://schemas.openxmlformats.org/drawingml/2006/main">
              <a:ext uri="{FF2B5EF4-FFF2-40B4-BE49-F238E27FC236}">
                <a16:creationId xmlns:a16="http://schemas.microsoft.com/office/drawing/2014/main" id="{7B08E903-FF9B-4BC9-AC6C-A9F307B489EB}"/>
              </a:ext>
            </a:extLst>
          </p:cNvPr>
          <p:cNvSpPr>
            <a:spLocks xmlns:a="http://schemas.openxmlformats.org/drawingml/2006/main" noGrp="1"/>
          </p:cNvSpPr>
          <p:nvPr/>
        </p:nvSpPr>
        <p:spPr>
          <a:xfrm xmlns:a="http://schemas.openxmlformats.org/drawingml/2006/main">
            <a:off x="11125200" y="64484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E7377"/>
                </a:solidFill>
                <a:latin typeface="Helvetica Neue"/>
                <a:ea typeface="Helvetica Neue"/>
                <a:cs typeface="Helvetica Neue"/>
              </a:defRPr>
            </a:defPPr>
            <a:lvl1pPr algn="r">
              <a:defRPr sz="1200" b="0">
                <a:solidFill>
                  <a:srgbClr val="5E7377"/>
                </a:solidFill>
                <a:latin typeface="Helvetica Neue"/>
                <a:ea typeface="Helvetica Neue"/>
                <a:cs typeface="Helvetica Neue"/>
              </a:defRPr>
            </a:lvl1pPr>
            <a:lvl2pPr algn="r">
              <a:defRPr sz="1200" b="0">
                <a:solidFill>
                  <a:srgbClr val="5E7377"/>
                </a:solidFill>
                <a:latin typeface="Helvetica Neue"/>
                <a:ea typeface="Helvetica Neue"/>
                <a:cs typeface="Helvetica Neue"/>
              </a:defRPr>
            </a:lvl2pPr>
            <a:lvl3pPr algn="r">
              <a:defRPr sz="1200" b="0">
                <a:solidFill>
                  <a:srgbClr val="5E7377"/>
                </a:solidFill>
                <a:latin typeface="Helvetica Neue"/>
                <a:ea typeface="Helvetica Neue"/>
                <a:cs typeface="Helvetica Neue"/>
              </a:defRPr>
            </a:lvl3pPr>
            <a:lvl4pPr algn="r">
              <a:defRPr sz="1200" b="0">
                <a:solidFill>
                  <a:srgbClr val="5E7377"/>
                </a:solidFill>
                <a:latin typeface="Helvetica Neue"/>
                <a:ea typeface="Helvetica Neue"/>
                <a:cs typeface="Helvetica Neue"/>
              </a:defRPr>
            </a:lvl4pPr>
            <a:lvl5pPr algn="r">
              <a:defRPr sz="1200" b="0">
                <a:solidFill>
                  <a:srgbClr val="5E7377"/>
                </a:solidFill>
                <a:latin typeface="Helvetica Neue"/>
                <a:ea typeface="Helvetica Neue"/>
                <a:cs typeface="Helvetica Neue"/>
              </a:defRPr>
            </a:lvl5pPr>
            <a:lvl6pPr algn="r">
              <a:defRPr sz="1200" b="0">
                <a:solidFill>
                  <a:srgbClr val="5E7377"/>
                </a:solidFill>
                <a:latin typeface="Helvetica Neue"/>
                <a:ea typeface="Helvetica Neue"/>
                <a:cs typeface="Helvetica Neue"/>
              </a:defRPr>
            </a:lvl6pPr>
            <a:lvl7pPr algn="r">
              <a:defRPr sz="1200" b="0">
                <a:solidFill>
                  <a:srgbClr val="5E7377"/>
                </a:solidFill>
                <a:latin typeface="Helvetica Neue"/>
                <a:ea typeface="Helvetica Neue"/>
                <a:cs typeface="Helvetica Neue"/>
              </a:defRPr>
            </a:lvl7pPr>
            <a:lvl8pPr algn="r">
              <a:defRPr sz="1200" b="0">
                <a:solidFill>
                  <a:srgbClr val="5E7377"/>
                </a:solidFill>
                <a:latin typeface="Helvetica Neue"/>
                <a:ea typeface="Helvetica Neue"/>
                <a:cs typeface="Helvetica Neue"/>
              </a:defRPr>
            </a:lvl8pPr>
            <a:lvl9pPr algn="r">
              <a:defRPr sz="1200" b="0">
                <a:solidFill>
                  <a:srgbClr val="5E7377"/>
                </a:solidFill>
                <a:latin typeface="Helvetica Neue"/>
                <a:ea typeface="Helvetica Neue"/>
                <a:cs typeface="Helvetica Neue"/>
              </a:defRPr>
            </a:lvl9pPr>
          </a:lstStyle>
          <a:p xmlns:a="http://schemas.openxmlformats.org/drawingml/2006/main">
            <a:pPr algn="r">
              <a:lnSpc>
                <a:spcPct val="112000"/>
              </a:lnSpc>
              <a:buNone/>
              <a:defRPr sz="1200" b="0">
                <a:solidFill>
                  <a:srgbClr val="5E7377"/>
                </a:solidFill>
                <a:latin typeface="Helvetica Neue"/>
                <a:ea typeface="Helvetica Neue"/>
                <a:cs typeface="Helvetica Neue"/>
              </a:defRPr>
            </a:pPr>
            <a:r>
              <a:rPr sz="1200" b="0">
                <a:solidFill>
                  <a:srgbClr val="5E7377"/>
                </a:solidFill>
                <a:latin typeface="Helvetica Neue"/>
                <a:ea typeface="Helvetica Neue"/>
                <a:cs typeface="Helvetica Neue"/>
              </a:rPr>
              <a:t>08</a:t>
            </a:r>
          </a:p>
        </p:txBody>
      </p:sp>
      <p:sp>
        <p:nvSpPr>
          <p:cNvPr id="5" name="Text WAPE: total misses / sales">
            <a:extLst xmlns:a="http://schemas.openxmlformats.org/drawingml/2006/main">
              <a:ext uri="{FF2B5EF4-FFF2-40B4-BE49-F238E27FC236}">
                <a16:creationId xmlns:a16="http://schemas.microsoft.com/office/drawing/2014/main" id="{CA5CFB11-075B-4872-94FD-93DA2A2BC4FE}"/>
              </a:ext>
            </a:extLst>
          </p:cNvPr>
          <p:cNvSpPr>
            <a:spLocks xmlns:a="http://schemas.openxmlformats.org/drawingml/2006/main" noGrp="1"/>
          </p:cNvSpPr>
          <p:nvPr/>
        </p:nvSpPr>
        <p:spPr>
          <a:xfrm xmlns:a="http://schemas.openxmlformats.org/drawingml/2006/main">
            <a:off x="666750" y="22764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07D79"/>
                </a:solidFill>
                <a:latin typeface="Helvetica Neue"/>
                <a:ea typeface="Helvetica Neue"/>
                <a:cs typeface="Helvetica Neue"/>
              </a:defRPr>
            </a:defPPr>
            <a:lvl1pPr algn="l">
              <a:defRPr sz="1950" b="1">
                <a:solidFill>
                  <a:srgbClr val="107D79"/>
                </a:solidFill>
                <a:latin typeface="Helvetica Neue"/>
                <a:ea typeface="Helvetica Neue"/>
                <a:cs typeface="Helvetica Neue"/>
              </a:defRPr>
            </a:lvl1pPr>
            <a:lvl2pPr algn="l">
              <a:defRPr sz="1950" b="1">
                <a:solidFill>
                  <a:srgbClr val="107D79"/>
                </a:solidFill>
                <a:latin typeface="Helvetica Neue"/>
                <a:ea typeface="Helvetica Neue"/>
                <a:cs typeface="Helvetica Neue"/>
              </a:defRPr>
            </a:lvl2pPr>
            <a:lvl3pPr algn="l">
              <a:defRPr sz="1950" b="1">
                <a:solidFill>
                  <a:srgbClr val="107D79"/>
                </a:solidFill>
                <a:latin typeface="Helvetica Neue"/>
                <a:ea typeface="Helvetica Neue"/>
                <a:cs typeface="Helvetica Neue"/>
              </a:defRPr>
            </a:lvl3pPr>
            <a:lvl4pPr algn="l">
              <a:defRPr sz="1950" b="1">
                <a:solidFill>
                  <a:srgbClr val="107D79"/>
                </a:solidFill>
                <a:latin typeface="Helvetica Neue"/>
                <a:ea typeface="Helvetica Neue"/>
                <a:cs typeface="Helvetica Neue"/>
              </a:defRPr>
            </a:lvl4pPr>
            <a:lvl5pPr algn="l">
              <a:defRPr sz="1950" b="1">
                <a:solidFill>
                  <a:srgbClr val="107D79"/>
                </a:solidFill>
                <a:latin typeface="Helvetica Neue"/>
                <a:ea typeface="Helvetica Neue"/>
                <a:cs typeface="Helvetica Neue"/>
              </a:defRPr>
            </a:lvl5pPr>
            <a:lvl6pPr algn="l">
              <a:defRPr sz="1950" b="1">
                <a:solidFill>
                  <a:srgbClr val="107D79"/>
                </a:solidFill>
                <a:latin typeface="Helvetica Neue"/>
                <a:ea typeface="Helvetica Neue"/>
                <a:cs typeface="Helvetica Neue"/>
              </a:defRPr>
            </a:lvl6pPr>
            <a:lvl7pPr algn="l">
              <a:defRPr sz="1950" b="1">
                <a:solidFill>
                  <a:srgbClr val="107D79"/>
                </a:solidFill>
                <a:latin typeface="Helvetica Neue"/>
                <a:ea typeface="Helvetica Neue"/>
                <a:cs typeface="Helvetica Neue"/>
              </a:defRPr>
            </a:lvl7pPr>
            <a:lvl8pPr algn="l">
              <a:defRPr sz="1950" b="1">
                <a:solidFill>
                  <a:srgbClr val="107D79"/>
                </a:solidFill>
                <a:latin typeface="Helvetica Neue"/>
                <a:ea typeface="Helvetica Neue"/>
                <a:cs typeface="Helvetica Neue"/>
              </a:defRPr>
            </a:lvl8pPr>
            <a:lvl9pPr algn="l">
              <a:defRPr sz="1950" b="1">
                <a:solidFill>
                  <a:srgbClr val="107D79"/>
                </a:solidFill>
                <a:latin typeface="Helvetica Neue"/>
                <a:ea typeface="Helvetica Neue"/>
                <a:cs typeface="Helvetica Neue"/>
              </a:defRPr>
            </a:lvl9pPr>
          </a:lstStyle>
          <a:p xmlns:a="http://schemas.openxmlformats.org/drawingml/2006/main">
            <a:pPr algn="l">
              <a:lnSpc>
                <a:spcPct val="112000"/>
              </a:lnSpc>
              <a:buNone/>
              <a:defRPr sz="1950" b="1">
                <a:solidFill>
                  <a:srgbClr val="107D79"/>
                </a:solidFill>
                <a:latin typeface="Helvetica Neue"/>
                <a:ea typeface="Helvetica Neue"/>
                <a:cs typeface="Helvetica Neue"/>
              </a:defRPr>
            </a:pPr>
            <a:r>
              <a:rPr sz="1950" b="1">
                <a:solidFill>
                  <a:srgbClr val="107D79"/>
                </a:solidFill>
                <a:latin typeface="Helvetica Neue"/>
                <a:ea typeface="Helvetica Neue"/>
                <a:cs typeface="Helvetica Neue"/>
              </a:rPr>
              <a:t>WAPE: total misses / sales</a:t>
            </a:r>
          </a:p>
        </p:txBody>
      </p:sp>
      <p:graphicFrame>
        <p:nvGraphicFramePr>
          <p:cNvPr id="6" name="Chart">
            <a:extLst xmlns:a="http://schemas.openxmlformats.org/drawingml/2006/main">
              <a:ext uri="{FF2B5EF4-FFF2-40B4-BE49-F238E27FC236}">
                <a16:creationId xmlns:a16="http://schemas.microsoft.com/office/drawing/2014/main" id="{DC594B59-37DF-4072-8464-E88E4E462273}"/>
              </a:ext>
            </a:extLst>
          </p:cNvPr>
          <p:cNvGraphicFramePr/>
          <p:nvPr/>
        </p:nvGraphicFramePr>
        <p:xfrm>
          <a:off xmlns:a="http://schemas.openxmlformats.org/drawingml/2006/main" x="628650" y="2686050"/>
          <a:ext xmlns:a="http://schemas.openxmlformats.org/drawingml/2006/main" cx="5124450" cy="3095625"/>
        </p:xfrm>
        <a:graphic xmlns:a="http://schemas.openxmlformats.org/drawingml/2006/main">
          <a:graphicData uri="http://schemas.openxmlformats.org/drawingml/2006/chart">
            <c:chart xmlns:r="http://schemas.openxmlformats.org/officeDocument/2006/relationships" xmlns:c="http://schemas.openxmlformats.org/drawingml/2006/chart" r:id="R5cc236b071bc42c3"/>
          </a:graphicData>
        </a:graphic>
      </p:graphicFrame>
      <p:graphicFrame>
        <p:nvGraphicFramePr>
          <p:cNvPr id="7" name="">
            <a:extLst xmlns:a="http://schemas.openxmlformats.org/drawingml/2006/main">
              <a:ext uri="{FF2B5EF4-FFF2-40B4-BE49-F238E27FC236}">
                <a16:creationId xmlns:a16="http://schemas.microsoft.com/office/drawing/2014/main" id="{54B358F5-EB08-4674-B395-60BCC47321A8}"/>
              </a:ext>
            </a:extLst>
          </p:cNvPr>
          <p:cNvGraphicFramePr/>
          <p:nvPr/>
        </p:nvGraphicFramePr>
        <p:xfrm>
          <a:off xmlns:a="http://schemas.openxmlformats.org/drawingml/2006/main" x="6057900" y="2667000"/>
          <a:ext xmlns:a="http://schemas.openxmlformats.org/drawingml/2006/main" cx="5505450" cy="3219450"/>
        </p:xfrm>
        <a:graphic xmlns:a="http://schemas.openxmlformats.org/drawingml/2006/main">
          <a:graphicData uri="http://schemas.openxmlformats.org/drawingml/2006/table">
            <a:tbl>
              <a:tblPr/>
              <a:tblGrid>
                <a:gridCol w="2205450"/>
                <a:gridCol w="1100000"/>
                <a:gridCol w="1100000"/>
                <a:gridCol w="1100000"/>
              </a:tblGrid>
              <a:tr h="357717">
                <a:tc>
                  <a:txBody>
                    <a:bodyPr wrap="square"/>
                    <a:lstStyle/>
                    <a:p>
                      <a:r>
                        <a:rPr sz="1725" b="1">
                          <a:solidFill>
                            <a:srgbClr val="FFFFFF"/>
                          </a:solidFill>
                          <a:latin typeface="Helvetica Neue"/>
                          <a:ea typeface="Helvetica Neue"/>
                          <a:cs typeface="Helvetica Neue"/>
                        </a:rPr>
                        <a:t>Model</a:t>
                      </a:r>
                    </a:p>
                  </a:txBody>
                  <a:tcPr marL="114300" marR="95250" marT="47625" marB="38100" anchor="ctr">
                    <a:lnL w="6668">
                      <a:solidFill>
                        <a:srgbClr val="D9E1DC"/>
                      </a:solidFill>
                      <a:prstDash val="solid"/>
                    </a:lnL>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725" b="1">
                          <a:solidFill>
                            <a:srgbClr val="FFFFFF"/>
                          </a:solidFill>
                          <a:latin typeface="Helvetica Neue"/>
                          <a:ea typeface="Helvetica Neue"/>
                          <a:cs typeface="Helvetica Neue"/>
                        </a:rPr>
                        <a:t>MAE</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r>
                        <a:rPr sz="1725" b="1">
                          <a:solidFill>
                            <a:srgbClr val="FFFFFF"/>
                          </a:solidFill>
                          <a:latin typeface="Helvetica Neue"/>
                          <a:ea typeface="Helvetica Neue"/>
                          <a:cs typeface="Helvetica Neue"/>
                        </a:rPr>
                        <a:t>RMSE</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c>
                  <a:txBody>
                    <a:bodyPr wrap="square"/>
                    <a:lstStyle/>
                    <a:p>
                      <a:pPr>
                        <a:defRPr sz="1725" b="1">
                          <a:latin typeface="Helvetica Neue"/>
                        </a:defRPr>
                      </a:pPr>
                      <a:r>
                        <a:t>WAPE</a:t>
                      </a:r>
                    </a:p>
                  </a:txBody>
                  <a:tcPr marL="114300" marR="95250" marT="47625" marB="38100" anchor="ctr">
                    <a:lnR w="6668">
                      <a:solidFill>
                        <a:srgbClr val="D9E1DC"/>
                      </a:solidFill>
                      <a:prstDash val="solid"/>
                    </a:lnR>
                    <a:lnT w="6668">
                      <a:solidFill>
                        <a:srgbClr val="D9E1DC"/>
                      </a:solidFill>
                      <a:prstDash val="solid"/>
                    </a:lnT>
                    <a:lnB w="6668">
                      <a:solidFill>
                        <a:srgbClr val="D9E1DC"/>
                      </a:solidFill>
                      <a:prstDash val="solid"/>
                    </a:lnB>
                    <a:solidFill>
                      <a:srgbClr val="107D79"/>
                    </a:solidFill>
                  </a:tcPr>
                </a:tc>
              </a:tr>
              <a:tr h="357717">
                <a:tc>
                  <a:txBody>
                    <a:bodyPr wrap="square"/>
                    <a:lstStyle/>
                    <a:p>
                      <a:r>
                        <a:rPr sz="1725" b="0">
                          <a:solidFill>
                            <a:srgbClr val="12323A"/>
                          </a:solidFill>
                          <a:latin typeface="Helvetica Neue"/>
                          <a:ea typeface="Helvetica Neue"/>
                          <a:cs typeface="Helvetica Neue"/>
                        </a:rPr>
                        <a:t>LightGBM</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1">
                          <a:solidFill>
                            <a:srgbClr val="CC713F"/>
                          </a:solidFill>
                          <a:latin typeface="Helvetica Neue"/>
                          <a:ea typeface="Helvetica Neue"/>
                          <a:cs typeface="Helvetica Neue"/>
                        </a:rPr>
                        <a:t>0.923</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2.108</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pPr>
                        <a:defRPr sz="1725" b="1">
                          <a:solidFill>
                            <a:srgbClr val="107D79"/>
                          </a:solidFill>
                          <a:latin typeface="Helvetica Neue"/>
                        </a:defRPr>
                      </a:pPr>
                      <a:r>
                        <a:t>0.764</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357717">
                <a:tc>
                  <a:txBody>
                    <a:bodyPr wrap="square"/>
                    <a:lstStyle/>
                    <a:p>
                      <a:r>
                        <a:rPr sz="1725" b="0">
                          <a:solidFill>
                            <a:srgbClr val="12323A"/>
                          </a:solidFill>
                          <a:latin typeface="Helvetica Neue"/>
                          <a:ea typeface="Helvetica Neue"/>
                          <a:cs typeface="Helvetica Neue"/>
                        </a:rPr>
                        <a:t>M7 level + week</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1.001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725" b="1">
                          <a:solidFill>
                            <a:srgbClr val="107D79"/>
                          </a:solidFill>
                          <a:latin typeface="Helvetica Neue"/>
                          <a:ea typeface="Helvetica Neue"/>
                          <a:cs typeface="Helvetica Neue"/>
                        </a:rPr>
                        <a:t>2.053</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pPr>
                        <a:defRPr sz="1725">
                          <a:latin typeface="Helvetica Neue"/>
                        </a:defRPr>
                      </a:pPr>
                      <a:r>
                        <a:t>0.829</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r h="357717">
                <a:tc>
                  <a:txBody>
                    <a:bodyPr wrap="square"/>
                    <a:lstStyle/>
                    <a:p>
                      <a:r>
                        <a:rPr sz="1725" b="0">
                          <a:solidFill>
                            <a:srgbClr val="12323A"/>
                          </a:solidFill>
                          <a:latin typeface="Helvetica Neue"/>
                          <a:ea typeface="Helvetica Neue"/>
                          <a:cs typeface="Helvetica Neue"/>
                        </a:rPr>
                        <a:t>M7 trend + week</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1.003</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2.058</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pPr>
                        <a:defRPr sz="1725">
                          <a:latin typeface="Helvetica Neue"/>
                        </a:defRPr>
                      </a:pPr>
                      <a:r>
                        <a:t>0.830</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357717">
                <a:tc>
                  <a:txBody>
                    <a:bodyPr wrap="square"/>
                    <a:lstStyle/>
                    <a:p>
                      <a:r>
                        <a:rPr sz="1725" b="0">
                          <a:solidFill>
                            <a:srgbClr val="12323A"/>
                          </a:solidFill>
                          <a:latin typeface="Helvetica Neue"/>
                          <a:ea typeface="Helvetica Neue"/>
                          <a:cs typeface="Helvetica Neue"/>
                        </a:rPr>
                        <a:t>M7 local level</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1.011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2.061</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pPr>
                        <a:defRPr sz="1725">
                          <a:latin typeface="Helvetica Neue"/>
                        </a:defRPr>
                      </a:pPr>
                      <a:r>
                        <a:t>0.837</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r h="357717">
                <a:tc>
                  <a:txBody>
                    <a:bodyPr wrap="square"/>
                    <a:lstStyle/>
                    <a:p>
                      <a:r>
                        <a:rPr sz="1725" b="0">
                          <a:solidFill>
                            <a:srgbClr val="12323A"/>
                          </a:solidFill>
                          <a:latin typeface="Helvetica Neue"/>
                          <a:ea typeface="Helvetica Neue"/>
                          <a:cs typeface="Helvetica Neue"/>
                        </a:rPr>
                        <a:t>M6 local level</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1.012</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2.078</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pPr>
                        <a:defRPr sz="1725">
                          <a:latin typeface="Helvetica Neue"/>
                        </a:defRPr>
                      </a:pPr>
                      <a:r>
                        <a:t>0.838</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357717">
                <a:tc>
                  <a:txBody>
                    <a:bodyPr wrap="square"/>
                    <a:lstStyle/>
                    <a:p>
                      <a:r>
                        <a:rPr sz="1725" b="0">
                          <a:solidFill>
                            <a:srgbClr val="12323A"/>
                          </a:solidFill>
                          <a:latin typeface="Helvetica Neue"/>
                          <a:ea typeface="Helvetica Neue"/>
                          <a:cs typeface="Helvetica Neue"/>
                        </a:rPr>
                        <a:t>M7 trend</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1.022</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2.098</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pPr>
                        <a:defRPr sz="1725">
                          <a:latin typeface="Helvetica Neue"/>
                        </a:defRPr>
                      </a:pPr>
                      <a:r>
                        <a:t>0.847</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r h="357717">
                <a:tc>
                  <a:txBody>
                    <a:bodyPr wrap="square"/>
                    <a:lstStyle/>
                    <a:p>
                      <a:r>
                        <a:rPr sz="1725" b="0">
                          <a:solidFill>
                            <a:srgbClr val="12323A"/>
                          </a:solidFill>
                          <a:latin typeface="Helvetica Neue"/>
                          <a:ea typeface="Helvetica Neue"/>
                          <a:cs typeface="Helvetica Neue"/>
                        </a:rPr>
                        <a:t>Weekly naive</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1.187</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r>
                        <a:rPr sz="1725" b="0">
                          <a:solidFill>
                            <a:srgbClr val="12323A"/>
                          </a:solidFill>
                          <a:latin typeface="Helvetica Neue"/>
                          <a:ea typeface="Helvetica Neue"/>
                          <a:cs typeface="Helvetica Neue"/>
                        </a:rPr>
                        <a:t>2.549</a:t>
                      </a:r>
                    </a:p>
                  </a:txBody>
                  <a:tcPr marL="114300" marR="95250" marT="47625" marB="38100" anchor="ctr">
                    <a:lnR w="6668">
                      <a:solidFill>
                        <a:srgbClr val="D9E1DC"/>
                      </a:solidFill>
                      <a:prstDash val="solid"/>
                    </a:lnR>
                    <a:lnB w="6668">
                      <a:solidFill>
                        <a:srgbClr val="D9E1DC"/>
                      </a:solidFill>
                      <a:prstDash val="solid"/>
                    </a:lnB>
                    <a:solidFill>
                      <a:srgbClr val="F7F6EF"/>
                    </a:solidFill>
                  </a:tcPr>
                </a:tc>
                <a:tc>
                  <a:txBody>
                    <a:bodyPr wrap="square"/>
                    <a:lstStyle/>
                    <a:p>
                      <a:pPr>
                        <a:defRPr sz="1725">
                          <a:latin typeface="Helvetica Neue"/>
                        </a:defRPr>
                      </a:pPr>
                      <a:r>
                        <a:t>0.983</a:t>
                      </a:r>
                    </a:p>
                  </a:txBody>
                  <a:tcPr marL="114300" marR="95250" marT="47625" marB="38100" anchor="ctr">
                    <a:lnR w="6668">
                      <a:solidFill>
                        <a:srgbClr val="D9E1DC"/>
                      </a:solidFill>
                      <a:prstDash val="solid"/>
                    </a:lnR>
                    <a:lnB w="6668">
                      <a:solidFill>
                        <a:srgbClr val="D9E1DC"/>
                      </a:solidFill>
                      <a:prstDash val="solid"/>
                    </a:lnB>
                    <a:solidFill>
                      <a:srgbClr val="F7F6EF"/>
                    </a:solidFill>
                  </a:tcPr>
                </a:tc>
              </a:tr>
              <a:tr h="357717">
                <a:tc>
                  <a:txBody>
                    <a:bodyPr wrap="square"/>
                    <a:lstStyle/>
                    <a:p>
                      <a:r>
                        <a:rPr sz="1725" b="0">
                          <a:solidFill>
                            <a:srgbClr val="12323A"/>
                          </a:solidFill>
                          <a:latin typeface="Helvetica Neue"/>
                          <a:ea typeface="Helvetica Neue"/>
                          <a:cs typeface="Helvetica Neue"/>
                        </a:rPr>
                        <a:t>Last value</a:t>
                      </a:r>
                    </a:p>
                  </a:txBody>
                  <a:tcPr marL="114300" marR="95250" marT="47625" marB="38100" anchor="ctr">
                    <a:lnL w="6668">
                      <a:solidFill>
                        <a:srgbClr val="D9E1DC"/>
                      </a:solidFill>
                      <a:prstDash val="solid"/>
                    </a:lnL>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1.248</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r>
                        <a:rPr sz="1725" b="0">
                          <a:solidFill>
                            <a:srgbClr val="12323A"/>
                          </a:solidFill>
                          <a:latin typeface="Helvetica Neue"/>
                          <a:ea typeface="Helvetica Neue"/>
                          <a:cs typeface="Helvetica Neue"/>
                        </a:rPr>
                        <a:t>2.515</a:t>
                      </a:r>
                    </a:p>
                  </a:txBody>
                  <a:tcPr marL="114300" marR="95250" marT="47625" marB="38100" anchor="ctr">
                    <a:lnR w="6668">
                      <a:solidFill>
                        <a:srgbClr val="D9E1DC"/>
                      </a:solidFill>
                      <a:prstDash val="solid"/>
                    </a:lnR>
                    <a:lnB w="6668">
                      <a:solidFill>
                        <a:srgbClr val="D9E1DC"/>
                      </a:solidFill>
                      <a:prstDash val="solid"/>
                    </a:lnB>
                    <a:solidFill>
                      <a:srgbClr val="EEF2ED"/>
                    </a:solidFill>
                  </a:tcPr>
                </a:tc>
                <a:tc>
                  <a:txBody>
                    <a:bodyPr wrap="square"/>
                    <a:lstStyle/>
                    <a:p>
                      <a:pPr>
                        <a:defRPr sz="1725">
                          <a:latin typeface="Helvetica Neue"/>
                        </a:defRPr>
                      </a:pPr>
                      <a:r>
                        <a:t>1.033</a:t>
                      </a:r>
                    </a:p>
                  </a:txBody>
                  <a:tcPr marL="114300" marR="95250" marT="47625" marB="38100" anchor="ctr">
                    <a:lnR w="6668">
                      <a:solidFill>
                        <a:srgbClr val="D9E1DC"/>
                      </a:solidFill>
                      <a:prstDash val="solid"/>
                    </a:lnR>
                    <a:lnB w="6668">
                      <a:solidFill>
                        <a:srgbClr val="D9E1DC"/>
                      </a:solidFill>
                      <a:prstDash val="solid"/>
                    </a:lnB>
                    <a:solidFill>
                      <a:srgbClr val="EEF2ED"/>
                    </a:solidFill>
                  </a:tcPr>
                </a:tc>
              </a:tr>
            </a:tbl>
          </a:graphicData>
        </a:graphic>
      </p:graphicFrame>
      <p:sp>
        <p:nvSpPr>
          <p:cNvPr id="8" name="Text 22.3% lower MAE than weekly naive">
            <a:extLst xmlns:a="http://schemas.openxmlformats.org/drawingml/2006/main">
              <a:ext uri="{FF2B5EF4-FFF2-40B4-BE49-F238E27FC236}">
                <a16:creationId xmlns:a16="http://schemas.microsoft.com/office/drawing/2014/main" id="{20099869-303A-4188-83E0-8F31108BD7DE}"/>
              </a:ext>
            </a:extLst>
          </p:cNvPr>
          <p:cNvSpPr>
            <a:spLocks xmlns:a="http://schemas.openxmlformats.org/drawingml/2006/main" noGrp="1"/>
          </p:cNvSpPr>
          <p:nvPr/>
        </p:nvSpPr>
        <p:spPr>
          <a:xfrm xmlns:a="http://schemas.openxmlformats.org/drawingml/2006/main">
            <a:off x="666750" y="6019800"/>
            <a:ext cx="752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7D79"/>
                </a:solidFill>
                <a:latin typeface="Helvetica Neue"/>
                <a:ea typeface="Helvetica Neue"/>
                <a:cs typeface="Helvetica Neue"/>
              </a:defRPr>
            </a:defPPr>
            <a:lvl1pPr algn="l">
              <a:defRPr sz="2175" b="1">
                <a:solidFill>
                  <a:srgbClr val="107D79"/>
                </a:solidFill>
                <a:latin typeface="Helvetica Neue"/>
                <a:ea typeface="Helvetica Neue"/>
                <a:cs typeface="Helvetica Neue"/>
              </a:defRPr>
            </a:lvl1pPr>
            <a:lvl2pPr algn="l">
              <a:defRPr sz="2175" b="1">
                <a:solidFill>
                  <a:srgbClr val="107D79"/>
                </a:solidFill>
                <a:latin typeface="Helvetica Neue"/>
                <a:ea typeface="Helvetica Neue"/>
                <a:cs typeface="Helvetica Neue"/>
              </a:defRPr>
            </a:lvl2pPr>
            <a:lvl3pPr algn="l">
              <a:defRPr sz="2175" b="1">
                <a:solidFill>
                  <a:srgbClr val="107D79"/>
                </a:solidFill>
                <a:latin typeface="Helvetica Neue"/>
                <a:ea typeface="Helvetica Neue"/>
                <a:cs typeface="Helvetica Neue"/>
              </a:defRPr>
            </a:lvl3pPr>
            <a:lvl4pPr algn="l">
              <a:defRPr sz="2175" b="1">
                <a:solidFill>
                  <a:srgbClr val="107D79"/>
                </a:solidFill>
                <a:latin typeface="Helvetica Neue"/>
                <a:ea typeface="Helvetica Neue"/>
                <a:cs typeface="Helvetica Neue"/>
              </a:defRPr>
            </a:lvl4pPr>
            <a:lvl5pPr algn="l">
              <a:defRPr sz="2175" b="1">
                <a:solidFill>
                  <a:srgbClr val="107D79"/>
                </a:solidFill>
                <a:latin typeface="Helvetica Neue"/>
                <a:ea typeface="Helvetica Neue"/>
                <a:cs typeface="Helvetica Neue"/>
              </a:defRPr>
            </a:lvl5pPr>
            <a:lvl6pPr algn="l">
              <a:defRPr sz="2175" b="1">
                <a:solidFill>
                  <a:srgbClr val="107D79"/>
                </a:solidFill>
                <a:latin typeface="Helvetica Neue"/>
                <a:ea typeface="Helvetica Neue"/>
                <a:cs typeface="Helvetica Neue"/>
              </a:defRPr>
            </a:lvl6pPr>
            <a:lvl7pPr algn="l">
              <a:defRPr sz="2175" b="1">
                <a:solidFill>
                  <a:srgbClr val="107D79"/>
                </a:solidFill>
                <a:latin typeface="Helvetica Neue"/>
                <a:ea typeface="Helvetica Neue"/>
                <a:cs typeface="Helvetica Neue"/>
              </a:defRPr>
            </a:lvl7pPr>
            <a:lvl8pPr algn="l">
              <a:defRPr sz="2175" b="1">
                <a:solidFill>
                  <a:srgbClr val="107D79"/>
                </a:solidFill>
                <a:latin typeface="Helvetica Neue"/>
                <a:ea typeface="Helvetica Neue"/>
                <a:cs typeface="Helvetica Neue"/>
              </a:defRPr>
            </a:lvl8pPr>
            <a:lvl9pPr algn="l">
              <a:defRPr sz="2175" b="1">
                <a:solidFill>
                  <a:srgbClr val="107D79"/>
                </a:solidFill>
                <a:latin typeface="Helvetica Neue"/>
                <a:ea typeface="Helvetica Neue"/>
                <a:cs typeface="Helvetica Neue"/>
              </a:defRPr>
            </a:lvl9pPr>
          </a:lstStyle>
          <a:p xmlns:a="http://schemas.openxmlformats.org/drawingml/2006/main">
            <a:pPr algn="l">
              <a:lnSpc>
                <a:spcPct val="112000"/>
              </a:lnSpc>
              <a:buNone/>
              <a:defRPr sz="2175" b="1">
                <a:solidFill>
                  <a:srgbClr val="107D79"/>
                </a:solidFill>
                <a:latin typeface="Helvetica Neue"/>
                <a:ea typeface="Helvetica Neue"/>
                <a:cs typeface="Helvetica Neue"/>
              </a:defRPr>
            </a:pPr>
            <a:r>
              <a:rPr sz="2175" b="1">
                <a:solidFill>
                  <a:srgbClr val="107D79"/>
                </a:solidFill>
                <a:latin typeface="Helvetica Neue"/>
                <a:ea typeface="Helvetica Neue"/>
                <a:cs typeface="Helvetica Neue"/>
              </a:rPr>
              <a:t>22.3% lower MAE than weekly naive</a:t>
            </a:r>
          </a:p>
        </p:txBody>
      </p:sp>
      <p:sp>
        <p:nvSpPr>
          <p:cNvPr id="9" name="Text Kalman also gives ranges">
            <a:extLst xmlns:a="http://schemas.openxmlformats.org/drawingml/2006/main">
              <a:ext uri="{FF2B5EF4-FFF2-40B4-BE49-F238E27FC236}">
                <a16:creationId xmlns:a16="http://schemas.microsoft.com/office/drawing/2014/main" id="{DB0A19E6-8231-41B7-8FB7-36E8B66E81DA}"/>
              </a:ext>
            </a:extLst>
          </p:cNvPr>
          <p:cNvSpPr>
            <a:spLocks xmlns:a="http://schemas.openxmlformats.org/drawingml/2006/main" noGrp="1"/>
          </p:cNvSpPr>
          <p:nvPr/>
        </p:nvSpPr>
        <p:spPr>
          <a:xfrm xmlns:a="http://schemas.openxmlformats.org/drawingml/2006/main">
            <a:off x="8496300" y="6096000"/>
            <a:ext cx="3076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E7377"/>
                </a:solidFill>
                <a:latin typeface="Helvetica Neue"/>
                <a:ea typeface="Helvetica Neue"/>
                <a:cs typeface="Helvetica Neue"/>
              </a:defRPr>
            </a:defPPr>
            <a:lvl1pPr algn="l">
              <a:defRPr sz="1725" b="0">
                <a:solidFill>
                  <a:srgbClr val="5E7377"/>
                </a:solidFill>
                <a:latin typeface="Helvetica Neue"/>
                <a:ea typeface="Helvetica Neue"/>
                <a:cs typeface="Helvetica Neue"/>
              </a:defRPr>
            </a:lvl1pPr>
            <a:lvl2pPr algn="l">
              <a:defRPr sz="1725" b="0">
                <a:solidFill>
                  <a:srgbClr val="5E7377"/>
                </a:solidFill>
                <a:latin typeface="Helvetica Neue"/>
                <a:ea typeface="Helvetica Neue"/>
                <a:cs typeface="Helvetica Neue"/>
              </a:defRPr>
            </a:lvl2pPr>
            <a:lvl3pPr algn="l">
              <a:defRPr sz="1725" b="0">
                <a:solidFill>
                  <a:srgbClr val="5E7377"/>
                </a:solidFill>
                <a:latin typeface="Helvetica Neue"/>
                <a:ea typeface="Helvetica Neue"/>
                <a:cs typeface="Helvetica Neue"/>
              </a:defRPr>
            </a:lvl3pPr>
            <a:lvl4pPr algn="l">
              <a:defRPr sz="1725" b="0">
                <a:solidFill>
                  <a:srgbClr val="5E7377"/>
                </a:solidFill>
                <a:latin typeface="Helvetica Neue"/>
                <a:ea typeface="Helvetica Neue"/>
                <a:cs typeface="Helvetica Neue"/>
              </a:defRPr>
            </a:lvl4pPr>
            <a:lvl5pPr algn="l">
              <a:defRPr sz="1725" b="0">
                <a:solidFill>
                  <a:srgbClr val="5E7377"/>
                </a:solidFill>
                <a:latin typeface="Helvetica Neue"/>
                <a:ea typeface="Helvetica Neue"/>
                <a:cs typeface="Helvetica Neue"/>
              </a:defRPr>
            </a:lvl5pPr>
            <a:lvl6pPr algn="l">
              <a:defRPr sz="1725" b="0">
                <a:solidFill>
                  <a:srgbClr val="5E7377"/>
                </a:solidFill>
                <a:latin typeface="Helvetica Neue"/>
                <a:ea typeface="Helvetica Neue"/>
                <a:cs typeface="Helvetica Neue"/>
              </a:defRPr>
            </a:lvl6pPr>
            <a:lvl7pPr algn="l">
              <a:defRPr sz="1725" b="0">
                <a:solidFill>
                  <a:srgbClr val="5E7377"/>
                </a:solidFill>
                <a:latin typeface="Helvetica Neue"/>
                <a:ea typeface="Helvetica Neue"/>
                <a:cs typeface="Helvetica Neue"/>
              </a:defRPr>
            </a:lvl7pPr>
            <a:lvl8pPr algn="l">
              <a:defRPr sz="1725" b="0">
                <a:solidFill>
                  <a:srgbClr val="5E7377"/>
                </a:solidFill>
                <a:latin typeface="Helvetica Neue"/>
                <a:ea typeface="Helvetica Neue"/>
                <a:cs typeface="Helvetica Neue"/>
              </a:defRPr>
            </a:lvl8pPr>
            <a:lvl9pPr algn="l">
              <a:defRPr sz="1725" b="0">
                <a:solidFill>
                  <a:srgbClr val="5E7377"/>
                </a:solidFill>
                <a:latin typeface="Helvetica Neue"/>
                <a:ea typeface="Helvetica Neue"/>
                <a:cs typeface="Helvetica Neue"/>
              </a:defRPr>
            </a:lvl9pPr>
          </a:lstStyle>
          <a:p xmlns:a="http://schemas.openxmlformats.org/drawingml/2006/main">
            <a:pPr algn="l">
              <a:lnSpc>
                <a:spcPct val="112000"/>
              </a:lnSpc>
              <a:buNone/>
              <a:defRPr sz="1725" b="0">
                <a:solidFill>
                  <a:srgbClr val="5E7377"/>
                </a:solidFill>
                <a:latin typeface="Helvetica Neue"/>
                <a:ea typeface="Helvetica Neue"/>
                <a:cs typeface="Helvetica Neue"/>
              </a:defRPr>
            </a:pPr>
            <a:r>
              <a:rPr sz="1725" b="0">
                <a:solidFill>
                  <a:srgbClr val="5E7377"/>
                </a:solidFill>
                <a:latin typeface="Helvetica Neue"/>
                <a:ea typeface="Helvetica Neue"/>
                <a:cs typeface="Helvetica Neue"/>
              </a:rPr>
              <a:t>Kalman also gives ranges</a:t>
            </a:r>
          </a:p>
        </p:txBody>
      </p:sp>
      <p:sp>
        <p:nvSpPr>
          <p:cNvPr id="10" name="Text Development scores include tuning windows. The res">
            <a:extLst xmlns:a="http://schemas.openxmlformats.org/drawingml/2006/main">
              <a:ext uri="{FF2B5EF4-FFF2-40B4-BE49-F238E27FC236}">
                <a16:creationId xmlns:a16="http://schemas.microsoft.com/office/drawing/2014/main" id="{E4331E1A-0372-4A29-B165-F2C3974EE17F}"/>
              </a:ext>
            </a:extLst>
          </p:cNvPr>
          <p:cNvSpPr>
            <a:spLocks xmlns:a="http://schemas.openxmlformats.org/drawingml/2006/main" noGrp="1"/>
          </p:cNvSpPr>
          <p:nvPr/>
        </p:nvSpPr>
        <p:spPr>
          <a:xfrm xmlns:a="http://schemas.openxmlformats.org/drawingml/2006/main">
            <a:off x="628650" y="64770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E7377"/>
                </a:solidFill>
                <a:latin typeface="Helvetica Neue"/>
                <a:ea typeface="Helvetica Neue"/>
                <a:cs typeface="Helvetica Neue"/>
              </a:defRPr>
            </a:defPPr>
            <a:lvl1pPr algn="l">
              <a:defRPr sz="1425" b="0">
                <a:solidFill>
                  <a:srgbClr val="5E7377"/>
                </a:solidFill>
                <a:latin typeface="Helvetica Neue"/>
                <a:ea typeface="Helvetica Neue"/>
                <a:cs typeface="Helvetica Neue"/>
              </a:defRPr>
            </a:lvl1pPr>
            <a:lvl2pPr algn="l">
              <a:defRPr sz="1425" b="0">
                <a:solidFill>
                  <a:srgbClr val="5E7377"/>
                </a:solidFill>
                <a:latin typeface="Helvetica Neue"/>
                <a:ea typeface="Helvetica Neue"/>
                <a:cs typeface="Helvetica Neue"/>
              </a:defRPr>
            </a:lvl2pPr>
            <a:lvl3pPr algn="l">
              <a:defRPr sz="1425" b="0">
                <a:solidFill>
                  <a:srgbClr val="5E7377"/>
                </a:solidFill>
                <a:latin typeface="Helvetica Neue"/>
                <a:ea typeface="Helvetica Neue"/>
                <a:cs typeface="Helvetica Neue"/>
              </a:defRPr>
            </a:lvl3pPr>
            <a:lvl4pPr algn="l">
              <a:defRPr sz="1425" b="0">
                <a:solidFill>
                  <a:srgbClr val="5E7377"/>
                </a:solidFill>
                <a:latin typeface="Helvetica Neue"/>
                <a:ea typeface="Helvetica Neue"/>
                <a:cs typeface="Helvetica Neue"/>
              </a:defRPr>
            </a:lvl4pPr>
            <a:lvl5pPr algn="l">
              <a:defRPr sz="1425" b="0">
                <a:solidFill>
                  <a:srgbClr val="5E7377"/>
                </a:solidFill>
                <a:latin typeface="Helvetica Neue"/>
                <a:ea typeface="Helvetica Neue"/>
                <a:cs typeface="Helvetica Neue"/>
              </a:defRPr>
            </a:lvl5pPr>
            <a:lvl6pPr algn="l">
              <a:defRPr sz="1425" b="0">
                <a:solidFill>
                  <a:srgbClr val="5E7377"/>
                </a:solidFill>
                <a:latin typeface="Helvetica Neue"/>
                <a:ea typeface="Helvetica Neue"/>
                <a:cs typeface="Helvetica Neue"/>
              </a:defRPr>
            </a:lvl6pPr>
            <a:lvl7pPr algn="l">
              <a:defRPr sz="1425" b="0">
                <a:solidFill>
                  <a:srgbClr val="5E7377"/>
                </a:solidFill>
                <a:latin typeface="Helvetica Neue"/>
                <a:ea typeface="Helvetica Neue"/>
                <a:cs typeface="Helvetica Neue"/>
              </a:defRPr>
            </a:lvl7pPr>
            <a:lvl8pPr algn="l">
              <a:defRPr sz="1425" b="0">
                <a:solidFill>
                  <a:srgbClr val="5E7377"/>
                </a:solidFill>
                <a:latin typeface="Helvetica Neue"/>
                <a:ea typeface="Helvetica Neue"/>
                <a:cs typeface="Helvetica Neue"/>
              </a:defRPr>
            </a:lvl8pPr>
            <a:lvl9pPr algn="l">
              <a:defRPr sz="1425" b="0">
                <a:solidFill>
                  <a:srgbClr val="5E7377"/>
                </a:solidFill>
                <a:latin typeface="Helvetica Neue"/>
                <a:ea typeface="Helvetica Neue"/>
                <a:cs typeface="Helvetica Neue"/>
              </a:defRPr>
            </a:lvl9pPr>
          </a:lstStyle>
          <a:p xmlns:a="http://schemas.openxmlformats.org/drawingml/2006/main">
            <a:pPr algn="l">
              <a:lnSpc>
                <a:spcPct val="112000"/>
              </a:lnSpc>
              <a:buNone/>
              <a:defRPr sz="1425" b="0">
                <a:solidFill>
                  <a:srgbClr val="5E7377"/>
                </a:solidFill>
                <a:latin typeface="Helvetica Neue"/>
                <a:ea typeface="Helvetica Neue"/>
                <a:cs typeface="Helvetica Neue"/>
              </a:defRPr>
            </a:pPr>
            <a:r>
              <a:rPr sz="1425" b="0">
                <a:solidFill>
                  <a:srgbClr val="5E7377"/>
                </a:solidFill>
                <a:latin typeface="Helvetica Neue"/>
                <a:ea typeface="Helvetica Neue"/>
                <a:cs typeface="Helvetica Neue"/>
              </a:rPr>
              <a:t>Development scores include tuning windows. The reserved final holdout remains untouched.</a:t>
            </a:r>
          </a:p>
        </p:txBody>
      </p:sp>
    </p:spTree>
    <p:extLst>
      <p:ext uri="{BB962C8B-B14F-4D97-AF65-F5344CB8AC3E}">
        <p14:creationId xmlns:p14="http://schemas.microsoft.com/office/powerpoint/2010/main" val="16717820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2026-10-25T15:15:35.1190000Z</dcterms:created>
  <dcterms:modified xsi:type="dcterms:W3CDTF">2026-10-25T15:15:35.1190000Z</dcterms:modified>
</coreProperties>
</file>